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Lst>
  <p:sldIdLst>
    <p:sldId id="256" r:id="rId6"/>
    <p:sldId id="304" r:id="rId7"/>
    <p:sldId id="258" r:id="rId8"/>
    <p:sldId id="305" r:id="rId9"/>
    <p:sldId id="302" r:id="rId10"/>
    <p:sldId id="263" r:id="rId11"/>
    <p:sldId id="259" r:id="rId12"/>
    <p:sldId id="275" r:id="rId13"/>
    <p:sldId id="281" r:id="rId14"/>
    <p:sldId id="282" r:id="rId15"/>
    <p:sldId id="301" r:id="rId16"/>
    <p:sldId id="276" r:id="rId17"/>
    <p:sldId id="278" r:id="rId18"/>
    <p:sldId id="279" r:id="rId19"/>
    <p:sldId id="277" r:id="rId20"/>
    <p:sldId id="288" r:id="rId21"/>
    <p:sldId id="289" r:id="rId22"/>
    <p:sldId id="290" r:id="rId23"/>
    <p:sldId id="291" r:id="rId24"/>
    <p:sldId id="292" r:id="rId25"/>
    <p:sldId id="271" r:id="rId26"/>
    <p:sldId id="303" r:id="rId27"/>
    <p:sldId id="272" r:id="rId28"/>
    <p:sldId id="294" r:id="rId29"/>
    <p:sldId id="287" r:id="rId30"/>
    <p:sldId id="286" r:id="rId31"/>
    <p:sldId id="285" r:id="rId32"/>
    <p:sldId id="298" r:id="rId33"/>
    <p:sldId id="297" r:id="rId34"/>
    <p:sldId id="299" r:id="rId35"/>
    <p:sldId id="296" r:id="rId36"/>
    <p:sldId id="270" r:id="rId37"/>
    <p:sldId id="274"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2E91"/>
    <a:srgbClr val="909EE6"/>
    <a:srgbClr val="F0F0F0"/>
    <a:srgbClr val="1EA049"/>
    <a:srgbClr val="9ECC43"/>
    <a:srgbClr val="158442"/>
    <a:srgbClr val="9ACB4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4BA525-534E-4887-A842-4E4E496A754F}" v="40" dt="2025-09-18T12:16:25.930"/>
  </p1510:revLst>
</p1510:revInfo>
</file>

<file path=ppt/tableStyles.xml><?xml version="1.0" encoding="utf-8"?>
<a:tblStyleLst xmlns:a="http://schemas.openxmlformats.org/drawingml/2006/main" def="{5C22544A-7EE6-4342-B048-85BDC9FD1C3A}">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75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presProps" Target="presProps.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openxmlformats.org/officeDocument/2006/relationships/slide" Target="slides/slide24.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microsoft.com/office/2015/10/relationships/revisionInfo" Target="revisionInfo.xml"/><Relationship Id="rId8" Type="http://schemas.openxmlformats.org/officeDocument/2006/relationships/slide" Target="slides/slide3.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E29E332-E73B-40D6-B89A-979F671684E2}" type="doc">
      <dgm:prSet loTypeId="urn:microsoft.com/office/officeart/2005/8/layout/process1" loCatId="process" qsTypeId="urn:microsoft.com/office/officeart/2005/8/quickstyle/simple1" qsCatId="simple" csTypeId="urn:microsoft.com/office/officeart/2005/8/colors/accent0_1" csCatId="mainScheme" phldr="1"/>
      <dgm:spPr/>
    </dgm:pt>
    <dgm:pt modelId="{796870D1-D056-436A-9099-82879B4970DF}">
      <dgm:prSet phldrT="[Text]" custT="1"/>
      <dgm:spPr>
        <a:solidFill>
          <a:srgbClr val="482E91"/>
        </a:solidFill>
      </dgm:spPr>
      <dgm:t>
        <a:bodyPr/>
        <a:lstStyle/>
        <a:p>
          <a:pPr rtl="0"/>
          <a:r>
            <a:rPr lang="en-US" sz="1600" dirty="0">
              <a:solidFill>
                <a:schemeClr val="bg1"/>
              </a:solidFill>
            </a:rPr>
            <a:t>Module1:</a:t>
          </a:r>
        </a:p>
        <a:p>
          <a:pPr rtl="0"/>
          <a:r>
            <a:rPr lang="en-GB" sz="1400" dirty="0">
              <a:solidFill>
                <a:schemeClr val="bg1"/>
              </a:solidFill>
            </a:rPr>
            <a:t>Cyber Security Foundations and Compliance</a:t>
          </a:r>
          <a:r>
            <a:rPr lang="en-US" sz="1400" dirty="0">
              <a:solidFill>
                <a:schemeClr val="bg1"/>
              </a:solidFill>
            </a:rPr>
            <a:t> </a:t>
          </a:r>
        </a:p>
        <a:p>
          <a:pPr rtl="0"/>
          <a:r>
            <a:rPr lang="en-US" sz="1600" b="1" dirty="0">
              <a:solidFill>
                <a:schemeClr val="bg1"/>
              </a:solidFill>
            </a:rPr>
            <a:t>(3 months)</a:t>
          </a:r>
          <a:endParaRPr lang="en-GB" sz="1600" b="1" dirty="0">
            <a:solidFill>
              <a:schemeClr val="bg1"/>
            </a:solidFill>
          </a:endParaRPr>
        </a:p>
      </dgm:t>
    </dgm:pt>
    <dgm:pt modelId="{A38DA40A-E1F1-4A65-8A9E-B0470025D348}" type="parTrans" cxnId="{EC62980E-0BB6-4AE5-8780-08DFE64E2B4F}">
      <dgm:prSet/>
      <dgm:spPr/>
      <dgm:t>
        <a:bodyPr/>
        <a:lstStyle/>
        <a:p>
          <a:endParaRPr lang="en-GB"/>
        </a:p>
      </dgm:t>
    </dgm:pt>
    <dgm:pt modelId="{9A3DBB0F-681A-4DBA-A9EC-FD52AA158DA1}" type="sibTrans" cxnId="{EC62980E-0BB6-4AE5-8780-08DFE64E2B4F}">
      <dgm:prSet custT="1"/>
      <dgm:spPr>
        <a:solidFill>
          <a:srgbClr val="482E91"/>
        </a:solidFill>
        <a:ln>
          <a:solidFill>
            <a:srgbClr val="482E91"/>
          </a:solidFill>
        </a:ln>
        <a:effectLst/>
      </dgm:spPr>
      <dgm:t>
        <a:bodyPr spcFirstLastPara="0" vert="horz" wrap="square" lIns="0" tIns="0" rIns="0" bIns="0" numCol="1" spcCol="1270" anchor="ctr" anchorCtr="0"/>
        <a:lstStyle/>
        <a:p>
          <a:pPr marL="0" algn="l" defTabSz="914400" rtl="0" eaLnBrk="1" latinLnBrk="0" hangingPunct="1"/>
          <a:endParaRPr lang="en-GB" sz="1800" kern="1200">
            <a:solidFill>
              <a:schemeClr val="tx1"/>
            </a:solidFill>
            <a:latin typeface="+mn-lt"/>
            <a:ea typeface="+mn-ea"/>
            <a:cs typeface="+mn-cs"/>
          </a:endParaRPr>
        </a:p>
      </dgm:t>
    </dgm:pt>
    <dgm:pt modelId="{E331D94A-DA69-41E6-B453-C0ADE1CEEAAD}">
      <dgm:prSet phldrT="[Text]"/>
      <dgm:spPr>
        <a:solidFill>
          <a:srgbClr val="909EE6"/>
        </a:solidFill>
      </dgm:spPr>
      <dgm:t>
        <a:bodyPr/>
        <a:lstStyle/>
        <a:p>
          <a:pPr rtl="0"/>
          <a:r>
            <a:rPr lang="en-US" dirty="0">
              <a:solidFill>
                <a:schemeClr val="bg1"/>
              </a:solidFill>
            </a:rPr>
            <a:t>Module 2:</a:t>
          </a:r>
          <a:r>
            <a:rPr lang="en-GB" dirty="0">
              <a:solidFill>
                <a:schemeClr val="bg1"/>
              </a:solidFill>
            </a:rPr>
            <a:t>Cyber Security Operations and Helpdesk</a:t>
          </a:r>
          <a:endParaRPr lang="en-US" dirty="0">
            <a:solidFill>
              <a:schemeClr val="bg1"/>
            </a:solidFill>
          </a:endParaRPr>
        </a:p>
        <a:p>
          <a:r>
            <a:rPr lang="en-US" b="1" dirty="0">
              <a:solidFill>
                <a:schemeClr val="bg1"/>
              </a:solidFill>
            </a:rPr>
            <a:t>(3 months)</a:t>
          </a:r>
          <a:endParaRPr lang="en-GB" dirty="0">
            <a:solidFill>
              <a:schemeClr val="bg1"/>
            </a:solidFill>
          </a:endParaRPr>
        </a:p>
      </dgm:t>
    </dgm:pt>
    <dgm:pt modelId="{BF0E96BC-2198-46CB-95BA-91012315DD12}" type="parTrans" cxnId="{D747595E-0C83-44A7-904D-3B4B4E651120}">
      <dgm:prSet/>
      <dgm:spPr/>
      <dgm:t>
        <a:bodyPr/>
        <a:lstStyle/>
        <a:p>
          <a:endParaRPr lang="en-GB"/>
        </a:p>
      </dgm:t>
    </dgm:pt>
    <dgm:pt modelId="{64299E2E-56B5-4ADF-91CA-D72D7499D88E}" type="sibTrans" cxnId="{D747595E-0C83-44A7-904D-3B4B4E651120}">
      <dgm:prSet custT="1"/>
      <dgm:spPr>
        <a:solidFill>
          <a:srgbClr val="482E91"/>
        </a:solidFill>
        <a:ln>
          <a:solidFill>
            <a:srgbClr val="482E91"/>
          </a:solidFill>
        </a:ln>
        <a:effectLst/>
      </dgm:spPr>
      <dgm:t>
        <a:bodyPr spcFirstLastPara="0" vert="horz" wrap="square" lIns="0" tIns="0" rIns="0" bIns="0" numCol="1" spcCol="1270" anchor="ctr" anchorCtr="0"/>
        <a:lstStyle/>
        <a:p>
          <a:pPr marL="0" algn="l" defTabSz="914400" rtl="0" eaLnBrk="1" latinLnBrk="0" hangingPunct="1"/>
          <a:endParaRPr lang="en-GB" sz="1800" kern="1200">
            <a:solidFill>
              <a:schemeClr val="tx1"/>
            </a:solidFill>
            <a:latin typeface="+mn-lt"/>
            <a:ea typeface="+mn-ea"/>
            <a:cs typeface="+mn-cs"/>
          </a:endParaRPr>
        </a:p>
      </dgm:t>
    </dgm:pt>
    <dgm:pt modelId="{51986DB1-91E9-4B71-8ED0-96ADC66CF9D0}">
      <dgm:prSet phldrT="[Text]"/>
      <dgm:spPr>
        <a:solidFill>
          <a:srgbClr val="482E91"/>
        </a:solidFill>
      </dgm:spPr>
      <dgm:t>
        <a:bodyPr/>
        <a:lstStyle/>
        <a:p>
          <a:pPr rtl="0"/>
          <a:r>
            <a:rPr lang="en-US" dirty="0">
              <a:solidFill>
                <a:schemeClr val="bg1"/>
              </a:solidFill>
            </a:rPr>
            <a:t>Module 3: </a:t>
          </a:r>
          <a:r>
            <a:rPr lang="en-GB" dirty="0">
              <a:solidFill>
                <a:schemeClr val="bg1"/>
              </a:solidFill>
            </a:rPr>
            <a:t>Security Policy and Risk Management </a:t>
          </a:r>
          <a:r>
            <a:rPr lang="en-US" b="1" dirty="0">
              <a:solidFill>
                <a:schemeClr val="bg1"/>
              </a:solidFill>
            </a:rPr>
            <a:t>(</a:t>
          </a:r>
          <a:r>
            <a:rPr lang="en-US" b="1" dirty="0">
              <a:solidFill>
                <a:schemeClr val="bg1"/>
              </a:solidFill>
              <a:latin typeface="Aptos Display" panose="02110004020202020204"/>
            </a:rPr>
            <a:t>2</a:t>
          </a:r>
          <a:r>
            <a:rPr lang="en-US" b="1" dirty="0">
              <a:solidFill>
                <a:schemeClr val="bg1"/>
              </a:solidFill>
            </a:rPr>
            <a:t> months)</a:t>
          </a:r>
          <a:endParaRPr lang="en-GB" dirty="0">
            <a:solidFill>
              <a:schemeClr val="bg1"/>
            </a:solidFill>
          </a:endParaRPr>
        </a:p>
      </dgm:t>
    </dgm:pt>
    <dgm:pt modelId="{79921D79-30AC-44F4-AFF8-87CD1DC84271}" type="parTrans" cxnId="{4775826F-60ED-48D1-B718-CB50BD8E6861}">
      <dgm:prSet/>
      <dgm:spPr/>
      <dgm:t>
        <a:bodyPr/>
        <a:lstStyle/>
        <a:p>
          <a:endParaRPr lang="en-GB"/>
        </a:p>
      </dgm:t>
    </dgm:pt>
    <dgm:pt modelId="{D7CDFFE2-333D-47D8-95C8-B5D2CF0F5A35}" type="sibTrans" cxnId="{4775826F-60ED-48D1-B718-CB50BD8E6861}">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C58B3827-FC5F-40F9-9C3E-C19FB588822A}">
      <dgm:prSet custT="1"/>
      <dgm:spPr>
        <a:solidFill>
          <a:srgbClr val="482E91"/>
        </a:solidFill>
        <a:ln w="19050" cap="flat" cmpd="sng" algn="ctr">
          <a:solidFill>
            <a:prstClr val="black">
              <a:shade val="80000"/>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ctr" defTabSz="711200" rtl="0">
            <a:lnSpc>
              <a:spcPct val="90000"/>
            </a:lnSpc>
            <a:spcBef>
              <a:spcPct val="0"/>
            </a:spcBef>
            <a:spcAft>
              <a:spcPct val="35000"/>
            </a:spcAft>
            <a:buNone/>
          </a:pPr>
          <a:r>
            <a:rPr lang="en-US" sz="1600" kern="1200" dirty="0">
              <a:solidFill>
                <a:schemeClr val="bg1"/>
              </a:solidFill>
              <a:latin typeface="Aptos" panose="02110004020202020204"/>
              <a:ea typeface="+mn-ea"/>
              <a:cs typeface="+mn-cs"/>
            </a:rPr>
            <a:t>Module 5: </a:t>
          </a:r>
          <a:r>
            <a:rPr lang="en-GB" sz="1600" kern="1200" dirty="0">
              <a:solidFill>
                <a:schemeClr val="bg1"/>
              </a:solidFill>
              <a:latin typeface="Aptos" panose="02110004020202020204"/>
              <a:ea typeface="+mn-ea"/>
              <a:cs typeface="+mn-cs"/>
            </a:rPr>
            <a:t>Advanced Security Monitoring and Threat Management </a:t>
          </a:r>
          <a:r>
            <a:rPr lang="en-US" sz="1600" kern="1200" dirty="0">
              <a:solidFill>
                <a:schemeClr val="bg1"/>
              </a:solidFill>
              <a:latin typeface="Aptos" panose="02110004020202020204"/>
              <a:ea typeface="+mn-ea"/>
              <a:cs typeface="+mn-cs"/>
            </a:rPr>
            <a:t>(2 months)</a:t>
          </a:r>
          <a:endParaRPr lang="en-GB" sz="1600" kern="1200" dirty="0">
            <a:solidFill>
              <a:schemeClr val="bg1"/>
            </a:solidFill>
            <a:latin typeface="Aptos" panose="02110004020202020204"/>
            <a:ea typeface="+mn-ea"/>
            <a:cs typeface="+mn-cs"/>
          </a:endParaRPr>
        </a:p>
      </dgm:t>
    </dgm:pt>
    <dgm:pt modelId="{610C64E4-7449-4E69-8DDA-312C18132B7D}" type="parTrans" cxnId="{03EADCC3-1D4D-4054-AE25-32BF7A109BA8}">
      <dgm:prSet/>
      <dgm:spPr/>
      <dgm:t>
        <a:bodyPr/>
        <a:lstStyle/>
        <a:p>
          <a:endParaRPr lang="en-GB"/>
        </a:p>
      </dgm:t>
    </dgm:pt>
    <dgm:pt modelId="{C0BA38C9-FE7E-4D17-B423-FF6FD01F430F}" type="sibTrans" cxnId="{03EADCC3-1D4D-4054-AE25-32BF7A109BA8}">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90277FFD-0740-434E-9121-84E67FA78B97}">
      <dgm:prSet/>
      <dgm:spPr>
        <a:solidFill>
          <a:srgbClr val="909EE6"/>
        </a:solidFill>
      </dgm:spPr>
      <dgm:t>
        <a:bodyPr/>
        <a:lstStyle/>
        <a:p>
          <a:r>
            <a:rPr lang="en-US" dirty="0">
              <a:solidFill>
                <a:schemeClr val="bg1"/>
              </a:solidFill>
            </a:rPr>
            <a:t>Module 6: Professional Development and Continuous Learning</a:t>
          </a:r>
        </a:p>
        <a:p>
          <a:r>
            <a:rPr lang="en-US" b="1" dirty="0">
              <a:solidFill>
                <a:schemeClr val="bg1"/>
              </a:solidFill>
            </a:rPr>
            <a:t>(1 month)</a:t>
          </a:r>
          <a:endParaRPr lang="en-GB" dirty="0">
            <a:solidFill>
              <a:schemeClr val="bg1"/>
            </a:solidFill>
          </a:endParaRPr>
        </a:p>
      </dgm:t>
    </dgm:pt>
    <dgm:pt modelId="{2035BD02-E3C8-4AE2-BEF7-B93E03EB6281}" type="parTrans" cxnId="{1C2E2658-B2A7-44B4-8EFA-CA91E9A7A693}">
      <dgm:prSet/>
      <dgm:spPr/>
      <dgm:t>
        <a:bodyPr/>
        <a:lstStyle/>
        <a:p>
          <a:endParaRPr lang="en-GB"/>
        </a:p>
      </dgm:t>
    </dgm:pt>
    <dgm:pt modelId="{CA4644A7-FA76-4E13-91A7-D28222653962}" type="sibTrans" cxnId="{1C2E2658-B2A7-44B4-8EFA-CA91E9A7A693}">
      <dgm:prSet/>
      <dgm:spPr/>
      <dgm:t>
        <a:bodyPr/>
        <a:lstStyle/>
        <a:p>
          <a:endParaRPr lang="en-GB"/>
        </a:p>
      </dgm:t>
    </dgm:pt>
    <dgm:pt modelId="{EDB569D5-4E0C-456D-9FD7-C74E22CF5392}">
      <dgm:prSet phldrT="[Text]" custT="1"/>
      <dgm:spPr>
        <a:solidFill>
          <a:srgbClr val="909EE6"/>
        </a:solidFill>
      </dgm:spPr>
      <dgm:t>
        <a:bodyPr/>
        <a:lstStyle/>
        <a:p>
          <a:pPr rtl="0"/>
          <a:r>
            <a:rPr lang="en-GB" sz="1600" kern="1200" dirty="0">
              <a:solidFill>
                <a:schemeClr val="bg1"/>
              </a:solidFill>
              <a:latin typeface="Aptos" panose="02110004020202020204"/>
              <a:ea typeface="+mn-ea"/>
              <a:cs typeface="+mn-cs"/>
            </a:rPr>
            <a:t>Module 4:</a:t>
          </a:r>
        </a:p>
        <a:p>
          <a:pPr rtl="0"/>
          <a:r>
            <a:rPr lang="en-GB" sz="1400" kern="1200" dirty="0">
              <a:solidFill>
                <a:schemeClr val="bg1"/>
              </a:solidFill>
              <a:latin typeface="Aptos" panose="02110004020202020204"/>
              <a:ea typeface="+mn-ea"/>
              <a:cs typeface="+mn-cs"/>
            </a:rPr>
            <a:t>Technical Security Controls and Asset Management </a:t>
          </a:r>
          <a:r>
            <a:rPr lang="en-GB" sz="1600" kern="1200" dirty="0">
              <a:solidFill>
                <a:schemeClr val="bg1"/>
              </a:solidFill>
              <a:latin typeface="Aptos Display" panose="02110004020202020204"/>
            </a:rPr>
            <a:t>Practices </a:t>
          </a:r>
          <a:br>
            <a:rPr lang="en-GB" sz="1600" kern="1200" dirty="0">
              <a:solidFill>
                <a:schemeClr val="bg1"/>
              </a:solidFill>
            </a:rPr>
          </a:br>
          <a:r>
            <a:rPr lang="en-GB" sz="1600" b="1" kern="1200" dirty="0">
              <a:solidFill>
                <a:schemeClr val="bg1"/>
              </a:solidFill>
              <a:latin typeface="Aptos" panose="02110004020202020204"/>
              <a:ea typeface="+mn-ea"/>
              <a:cs typeface="+mn-cs"/>
            </a:rPr>
            <a:t>(3months)</a:t>
          </a:r>
        </a:p>
      </dgm:t>
    </dgm:pt>
    <dgm:pt modelId="{0711F882-E1D9-49CB-963E-5E4D911C1632}" type="parTrans" cxnId="{5EF73B3D-FA64-4320-A292-090B9F8F5B4B}">
      <dgm:prSet/>
      <dgm:spPr/>
      <dgm:t>
        <a:bodyPr/>
        <a:lstStyle/>
        <a:p>
          <a:endParaRPr lang="en-GB"/>
        </a:p>
      </dgm:t>
    </dgm:pt>
    <dgm:pt modelId="{C3AD8A90-AAF7-4219-8065-CF6614C25B85}" type="sibTrans" cxnId="{5EF73B3D-FA64-4320-A292-090B9F8F5B4B}">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66B98CAC-22BE-4BF7-AE3C-367C06DCEB4D}" type="pres">
      <dgm:prSet presAssocID="{AE29E332-E73B-40D6-B89A-979F671684E2}" presName="Name0" presStyleCnt="0">
        <dgm:presLayoutVars>
          <dgm:dir/>
          <dgm:resizeHandles val="exact"/>
        </dgm:presLayoutVars>
      </dgm:prSet>
      <dgm:spPr/>
    </dgm:pt>
    <dgm:pt modelId="{83B618FD-2E34-478F-AF2C-12746F1E0DFC}" type="pres">
      <dgm:prSet presAssocID="{796870D1-D056-436A-9099-82879B4970DF}" presName="node" presStyleLbl="node1" presStyleIdx="0" presStyleCnt="6">
        <dgm:presLayoutVars>
          <dgm:bulletEnabled val="1"/>
        </dgm:presLayoutVars>
      </dgm:prSet>
      <dgm:spPr/>
    </dgm:pt>
    <dgm:pt modelId="{7126EE22-A783-460B-9DD2-26977215EBDD}" type="pres">
      <dgm:prSet presAssocID="{9A3DBB0F-681A-4DBA-A9EC-FD52AA158DA1}" presName="sibTrans" presStyleLbl="sibTrans2D1" presStyleIdx="0" presStyleCnt="5"/>
      <dgm:spPr>
        <a:xfrm>
          <a:off x="1576246" y="917954"/>
          <a:ext cx="303565" cy="355113"/>
        </a:xfrm>
        <a:prstGeom prst="rightArrow">
          <a:avLst>
            <a:gd name="adj1" fmla="val 60000"/>
            <a:gd name="adj2" fmla="val 50000"/>
          </a:avLst>
        </a:prstGeom>
      </dgm:spPr>
    </dgm:pt>
    <dgm:pt modelId="{C0534753-2FA0-4BA8-8F2E-8E0C3E665974}" type="pres">
      <dgm:prSet presAssocID="{9A3DBB0F-681A-4DBA-A9EC-FD52AA158DA1}" presName="connectorText" presStyleLbl="sibTrans2D1" presStyleIdx="0" presStyleCnt="5"/>
      <dgm:spPr/>
    </dgm:pt>
    <dgm:pt modelId="{2FA01B96-D611-4032-AFE4-EA13FCDD899B}" type="pres">
      <dgm:prSet presAssocID="{E331D94A-DA69-41E6-B453-C0ADE1CEEAAD}" presName="node" presStyleLbl="node1" presStyleIdx="1" presStyleCnt="6">
        <dgm:presLayoutVars>
          <dgm:bulletEnabled val="1"/>
        </dgm:presLayoutVars>
      </dgm:prSet>
      <dgm:spPr/>
    </dgm:pt>
    <dgm:pt modelId="{076E557F-D209-49E0-993A-FA63BE76E959}" type="pres">
      <dgm:prSet presAssocID="{64299E2E-56B5-4ADF-91CA-D72D7499D88E}" presName="sibTrans" presStyleLbl="sibTrans2D1" presStyleIdx="1" presStyleCnt="5"/>
      <dgm:spPr>
        <a:xfrm>
          <a:off x="3580921" y="917954"/>
          <a:ext cx="303565" cy="355113"/>
        </a:xfrm>
        <a:prstGeom prst="rightArrow">
          <a:avLst>
            <a:gd name="adj1" fmla="val 60000"/>
            <a:gd name="adj2" fmla="val 50000"/>
          </a:avLst>
        </a:prstGeom>
      </dgm:spPr>
    </dgm:pt>
    <dgm:pt modelId="{E1B56FFC-D9BF-4787-A36A-52ED69ACE76C}" type="pres">
      <dgm:prSet presAssocID="{64299E2E-56B5-4ADF-91CA-D72D7499D88E}" presName="connectorText" presStyleLbl="sibTrans2D1" presStyleIdx="1" presStyleCnt="5"/>
      <dgm:spPr/>
    </dgm:pt>
    <dgm:pt modelId="{B16833FF-09D8-4439-A328-F57CA23829D5}" type="pres">
      <dgm:prSet presAssocID="{51986DB1-91E9-4B71-8ED0-96ADC66CF9D0}" presName="node" presStyleLbl="node1" presStyleIdx="2" presStyleCnt="6">
        <dgm:presLayoutVars>
          <dgm:bulletEnabled val="1"/>
        </dgm:presLayoutVars>
      </dgm:prSet>
      <dgm:spPr/>
    </dgm:pt>
    <dgm:pt modelId="{7BD4327A-43C4-407E-9650-42201545A97F}" type="pres">
      <dgm:prSet presAssocID="{D7CDFFE2-333D-47D8-95C8-B5D2CF0F5A35}" presName="sibTrans" presStyleLbl="sibTrans2D1" presStyleIdx="2" presStyleCnt="5"/>
      <dgm:spPr>
        <a:xfrm>
          <a:off x="5585596" y="917954"/>
          <a:ext cx="303565" cy="355113"/>
        </a:xfrm>
        <a:prstGeom prst="rightArrow">
          <a:avLst>
            <a:gd name="adj1" fmla="val 60000"/>
            <a:gd name="adj2" fmla="val 50000"/>
          </a:avLst>
        </a:prstGeom>
      </dgm:spPr>
    </dgm:pt>
    <dgm:pt modelId="{A8C6730C-AFBC-4B3A-B2FA-B80BB69C6340}" type="pres">
      <dgm:prSet presAssocID="{D7CDFFE2-333D-47D8-95C8-B5D2CF0F5A35}" presName="connectorText" presStyleLbl="sibTrans2D1" presStyleIdx="2" presStyleCnt="5"/>
      <dgm:spPr/>
    </dgm:pt>
    <dgm:pt modelId="{DCC5002B-77B5-48FF-8675-166724E0FDA8}" type="pres">
      <dgm:prSet presAssocID="{EDB569D5-4E0C-456D-9FD7-C74E22CF5392}" presName="node" presStyleLbl="node1" presStyleIdx="3" presStyleCnt="6" custScaleX="111733">
        <dgm:presLayoutVars>
          <dgm:bulletEnabled val="1"/>
        </dgm:presLayoutVars>
      </dgm:prSet>
      <dgm:spPr/>
    </dgm:pt>
    <dgm:pt modelId="{294F7D6D-6A93-4973-878E-B9E0139A3B0A}" type="pres">
      <dgm:prSet presAssocID="{C3AD8A90-AAF7-4219-8065-CF6614C25B85}" presName="sibTrans" presStyleLbl="sibTrans2D1" presStyleIdx="3" presStyleCnt="5"/>
      <dgm:spPr>
        <a:xfrm>
          <a:off x="7758277" y="917954"/>
          <a:ext cx="303565" cy="355113"/>
        </a:xfrm>
        <a:prstGeom prst="rightArrow">
          <a:avLst>
            <a:gd name="adj1" fmla="val 60000"/>
            <a:gd name="adj2" fmla="val 50000"/>
          </a:avLst>
        </a:prstGeom>
      </dgm:spPr>
    </dgm:pt>
    <dgm:pt modelId="{62B89DE0-4089-4541-B664-7DB79B63EAD6}" type="pres">
      <dgm:prSet presAssocID="{C3AD8A90-AAF7-4219-8065-CF6614C25B85}" presName="connectorText" presStyleLbl="sibTrans2D1" presStyleIdx="3" presStyleCnt="5"/>
      <dgm:spPr/>
    </dgm:pt>
    <dgm:pt modelId="{424D7852-5F02-470B-B89B-D4234FA9A035}" type="pres">
      <dgm:prSet presAssocID="{C58B3827-FC5F-40F9-9C3E-C19FB588822A}" presName="node" presStyleLbl="node1" presStyleIdx="4" presStyleCnt="6">
        <dgm:presLayoutVars>
          <dgm:bulletEnabled val="1"/>
        </dgm:presLayoutVars>
      </dgm:prSet>
      <dgm:spPr>
        <a:xfrm>
          <a:off x="8187850" y="117383"/>
          <a:ext cx="1431910" cy="1956256"/>
        </a:xfrm>
        <a:prstGeom prst="roundRect">
          <a:avLst>
            <a:gd name="adj" fmla="val 10000"/>
          </a:avLst>
        </a:prstGeom>
      </dgm:spPr>
    </dgm:pt>
    <dgm:pt modelId="{FD3E142F-25B9-4154-BE09-2450E7FEF92E}" type="pres">
      <dgm:prSet presAssocID="{C0BA38C9-FE7E-4D17-B423-FF6FD01F430F}" presName="sibTrans" presStyleLbl="sibTrans2D1" presStyleIdx="4" presStyleCnt="5"/>
      <dgm:spPr>
        <a:xfrm>
          <a:off x="9762952" y="917954"/>
          <a:ext cx="303565" cy="355113"/>
        </a:xfrm>
        <a:prstGeom prst="rightArrow">
          <a:avLst>
            <a:gd name="adj1" fmla="val 60000"/>
            <a:gd name="adj2" fmla="val 50000"/>
          </a:avLst>
        </a:prstGeom>
      </dgm:spPr>
    </dgm:pt>
    <dgm:pt modelId="{CD02207E-EDF4-4150-B79A-270B519B56A2}" type="pres">
      <dgm:prSet presAssocID="{C0BA38C9-FE7E-4D17-B423-FF6FD01F430F}" presName="connectorText" presStyleLbl="sibTrans2D1" presStyleIdx="4" presStyleCnt="5"/>
      <dgm:spPr/>
    </dgm:pt>
    <dgm:pt modelId="{4AA53B28-37F8-46CA-99EA-F82FE19C689E}" type="pres">
      <dgm:prSet presAssocID="{90277FFD-0740-434E-9121-84E67FA78B97}" presName="node" presStyleLbl="node1" presStyleIdx="5" presStyleCnt="6">
        <dgm:presLayoutVars>
          <dgm:bulletEnabled val="1"/>
        </dgm:presLayoutVars>
      </dgm:prSet>
      <dgm:spPr/>
    </dgm:pt>
  </dgm:ptLst>
  <dgm:cxnLst>
    <dgm:cxn modelId="{D09A5F08-D074-49F1-A57A-862406910CEC}" type="presOf" srcId="{64299E2E-56B5-4ADF-91CA-D72D7499D88E}" destId="{E1B56FFC-D9BF-4787-A36A-52ED69ACE76C}" srcOrd="1" destOrd="0" presId="urn:microsoft.com/office/officeart/2005/8/layout/process1"/>
    <dgm:cxn modelId="{EC62980E-0BB6-4AE5-8780-08DFE64E2B4F}" srcId="{AE29E332-E73B-40D6-B89A-979F671684E2}" destId="{796870D1-D056-436A-9099-82879B4970DF}" srcOrd="0" destOrd="0" parTransId="{A38DA40A-E1F1-4A65-8A9E-B0470025D348}" sibTransId="{9A3DBB0F-681A-4DBA-A9EC-FD52AA158DA1}"/>
    <dgm:cxn modelId="{A4D47F2E-AE62-424B-A864-384387D1C5E5}" type="presOf" srcId="{64299E2E-56B5-4ADF-91CA-D72D7499D88E}" destId="{076E557F-D209-49E0-993A-FA63BE76E959}" srcOrd="0" destOrd="0" presId="urn:microsoft.com/office/officeart/2005/8/layout/process1"/>
    <dgm:cxn modelId="{1840F532-2CA5-4155-AD4F-E27F15CEFF65}" type="presOf" srcId="{D7CDFFE2-333D-47D8-95C8-B5D2CF0F5A35}" destId="{7BD4327A-43C4-407E-9650-42201545A97F}" srcOrd="0" destOrd="0" presId="urn:microsoft.com/office/officeart/2005/8/layout/process1"/>
    <dgm:cxn modelId="{5EF73B3D-FA64-4320-A292-090B9F8F5B4B}" srcId="{AE29E332-E73B-40D6-B89A-979F671684E2}" destId="{EDB569D5-4E0C-456D-9FD7-C74E22CF5392}" srcOrd="3" destOrd="0" parTransId="{0711F882-E1D9-49CB-963E-5E4D911C1632}" sibTransId="{C3AD8A90-AAF7-4219-8065-CF6614C25B85}"/>
    <dgm:cxn modelId="{D747595E-0C83-44A7-904D-3B4B4E651120}" srcId="{AE29E332-E73B-40D6-B89A-979F671684E2}" destId="{E331D94A-DA69-41E6-B453-C0ADE1CEEAAD}" srcOrd="1" destOrd="0" parTransId="{BF0E96BC-2198-46CB-95BA-91012315DD12}" sibTransId="{64299E2E-56B5-4ADF-91CA-D72D7499D88E}"/>
    <dgm:cxn modelId="{953B4760-56AC-4277-815C-E8E5139A9D00}" type="presOf" srcId="{C3AD8A90-AAF7-4219-8065-CF6614C25B85}" destId="{294F7D6D-6A93-4973-878E-B9E0139A3B0A}" srcOrd="0" destOrd="0" presId="urn:microsoft.com/office/officeart/2005/8/layout/process1"/>
    <dgm:cxn modelId="{5F628441-E774-41B2-BFD9-07B362E15633}" type="presOf" srcId="{C0BA38C9-FE7E-4D17-B423-FF6FD01F430F}" destId="{CD02207E-EDF4-4150-B79A-270B519B56A2}" srcOrd="1" destOrd="0" presId="urn:microsoft.com/office/officeart/2005/8/layout/process1"/>
    <dgm:cxn modelId="{BF356147-3332-420F-9458-9CF886E83175}" type="presOf" srcId="{9A3DBB0F-681A-4DBA-A9EC-FD52AA158DA1}" destId="{7126EE22-A783-460B-9DD2-26977215EBDD}" srcOrd="0" destOrd="0" presId="urn:microsoft.com/office/officeart/2005/8/layout/process1"/>
    <dgm:cxn modelId="{4775826F-60ED-48D1-B718-CB50BD8E6861}" srcId="{AE29E332-E73B-40D6-B89A-979F671684E2}" destId="{51986DB1-91E9-4B71-8ED0-96ADC66CF9D0}" srcOrd="2" destOrd="0" parTransId="{79921D79-30AC-44F4-AFF8-87CD1DC84271}" sibTransId="{D7CDFFE2-333D-47D8-95C8-B5D2CF0F5A35}"/>
    <dgm:cxn modelId="{1C2E2658-B2A7-44B4-8EFA-CA91E9A7A693}" srcId="{AE29E332-E73B-40D6-B89A-979F671684E2}" destId="{90277FFD-0740-434E-9121-84E67FA78B97}" srcOrd="5" destOrd="0" parTransId="{2035BD02-E3C8-4AE2-BEF7-B93E03EB6281}" sibTransId="{CA4644A7-FA76-4E13-91A7-D28222653962}"/>
    <dgm:cxn modelId="{EFFFF47B-4D2F-4BBA-AE56-7CF2C97924C8}" type="presOf" srcId="{C3AD8A90-AAF7-4219-8065-CF6614C25B85}" destId="{62B89DE0-4089-4541-B664-7DB79B63EAD6}" srcOrd="1" destOrd="0" presId="urn:microsoft.com/office/officeart/2005/8/layout/process1"/>
    <dgm:cxn modelId="{541FF990-61F4-4C03-AF70-3893F29AFF68}" type="presOf" srcId="{E331D94A-DA69-41E6-B453-C0ADE1CEEAAD}" destId="{2FA01B96-D611-4032-AFE4-EA13FCDD899B}" srcOrd="0" destOrd="0" presId="urn:microsoft.com/office/officeart/2005/8/layout/process1"/>
    <dgm:cxn modelId="{DAE97A98-D0B5-4D79-8645-6C009F9443AA}" type="presOf" srcId="{90277FFD-0740-434E-9121-84E67FA78B97}" destId="{4AA53B28-37F8-46CA-99EA-F82FE19C689E}" srcOrd="0" destOrd="0" presId="urn:microsoft.com/office/officeart/2005/8/layout/process1"/>
    <dgm:cxn modelId="{593CF69D-585D-457E-8F3A-7CFE7E24EAAD}" type="presOf" srcId="{9A3DBB0F-681A-4DBA-A9EC-FD52AA158DA1}" destId="{C0534753-2FA0-4BA8-8F2E-8E0C3E665974}" srcOrd="1" destOrd="0" presId="urn:microsoft.com/office/officeart/2005/8/layout/process1"/>
    <dgm:cxn modelId="{7CF5E8A6-0C95-4B29-A7EE-0FD558419BC0}" type="presOf" srcId="{AE29E332-E73B-40D6-B89A-979F671684E2}" destId="{66B98CAC-22BE-4BF7-AE3C-367C06DCEB4D}" srcOrd="0" destOrd="0" presId="urn:microsoft.com/office/officeart/2005/8/layout/process1"/>
    <dgm:cxn modelId="{8E3506A8-080B-44B9-9D31-343EDFD9D757}" type="presOf" srcId="{C58B3827-FC5F-40F9-9C3E-C19FB588822A}" destId="{424D7852-5F02-470B-B89B-D4234FA9A035}" srcOrd="0" destOrd="0" presId="urn:microsoft.com/office/officeart/2005/8/layout/process1"/>
    <dgm:cxn modelId="{03EADCC3-1D4D-4054-AE25-32BF7A109BA8}" srcId="{AE29E332-E73B-40D6-B89A-979F671684E2}" destId="{C58B3827-FC5F-40F9-9C3E-C19FB588822A}" srcOrd="4" destOrd="0" parTransId="{610C64E4-7449-4E69-8DDA-312C18132B7D}" sibTransId="{C0BA38C9-FE7E-4D17-B423-FF6FD01F430F}"/>
    <dgm:cxn modelId="{785133CD-B0F9-427F-BFB9-9AFE47EF5FA1}" type="presOf" srcId="{C0BA38C9-FE7E-4D17-B423-FF6FD01F430F}" destId="{FD3E142F-25B9-4154-BE09-2450E7FEF92E}" srcOrd="0" destOrd="0" presId="urn:microsoft.com/office/officeart/2005/8/layout/process1"/>
    <dgm:cxn modelId="{BF72E5D4-086F-409E-BF93-D0C1C6487EF6}" type="presOf" srcId="{EDB569D5-4E0C-456D-9FD7-C74E22CF5392}" destId="{DCC5002B-77B5-48FF-8675-166724E0FDA8}" srcOrd="0" destOrd="0" presId="urn:microsoft.com/office/officeart/2005/8/layout/process1"/>
    <dgm:cxn modelId="{C1F778DD-958D-4DC2-9C41-9B5377834FD6}" type="presOf" srcId="{796870D1-D056-436A-9099-82879B4970DF}" destId="{83B618FD-2E34-478F-AF2C-12746F1E0DFC}" srcOrd="0" destOrd="0" presId="urn:microsoft.com/office/officeart/2005/8/layout/process1"/>
    <dgm:cxn modelId="{46C9C4F9-085A-48A1-A3BE-5C789BD08F74}" type="presOf" srcId="{D7CDFFE2-333D-47D8-95C8-B5D2CF0F5A35}" destId="{A8C6730C-AFBC-4B3A-B2FA-B80BB69C6340}" srcOrd="1" destOrd="0" presId="urn:microsoft.com/office/officeart/2005/8/layout/process1"/>
    <dgm:cxn modelId="{F4D377FB-92C9-481E-BE20-F403A0F5BF37}" type="presOf" srcId="{51986DB1-91E9-4B71-8ED0-96ADC66CF9D0}" destId="{B16833FF-09D8-4439-A328-F57CA23829D5}" srcOrd="0" destOrd="0" presId="urn:microsoft.com/office/officeart/2005/8/layout/process1"/>
    <dgm:cxn modelId="{1A8DAE44-BCD0-4953-AD47-45E6EFC0991B}" type="presParOf" srcId="{66B98CAC-22BE-4BF7-AE3C-367C06DCEB4D}" destId="{83B618FD-2E34-478F-AF2C-12746F1E0DFC}" srcOrd="0" destOrd="0" presId="urn:microsoft.com/office/officeart/2005/8/layout/process1"/>
    <dgm:cxn modelId="{EBE7ECB7-0654-4FD6-BA43-F6FC17966A5E}" type="presParOf" srcId="{66B98CAC-22BE-4BF7-AE3C-367C06DCEB4D}" destId="{7126EE22-A783-460B-9DD2-26977215EBDD}" srcOrd="1" destOrd="0" presId="urn:microsoft.com/office/officeart/2005/8/layout/process1"/>
    <dgm:cxn modelId="{31160397-FF70-4F86-91E0-727D3754D277}" type="presParOf" srcId="{7126EE22-A783-460B-9DD2-26977215EBDD}" destId="{C0534753-2FA0-4BA8-8F2E-8E0C3E665974}" srcOrd="0" destOrd="0" presId="urn:microsoft.com/office/officeart/2005/8/layout/process1"/>
    <dgm:cxn modelId="{081A9CB7-60FB-473E-B726-5134ED54441A}" type="presParOf" srcId="{66B98CAC-22BE-4BF7-AE3C-367C06DCEB4D}" destId="{2FA01B96-D611-4032-AFE4-EA13FCDD899B}" srcOrd="2" destOrd="0" presId="urn:microsoft.com/office/officeart/2005/8/layout/process1"/>
    <dgm:cxn modelId="{E004D235-A456-4F93-B08D-DC4430402B28}" type="presParOf" srcId="{66B98CAC-22BE-4BF7-AE3C-367C06DCEB4D}" destId="{076E557F-D209-49E0-993A-FA63BE76E959}" srcOrd="3" destOrd="0" presId="urn:microsoft.com/office/officeart/2005/8/layout/process1"/>
    <dgm:cxn modelId="{BD005270-6C58-4041-8144-2164BB9891DB}" type="presParOf" srcId="{076E557F-D209-49E0-993A-FA63BE76E959}" destId="{E1B56FFC-D9BF-4787-A36A-52ED69ACE76C}" srcOrd="0" destOrd="0" presId="urn:microsoft.com/office/officeart/2005/8/layout/process1"/>
    <dgm:cxn modelId="{D827724F-25E1-48BC-98B6-2EDA5B06E8B2}" type="presParOf" srcId="{66B98CAC-22BE-4BF7-AE3C-367C06DCEB4D}" destId="{B16833FF-09D8-4439-A328-F57CA23829D5}" srcOrd="4" destOrd="0" presId="urn:microsoft.com/office/officeart/2005/8/layout/process1"/>
    <dgm:cxn modelId="{ED3B7628-7ABA-4CD5-ADC4-A000A5AA9189}" type="presParOf" srcId="{66B98CAC-22BE-4BF7-AE3C-367C06DCEB4D}" destId="{7BD4327A-43C4-407E-9650-42201545A97F}" srcOrd="5" destOrd="0" presId="urn:microsoft.com/office/officeart/2005/8/layout/process1"/>
    <dgm:cxn modelId="{2721ED5C-6C38-4229-9FD0-A5073E921795}" type="presParOf" srcId="{7BD4327A-43C4-407E-9650-42201545A97F}" destId="{A8C6730C-AFBC-4B3A-B2FA-B80BB69C6340}" srcOrd="0" destOrd="0" presId="urn:microsoft.com/office/officeart/2005/8/layout/process1"/>
    <dgm:cxn modelId="{384EC424-D101-4924-9079-724461DBCBF8}" type="presParOf" srcId="{66B98CAC-22BE-4BF7-AE3C-367C06DCEB4D}" destId="{DCC5002B-77B5-48FF-8675-166724E0FDA8}" srcOrd="6" destOrd="0" presId="urn:microsoft.com/office/officeart/2005/8/layout/process1"/>
    <dgm:cxn modelId="{ED7FE5D4-44E1-47B6-B0DA-6B82DAD0D1A9}" type="presParOf" srcId="{66B98CAC-22BE-4BF7-AE3C-367C06DCEB4D}" destId="{294F7D6D-6A93-4973-878E-B9E0139A3B0A}" srcOrd="7" destOrd="0" presId="urn:microsoft.com/office/officeart/2005/8/layout/process1"/>
    <dgm:cxn modelId="{5F337E60-580B-405C-9270-398C761E993E}" type="presParOf" srcId="{294F7D6D-6A93-4973-878E-B9E0139A3B0A}" destId="{62B89DE0-4089-4541-B664-7DB79B63EAD6}" srcOrd="0" destOrd="0" presId="urn:microsoft.com/office/officeart/2005/8/layout/process1"/>
    <dgm:cxn modelId="{59B786B5-230E-45EF-923C-E6290D3AE68A}" type="presParOf" srcId="{66B98CAC-22BE-4BF7-AE3C-367C06DCEB4D}" destId="{424D7852-5F02-470B-B89B-D4234FA9A035}" srcOrd="8" destOrd="0" presId="urn:microsoft.com/office/officeart/2005/8/layout/process1"/>
    <dgm:cxn modelId="{80645460-15EA-4D7C-B59B-9E4D61155FA4}" type="presParOf" srcId="{66B98CAC-22BE-4BF7-AE3C-367C06DCEB4D}" destId="{FD3E142F-25B9-4154-BE09-2450E7FEF92E}" srcOrd="9" destOrd="0" presId="urn:microsoft.com/office/officeart/2005/8/layout/process1"/>
    <dgm:cxn modelId="{83D83D27-A8B1-41F6-A89C-5DDA9656CF8B}" type="presParOf" srcId="{FD3E142F-25B9-4154-BE09-2450E7FEF92E}" destId="{CD02207E-EDF4-4150-B79A-270B519B56A2}" srcOrd="0" destOrd="0" presId="urn:microsoft.com/office/officeart/2005/8/layout/process1"/>
    <dgm:cxn modelId="{1396EC28-997F-4F70-8AFE-3E9AF99A0FF7}" type="presParOf" srcId="{66B98CAC-22BE-4BF7-AE3C-367C06DCEB4D}" destId="{4AA53B28-37F8-46CA-99EA-F82FE19C689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E29E332-E73B-40D6-B89A-979F671684E2}" type="doc">
      <dgm:prSet loTypeId="urn:microsoft.com/office/officeart/2005/8/layout/process1" loCatId="process" qsTypeId="urn:microsoft.com/office/officeart/2005/8/quickstyle/simple1" qsCatId="simple" csTypeId="urn:microsoft.com/office/officeart/2005/8/colors/accent0_1" csCatId="mainScheme" phldr="1"/>
      <dgm:spPr/>
    </dgm:pt>
    <dgm:pt modelId="{796870D1-D056-436A-9099-82879B4970DF}">
      <dgm:prSet phldrT="[Text]" custT="1"/>
      <dgm:spPr>
        <a:solidFill>
          <a:srgbClr val="482E91"/>
        </a:solidFill>
      </dgm:spPr>
      <dgm:t>
        <a:bodyPr/>
        <a:lstStyle/>
        <a:p>
          <a:pPr rtl="0"/>
          <a:r>
            <a:rPr lang="en-US" sz="1600" dirty="0">
              <a:solidFill>
                <a:schemeClr val="bg1"/>
              </a:solidFill>
            </a:rPr>
            <a:t>Module1:</a:t>
          </a:r>
        </a:p>
        <a:p>
          <a:pPr rtl="0"/>
          <a:r>
            <a:rPr lang="en-GB" sz="1400" dirty="0">
              <a:solidFill>
                <a:schemeClr val="bg1"/>
              </a:solidFill>
            </a:rPr>
            <a:t>Introduction to Software Development and Stakeholder Engagement</a:t>
          </a:r>
          <a:endParaRPr lang="en-GB" sz="1600" b="1" dirty="0">
            <a:solidFill>
              <a:schemeClr val="bg1"/>
            </a:solidFill>
          </a:endParaRPr>
        </a:p>
      </dgm:t>
    </dgm:pt>
    <dgm:pt modelId="{A38DA40A-E1F1-4A65-8A9E-B0470025D348}" type="parTrans" cxnId="{EC62980E-0BB6-4AE5-8780-08DFE64E2B4F}">
      <dgm:prSet/>
      <dgm:spPr/>
      <dgm:t>
        <a:bodyPr/>
        <a:lstStyle/>
        <a:p>
          <a:endParaRPr lang="en-GB"/>
        </a:p>
      </dgm:t>
    </dgm:pt>
    <dgm:pt modelId="{9A3DBB0F-681A-4DBA-A9EC-FD52AA158DA1}" type="sibTrans" cxnId="{EC62980E-0BB6-4AE5-8780-08DFE64E2B4F}">
      <dgm:prSet custT="1"/>
      <dgm:spPr>
        <a:solidFill>
          <a:srgbClr val="482E91"/>
        </a:solidFill>
        <a:ln>
          <a:solidFill>
            <a:srgbClr val="482E91"/>
          </a:solidFill>
        </a:ln>
        <a:effectLst/>
      </dgm:spPr>
      <dgm:t>
        <a:bodyPr spcFirstLastPara="0" vert="horz" wrap="square" lIns="0" tIns="0" rIns="0" bIns="0" numCol="1" spcCol="1270" anchor="ctr" anchorCtr="0"/>
        <a:lstStyle/>
        <a:p>
          <a:pPr marL="0" algn="l" defTabSz="914400" rtl="0" eaLnBrk="1" latinLnBrk="0" hangingPunct="1"/>
          <a:endParaRPr lang="en-GB" sz="1800" kern="1200">
            <a:solidFill>
              <a:schemeClr val="tx1"/>
            </a:solidFill>
            <a:latin typeface="+mn-lt"/>
            <a:ea typeface="+mn-ea"/>
            <a:cs typeface="+mn-cs"/>
          </a:endParaRPr>
        </a:p>
      </dgm:t>
    </dgm:pt>
    <dgm:pt modelId="{E331D94A-DA69-41E6-B453-C0ADE1CEEAAD}">
      <dgm:prSet phldrT="[Text]"/>
      <dgm:spPr>
        <a:solidFill>
          <a:srgbClr val="909EE6"/>
        </a:solidFill>
      </dgm:spPr>
      <dgm:t>
        <a:bodyPr/>
        <a:lstStyle/>
        <a:p>
          <a:pPr rtl="0"/>
          <a:r>
            <a:rPr lang="en-US" dirty="0">
              <a:solidFill>
                <a:schemeClr val="bg1"/>
              </a:solidFill>
            </a:rPr>
            <a:t>Module 2:</a:t>
          </a:r>
          <a:r>
            <a:rPr lang="en-GB" dirty="0">
              <a:solidFill>
                <a:schemeClr val="bg1"/>
              </a:solidFill>
            </a:rPr>
            <a:t>Algorithms and Programming Fundamentals</a:t>
          </a:r>
        </a:p>
      </dgm:t>
    </dgm:pt>
    <dgm:pt modelId="{BF0E96BC-2198-46CB-95BA-91012315DD12}" type="parTrans" cxnId="{D747595E-0C83-44A7-904D-3B4B4E651120}">
      <dgm:prSet/>
      <dgm:spPr/>
      <dgm:t>
        <a:bodyPr/>
        <a:lstStyle/>
        <a:p>
          <a:endParaRPr lang="en-GB"/>
        </a:p>
      </dgm:t>
    </dgm:pt>
    <dgm:pt modelId="{64299E2E-56B5-4ADF-91CA-D72D7499D88E}" type="sibTrans" cxnId="{D747595E-0C83-44A7-904D-3B4B4E651120}">
      <dgm:prSet custT="1"/>
      <dgm:spPr>
        <a:solidFill>
          <a:srgbClr val="482E91"/>
        </a:solidFill>
        <a:ln>
          <a:solidFill>
            <a:srgbClr val="482E91"/>
          </a:solidFill>
        </a:ln>
        <a:effectLst/>
      </dgm:spPr>
      <dgm:t>
        <a:bodyPr spcFirstLastPara="0" vert="horz" wrap="square" lIns="0" tIns="0" rIns="0" bIns="0" numCol="1" spcCol="1270" anchor="ctr" anchorCtr="0"/>
        <a:lstStyle/>
        <a:p>
          <a:pPr marL="0" algn="l" defTabSz="914400" rtl="0" eaLnBrk="1" latinLnBrk="0" hangingPunct="1"/>
          <a:endParaRPr lang="en-GB" sz="1800" kern="1200">
            <a:solidFill>
              <a:schemeClr val="tx1"/>
            </a:solidFill>
            <a:latin typeface="+mn-lt"/>
            <a:ea typeface="+mn-ea"/>
            <a:cs typeface="+mn-cs"/>
          </a:endParaRPr>
        </a:p>
      </dgm:t>
    </dgm:pt>
    <dgm:pt modelId="{51986DB1-91E9-4B71-8ED0-96ADC66CF9D0}">
      <dgm:prSet phldrT="[Text]"/>
      <dgm:spPr>
        <a:solidFill>
          <a:srgbClr val="482E91"/>
        </a:solidFill>
      </dgm:spPr>
      <dgm:t>
        <a:bodyPr/>
        <a:lstStyle/>
        <a:p>
          <a:pPr rtl="0"/>
          <a:r>
            <a:rPr lang="en-US" dirty="0">
              <a:solidFill>
                <a:schemeClr val="bg1"/>
              </a:solidFill>
            </a:rPr>
            <a:t>Module 3: </a:t>
          </a:r>
          <a:r>
            <a:rPr lang="en-GB" dirty="0">
              <a:solidFill>
                <a:schemeClr val="bg1"/>
              </a:solidFill>
            </a:rPr>
            <a:t>Documentation and Project Management</a:t>
          </a:r>
        </a:p>
      </dgm:t>
    </dgm:pt>
    <dgm:pt modelId="{79921D79-30AC-44F4-AFF8-87CD1DC84271}" type="parTrans" cxnId="{4775826F-60ED-48D1-B718-CB50BD8E6861}">
      <dgm:prSet/>
      <dgm:spPr/>
      <dgm:t>
        <a:bodyPr/>
        <a:lstStyle/>
        <a:p>
          <a:endParaRPr lang="en-GB"/>
        </a:p>
      </dgm:t>
    </dgm:pt>
    <dgm:pt modelId="{D7CDFFE2-333D-47D8-95C8-B5D2CF0F5A35}" type="sibTrans" cxnId="{4775826F-60ED-48D1-B718-CB50BD8E6861}">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C58B3827-FC5F-40F9-9C3E-C19FB588822A}">
      <dgm:prSet custT="1"/>
      <dgm:spPr>
        <a:solidFill>
          <a:srgbClr val="482E91"/>
        </a:solidFill>
        <a:ln w="19050" cap="flat" cmpd="sng" algn="ctr">
          <a:solidFill>
            <a:prstClr val="black">
              <a:shade val="80000"/>
              <a:hueOff val="0"/>
              <a:satOff val="0"/>
              <a:lumOff val="0"/>
              <a:alphaOff val="0"/>
            </a:prstClr>
          </a:solidFill>
          <a:prstDash val="solid"/>
          <a:miter lim="800000"/>
        </a:ln>
        <a:effectLst/>
      </dgm:spPr>
      <dgm:t>
        <a:bodyPr spcFirstLastPara="0" vert="horz" wrap="square" lIns="60960" tIns="60960" rIns="60960" bIns="60960" numCol="1" spcCol="1270" anchor="ctr" anchorCtr="0"/>
        <a:lstStyle/>
        <a:p>
          <a:pPr marL="0" lvl="0" indent="0" algn="ctr" defTabSz="711200" rtl="0">
            <a:lnSpc>
              <a:spcPct val="90000"/>
            </a:lnSpc>
            <a:spcBef>
              <a:spcPct val="0"/>
            </a:spcBef>
            <a:spcAft>
              <a:spcPct val="35000"/>
            </a:spcAft>
            <a:buNone/>
          </a:pPr>
          <a:r>
            <a:rPr lang="en-US" sz="1600" kern="1200" dirty="0">
              <a:solidFill>
                <a:schemeClr val="bg1"/>
              </a:solidFill>
              <a:latin typeface="Aptos" panose="02110004020202020204"/>
              <a:ea typeface="+mn-ea"/>
              <a:cs typeface="+mn-cs"/>
            </a:rPr>
            <a:t>Module 5: </a:t>
          </a:r>
          <a:r>
            <a:rPr lang="en-GB" sz="1600" kern="1200" dirty="0">
              <a:solidFill>
                <a:schemeClr val="bg1"/>
              </a:solidFill>
              <a:latin typeface="Aptos" panose="02110004020202020204"/>
              <a:ea typeface="+mn-ea"/>
              <a:cs typeface="+mn-cs"/>
            </a:rPr>
            <a:t>Software Testing and Quality Assurance</a:t>
          </a:r>
        </a:p>
      </dgm:t>
    </dgm:pt>
    <dgm:pt modelId="{610C64E4-7449-4E69-8DDA-312C18132B7D}" type="parTrans" cxnId="{03EADCC3-1D4D-4054-AE25-32BF7A109BA8}">
      <dgm:prSet/>
      <dgm:spPr/>
      <dgm:t>
        <a:bodyPr/>
        <a:lstStyle/>
        <a:p>
          <a:endParaRPr lang="en-GB"/>
        </a:p>
      </dgm:t>
    </dgm:pt>
    <dgm:pt modelId="{C0BA38C9-FE7E-4D17-B423-FF6FD01F430F}" type="sibTrans" cxnId="{03EADCC3-1D4D-4054-AE25-32BF7A109BA8}">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90277FFD-0740-434E-9121-84E67FA78B97}">
      <dgm:prSet/>
      <dgm:spPr>
        <a:solidFill>
          <a:srgbClr val="909EE6"/>
        </a:solidFill>
      </dgm:spPr>
      <dgm:t>
        <a:bodyPr/>
        <a:lstStyle/>
        <a:p>
          <a:r>
            <a:rPr lang="en-US" dirty="0">
              <a:solidFill>
                <a:schemeClr val="bg1"/>
              </a:solidFill>
            </a:rPr>
            <a:t>Module 6: </a:t>
          </a:r>
          <a:r>
            <a:rPr lang="en-GB" dirty="0">
              <a:solidFill>
                <a:schemeClr val="bg1"/>
              </a:solidFill>
            </a:rPr>
            <a:t>Professional Development and Continuous Learning</a:t>
          </a:r>
        </a:p>
      </dgm:t>
    </dgm:pt>
    <dgm:pt modelId="{2035BD02-E3C8-4AE2-BEF7-B93E03EB6281}" type="parTrans" cxnId="{1C2E2658-B2A7-44B4-8EFA-CA91E9A7A693}">
      <dgm:prSet/>
      <dgm:spPr/>
      <dgm:t>
        <a:bodyPr/>
        <a:lstStyle/>
        <a:p>
          <a:endParaRPr lang="en-GB"/>
        </a:p>
      </dgm:t>
    </dgm:pt>
    <dgm:pt modelId="{CA4644A7-FA76-4E13-91A7-D28222653962}" type="sibTrans" cxnId="{1C2E2658-B2A7-44B4-8EFA-CA91E9A7A693}">
      <dgm:prSet/>
      <dgm:spPr/>
      <dgm:t>
        <a:bodyPr/>
        <a:lstStyle/>
        <a:p>
          <a:endParaRPr lang="en-GB"/>
        </a:p>
      </dgm:t>
    </dgm:pt>
    <dgm:pt modelId="{EDB569D5-4E0C-456D-9FD7-C74E22CF5392}">
      <dgm:prSet phldrT="[Text]" custT="1"/>
      <dgm:spPr>
        <a:solidFill>
          <a:srgbClr val="909EE6"/>
        </a:solidFill>
      </dgm:spPr>
      <dgm:t>
        <a:bodyPr/>
        <a:lstStyle/>
        <a:p>
          <a:pPr rtl="0"/>
          <a:r>
            <a:rPr lang="en-GB" sz="1600" kern="1200" dirty="0">
              <a:solidFill>
                <a:schemeClr val="bg1"/>
              </a:solidFill>
              <a:latin typeface="Aptos" panose="02110004020202020204"/>
              <a:ea typeface="+mn-ea"/>
              <a:cs typeface="+mn-cs"/>
            </a:rPr>
            <a:t>Module 4:</a:t>
          </a:r>
        </a:p>
        <a:p>
          <a:pPr rtl="0"/>
          <a:r>
            <a:rPr lang="en-GB" sz="1400" kern="1200" dirty="0">
              <a:solidFill>
                <a:schemeClr val="bg1"/>
              </a:solidFill>
              <a:latin typeface="Aptos" panose="02110004020202020204"/>
              <a:ea typeface="+mn-ea"/>
              <a:cs typeface="+mn-cs"/>
            </a:rPr>
            <a:t>Secure Development Practices</a:t>
          </a:r>
          <a:endParaRPr lang="en-GB" sz="1600" b="1" kern="1200" dirty="0">
            <a:solidFill>
              <a:schemeClr val="bg1"/>
            </a:solidFill>
            <a:latin typeface="Aptos" panose="02110004020202020204"/>
            <a:ea typeface="+mn-ea"/>
            <a:cs typeface="+mn-cs"/>
          </a:endParaRPr>
        </a:p>
      </dgm:t>
    </dgm:pt>
    <dgm:pt modelId="{0711F882-E1D9-49CB-963E-5E4D911C1632}" type="parTrans" cxnId="{5EF73B3D-FA64-4320-A292-090B9F8F5B4B}">
      <dgm:prSet/>
      <dgm:spPr/>
      <dgm:t>
        <a:bodyPr/>
        <a:lstStyle/>
        <a:p>
          <a:endParaRPr lang="en-GB"/>
        </a:p>
      </dgm:t>
    </dgm:pt>
    <dgm:pt modelId="{C3AD8A90-AAF7-4219-8065-CF6614C25B85}" type="sibTrans" cxnId="{5EF73B3D-FA64-4320-A292-090B9F8F5B4B}">
      <dgm:prSet custT="1"/>
      <dgm:spPr>
        <a:solidFill>
          <a:srgbClr val="482E91"/>
        </a:solidFill>
        <a:ln>
          <a:solidFill>
            <a:srgbClr val="482E91"/>
          </a:solidFill>
        </a:ln>
        <a:effectLst/>
      </dgm:spPr>
      <dgm:t>
        <a:bodyPr spcFirstLastPara="0" vert="horz" wrap="square" lIns="0" tIns="0" rIns="0" bIns="0" numCol="1" spcCol="1270" anchor="ctr" anchorCtr="0"/>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gm:t>
    </dgm:pt>
    <dgm:pt modelId="{66B98CAC-22BE-4BF7-AE3C-367C06DCEB4D}" type="pres">
      <dgm:prSet presAssocID="{AE29E332-E73B-40D6-B89A-979F671684E2}" presName="Name0" presStyleCnt="0">
        <dgm:presLayoutVars>
          <dgm:dir/>
          <dgm:resizeHandles val="exact"/>
        </dgm:presLayoutVars>
      </dgm:prSet>
      <dgm:spPr/>
    </dgm:pt>
    <dgm:pt modelId="{83B618FD-2E34-478F-AF2C-12746F1E0DFC}" type="pres">
      <dgm:prSet presAssocID="{796870D1-D056-436A-9099-82879B4970DF}" presName="node" presStyleLbl="node1" presStyleIdx="0" presStyleCnt="6">
        <dgm:presLayoutVars>
          <dgm:bulletEnabled val="1"/>
        </dgm:presLayoutVars>
      </dgm:prSet>
      <dgm:spPr/>
    </dgm:pt>
    <dgm:pt modelId="{7126EE22-A783-460B-9DD2-26977215EBDD}" type="pres">
      <dgm:prSet presAssocID="{9A3DBB0F-681A-4DBA-A9EC-FD52AA158DA1}" presName="sibTrans" presStyleLbl="sibTrans2D1" presStyleIdx="0" presStyleCnt="5"/>
      <dgm:spPr>
        <a:xfrm>
          <a:off x="1576246" y="917954"/>
          <a:ext cx="303565" cy="355113"/>
        </a:xfrm>
        <a:prstGeom prst="rightArrow">
          <a:avLst>
            <a:gd name="adj1" fmla="val 60000"/>
            <a:gd name="adj2" fmla="val 50000"/>
          </a:avLst>
        </a:prstGeom>
      </dgm:spPr>
    </dgm:pt>
    <dgm:pt modelId="{C0534753-2FA0-4BA8-8F2E-8E0C3E665974}" type="pres">
      <dgm:prSet presAssocID="{9A3DBB0F-681A-4DBA-A9EC-FD52AA158DA1}" presName="connectorText" presStyleLbl="sibTrans2D1" presStyleIdx="0" presStyleCnt="5"/>
      <dgm:spPr/>
    </dgm:pt>
    <dgm:pt modelId="{2FA01B96-D611-4032-AFE4-EA13FCDD899B}" type="pres">
      <dgm:prSet presAssocID="{E331D94A-DA69-41E6-B453-C0ADE1CEEAAD}" presName="node" presStyleLbl="node1" presStyleIdx="1" presStyleCnt="6">
        <dgm:presLayoutVars>
          <dgm:bulletEnabled val="1"/>
        </dgm:presLayoutVars>
      </dgm:prSet>
      <dgm:spPr/>
    </dgm:pt>
    <dgm:pt modelId="{076E557F-D209-49E0-993A-FA63BE76E959}" type="pres">
      <dgm:prSet presAssocID="{64299E2E-56B5-4ADF-91CA-D72D7499D88E}" presName="sibTrans" presStyleLbl="sibTrans2D1" presStyleIdx="1" presStyleCnt="5"/>
      <dgm:spPr>
        <a:xfrm>
          <a:off x="3580921" y="917954"/>
          <a:ext cx="303565" cy="355113"/>
        </a:xfrm>
        <a:prstGeom prst="rightArrow">
          <a:avLst>
            <a:gd name="adj1" fmla="val 60000"/>
            <a:gd name="adj2" fmla="val 50000"/>
          </a:avLst>
        </a:prstGeom>
      </dgm:spPr>
    </dgm:pt>
    <dgm:pt modelId="{E1B56FFC-D9BF-4787-A36A-52ED69ACE76C}" type="pres">
      <dgm:prSet presAssocID="{64299E2E-56B5-4ADF-91CA-D72D7499D88E}" presName="connectorText" presStyleLbl="sibTrans2D1" presStyleIdx="1" presStyleCnt="5"/>
      <dgm:spPr/>
    </dgm:pt>
    <dgm:pt modelId="{B16833FF-09D8-4439-A328-F57CA23829D5}" type="pres">
      <dgm:prSet presAssocID="{51986DB1-91E9-4B71-8ED0-96ADC66CF9D0}" presName="node" presStyleLbl="node1" presStyleIdx="2" presStyleCnt="6">
        <dgm:presLayoutVars>
          <dgm:bulletEnabled val="1"/>
        </dgm:presLayoutVars>
      </dgm:prSet>
      <dgm:spPr/>
    </dgm:pt>
    <dgm:pt modelId="{7BD4327A-43C4-407E-9650-42201545A97F}" type="pres">
      <dgm:prSet presAssocID="{D7CDFFE2-333D-47D8-95C8-B5D2CF0F5A35}" presName="sibTrans" presStyleLbl="sibTrans2D1" presStyleIdx="2" presStyleCnt="5"/>
      <dgm:spPr>
        <a:xfrm>
          <a:off x="5585596" y="917954"/>
          <a:ext cx="303565" cy="355113"/>
        </a:xfrm>
        <a:prstGeom prst="rightArrow">
          <a:avLst>
            <a:gd name="adj1" fmla="val 60000"/>
            <a:gd name="adj2" fmla="val 50000"/>
          </a:avLst>
        </a:prstGeom>
      </dgm:spPr>
    </dgm:pt>
    <dgm:pt modelId="{A8C6730C-AFBC-4B3A-B2FA-B80BB69C6340}" type="pres">
      <dgm:prSet presAssocID="{D7CDFFE2-333D-47D8-95C8-B5D2CF0F5A35}" presName="connectorText" presStyleLbl="sibTrans2D1" presStyleIdx="2" presStyleCnt="5"/>
      <dgm:spPr/>
    </dgm:pt>
    <dgm:pt modelId="{DCC5002B-77B5-48FF-8675-166724E0FDA8}" type="pres">
      <dgm:prSet presAssocID="{EDB569D5-4E0C-456D-9FD7-C74E22CF5392}" presName="node" presStyleLbl="node1" presStyleIdx="3" presStyleCnt="6" custScaleX="111733">
        <dgm:presLayoutVars>
          <dgm:bulletEnabled val="1"/>
        </dgm:presLayoutVars>
      </dgm:prSet>
      <dgm:spPr/>
    </dgm:pt>
    <dgm:pt modelId="{294F7D6D-6A93-4973-878E-B9E0139A3B0A}" type="pres">
      <dgm:prSet presAssocID="{C3AD8A90-AAF7-4219-8065-CF6614C25B85}" presName="sibTrans" presStyleLbl="sibTrans2D1" presStyleIdx="3" presStyleCnt="5"/>
      <dgm:spPr>
        <a:xfrm>
          <a:off x="7758277" y="917954"/>
          <a:ext cx="303565" cy="355113"/>
        </a:xfrm>
        <a:prstGeom prst="rightArrow">
          <a:avLst>
            <a:gd name="adj1" fmla="val 60000"/>
            <a:gd name="adj2" fmla="val 50000"/>
          </a:avLst>
        </a:prstGeom>
      </dgm:spPr>
    </dgm:pt>
    <dgm:pt modelId="{62B89DE0-4089-4541-B664-7DB79B63EAD6}" type="pres">
      <dgm:prSet presAssocID="{C3AD8A90-AAF7-4219-8065-CF6614C25B85}" presName="connectorText" presStyleLbl="sibTrans2D1" presStyleIdx="3" presStyleCnt="5"/>
      <dgm:spPr/>
    </dgm:pt>
    <dgm:pt modelId="{424D7852-5F02-470B-B89B-D4234FA9A035}" type="pres">
      <dgm:prSet presAssocID="{C58B3827-FC5F-40F9-9C3E-C19FB588822A}" presName="node" presStyleLbl="node1" presStyleIdx="4" presStyleCnt="6">
        <dgm:presLayoutVars>
          <dgm:bulletEnabled val="1"/>
        </dgm:presLayoutVars>
      </dgm:prSet>
      <dgm:spPr>
        <a:xfrm>
          <a:off x="8187850" y="117383"/>
          <a:ext cx="1431910" cy="1956256"/>
        </a:xfrm>
        <a:prstGeom prst="roundRect">
          <a:avLst>
            <a:gd name="adj" fmla="val 10000"/>
          </a:avLst>
        </a:prstGeom>
      </dgm:spPr>
    </dgm:pt>
    <dgm:pt modelId="{FD3E142F-25B9-4154-BE09-2450E7FEF92E}" type="pres">
      <dgm:prSet presAssocID="{C0BA38C9-FE7E-4D17-B423-FF6FD01F430F}" presName="sibTrans" presStyleLbl="sibTrans2D1" presStyleIdx="4" presStyleCnt="5"/>
      <dgm:spPr>
        <a:xfrm>
          <a:off x="9762952" y="917954"/>
          <a:ext cx="303565" cy="355113"/>
        </a:xfrm>
        <a:prstGeom prst="rightArrow">
          <a:avLst>
            <a:gd name="adj1" fmla="val 60000"/>
            <a:gd name="adj2" fmla="val 50000"/>
          </a:avLst>
        </a:prstGeom>
      </dgm:spPr>
    </dgm:pt>
    <dgm:pt modelId="{CD02207E-EDF4-4150-B79A-270B519B56A2}" type="pres">
      <dgm:prSet presAssocID="{C0BA38C9-FE7E-4D17-B423-FF6FD01F430F}" presName="connectorText" presStyleLbl="sibTrans2D1" presStyleIdx="4" presStyleCnt="5"/>
      <dgm:spPr/>
    </dgm:pt>
    <dgm:pt modelId="{4AA53B28-37F8-46CA-99EA-F82FE19C689E}" type="pres">
      <dgm:prSet presAssocID="{90277FFD-0740-434E-9121-84E67FA78B97}" presName="node" presStyleLbl="node1" presStyleIdx="5" presStyleCnt="6">
        <dgm:presLayoutVars>
          <dgm:bulletEnabled val="1"/>
        </dgm:presLayoutVars>
      </dgm:prSet>
      <dgm:spPr/>
    </dgm:pt>
  </dgm:ptLst>
  <dgm:cxnLst>
    <dgm:cxn modelId="{D09A5F08-D074-49F1-A57A-862406910CEC}" type="presOf" srcId="{64299E2E-56B5-4ADF-91CA-D72D7499D88E}" destId="{E1B56FFC-D9BF-4787-A36A-52ED69ACE76C}" srcOrd="1" destOrd="0" presId="urn:microsoft.com/office/officeart/2005/8/layout/process1"/>
    <dgm:cxn modelId="{EC62980E-0BB6-4AE5-8780-08DFE64E2B4F}" srcId="{AE29E332-E73B-40D6-B89A-979F671684E2}" destId="{796870D1-D056-436A-9099-82879B4970DF}" srcOrd="0" destOrd="0" parTransId="{A38DA40A-E1F1-4A65-8A9E-B0470025D348}" sibTransId="{9A3DBB0F-681A-4DBA-A9EC-FD52AA158DA1}"/>
    <dgm:cxn modelId="{A4D47F2E-AE62-424B-A864-384387D1C5E5}" type="presOf" srcId="{64299E2E-56B5-4ADF-91CA-D72D7499D88E}" destId="{076E557F-D209-49E0-993A-FA63BE76E959}" srcOrd="0" destOrd="0" presId="urn:microsoft.com/office/officeart/2005/8/layout/process1"/>
    <dgm:cxn modelId="{1840F532-2CA5-4155-AD4F-E27F15CEFF65}" type="presOf" srcId="{D7CDFFE2-333D-47D8-95C8-B5D2CF0F5A35}" destId="{7BD4327A-43C4-407E-9650-42201545A97F}" srcOrd="0" destOrd="0" presId="urn:microsoft.com/office/officeart/2005/8/layout/process1"/>
    <dgm:cxn modelId="{5EF73B3D-FA64-4320-A292-090B9F8F5B4B}" srcId="{AE29E332-E73B-40D6-B89A-979F671684E2}" destId="{EDB569D5-4E0C-456D-9FD7-C74E22CF5392}" srcOrd="3" destOrd="0" parTransId="{0711F882-E1D9-49CB-963E-5E4D911C1632}" sibTransId="{C3AD8A90-AAF7-4219-8065-CF6614C25B85}"/>
    <dgm:cxn modelId="{D747595E-0C83-44A7-904D-3B4B4E651120}" srcId="{AE29E332-E73B-40D6-B89A-979F671684E2}" destId="{E331D94A-DA69-41E6-B453-C0ADE1CEEAAD}" srcOrd="1" destOrd="0" parTransId="{BF0E96BC-2198-46CB-95BA-91012315DD12}" sibTransId="{64299E2E-56B5-4ADF-91CA-D72D7499D88E}"/>
    <dgm:cxn modelId="{953B4760-56AC-4277-815C-E8E5139A9D00}" type="presOf" srcId="{C3AD8A90-AAF7-4219-8065-CF6614C25B85}" destId="{294F7D6D-6A93-4973-878E-B9E0139A3B0A}" srcOrd="0" destOrd="0" presId="urn:microsoft.com/office/officeart/2005/8/layout/process1"/>
    <dgm:cxn modelId="{5F628441-E774-41B2-BFD9-07B362E15633}" type="presOf" srcId="{C0BA38C9-FE7E-4D17-B423-FF6FD01F430F}" destId="{CD02207E-EDF4-4150-B79A-270B519B56A2}" srcOrd="1" destOrd="0" presId="urn:microsoft.com/office/officeart/2005/8/layout/process1"/>
    <dgm:cxn modelId="{BF356147-3332-420F-9458-9CF886E83175}" type="presOf" srcId="{9A3DBB0F-681A-4DBA-A9EC-FD52AA158DA1}" destId="{7126EE22-A783-460B-9DD2-26977215EBDD}" srcOrd="0" destOrd="0" presId="urn:microsoft.com/office/officeart/2005/8/layout/process1"/>
    <dgm:cxn modelId="{4775826F-60ED-48D1-B718-CB50BD8E6861}" srcId="{AE29E332-E73B-40D6-B89A-979F671684E2}" destId="{51986DB1-91E9-4B71-8ED0-96ADC66CF9D0}" srcOrd="2" destOrd="0" parTransId="{79921D79-30AC-44F4-AFF8-87CD1DC84271}" sibTransId="{D7CDFFE2-333D-47D8-95C8-B5D2CF0F5A35}"/>
    <dgm:cxn modelId="{1C2E2658-B2A7-44B4-8EFA-CA91E9A7A693}" srcId="{AE29E332-E73B-40D6-B89A-979F671684E2}" destId="{90277FFD-0740-434E-9121-84E67FA78B97}" srcOrd="5" destOrd="0" parTransId="{2035BD02-E3C8-4AE2-BEF7-B93E03EB6281}" sibTransId="{CA4644A7-FA76-4E13-91A7-D28222653962}"/>
    <dgm:cxn modelId="{EFFFF47B-4D2F-4BBA-AE56-7CF2C97924C8}" type="presOf" srcId="{C3AD8A90-AAF7-4219-8065-CF6614C25B85}" destId="{62B89DE0-4089-4541-B664-7DB79B63EAD6}" srcOrd="1" destOrd="0" presId="urn:microsoft.com/office/officeart/2005/8/layout/process1"/>
    <dgm:cxn modelId="{541FF990-61F4-4C03-AF70-3893F29AFF68}" type="presOf" srcId="{E331D94A-DA69-41E6-B453-C0ADE1CEEAAD}" destId="{2FA01B96-D611-4032-AFE4-EA13FCDD899B}" srcOrd="0" destOrd="0" presId="urn:microsoft.com/office/officeart/2005/8/layout/process1"/>
    <dgm:cxn modelId="{DAE97A98-D0B5-4D79-8645-6C009F9443AA}" type="presOf" srcId="{90277FFD-0740-434E-9121-84E67FA78B97}" destId="{4AA53B28-37F8-46CA-99EA-F82FE19C689E}" srcOrd="0" destOrd="0" presId="urn:microsoft.com/office/officeart/2005/8/layout/process1"/>
    <dgm:cxn modelId="{593CF69D-585D-457E-8F3A-7CFE7E24EAAD}" type="presOf" srcId="{9A3DBB0F-681A-4DBA-A9EC-FD52AA158DA1}" destId="{C0534753-2FA0-4BA8-8F2E-8E0C3E665974}" srcOrd="1" destOrd="0" presId="urn:microsoft.com/office/officeart/2005/8/layout/process1"/>
    <dgm:cxn modelId="{7CF5E8A6-0C95-4B29-A7EE-0FD558419BC0}" type="presOf" srcId="{AE29E332-E73B-40D6-B89A-979F671684E2}" destId="{66B98CAC-22BE-4BF7-AE3C-367C06DCEB4D}" srcOrd="0" destOrd="0" presId="urn:microsoft.com/office/officeart/2005/8/layout/process1"/>
    <dgm:cxn modelId="{8E3506A8-080B-44B9-9D31-343EDFD9D757}" type="presOf" srcId="{C58B3827-FC5F-40F9-9C3E-C19FB588822A}" destId="{424D7852-5F02-470B-B89B-D4234FA9A035}" srcOrd="0" destOrd="0" presId="urn:microsoft.com/office/officeart/2005/8/layout/process1"/>
    <dgm:cxn modelId="{03EADCC3-1D4D-4054-AE25-32BF7A109BA8}" srcId="{AE29E332-E73B-40D6-B89A-979F671684E2}" destId="{C58B3827-FC5F-40F9-9C3E-C19FB588822A}" srcOrd="4" destOrd="0" parTransId="{610C64E4-7449-4E69-8DDA-312C18132B7D}" sibTransId="{C0BA38C9-FE7E-4D17-B423-FF6FD01F430F}"/>
    <dgm:cxn modelId="{785133CD-B0F9-427F-BFB9-9AFE47EF5FA1}" type="presOf" srcId="{C0BA38C9-FE7E-4D17-B423-FF6FD01F430F}" destId="{FD3E142F-25B9-4154-BE09-2450E7FEF92E}" srcOrd="0" destOrd="0" presId="urn:microsoft.com/office/officeart/2005/8/layout/process1"/>
    <dgm:cxn modelId="{BF72E5D4-086F-409E-BF93-D0C1C6487EF6}" type="presOf" srcId="{EDB569D5-4E0C-456D-9FD7-C74E22CF5392}" destId="{DCC5002B-77B5-48FF-8675-166724E0FDA8}" srcOrd="0" destOrd="0" presId="urn:microsoft.com/office/officeart/2005/8/layout/process1"/>
    <dgm:cxn modelId="{C1F778DD-958D-4DC2-9C41-9B5377834FD6}" type="presOf" srcId="{796870D1-D056-436A-9099-82879B4970DF}" destId="{83B618FD-2E34-478F-AF2C-12746F1E0DFC}" srcOrd="0" destOrd="0" presId="urn:microsoft.com/office/officeart/2005/8/layout/process1"/>
    <dgm:cxn modelId="{46C9C4F9-085A-48A1-A3BE-5C789BD08F74}" type="presOf" srcId="{D7CDFFE2-333D-47D8-95C8-B5D2CF0F5A35}" destId="{A8C6730C-AFBC-4B3A-B2FA-B80BB69C6340}" srcOrd="1" destOrd="0" presId="urn:microsoft.com/office/officeart/2005/8/layout/process1"/>
    <dgm:cxn modelId="{F4D377FB-92C9-481E-BE20-F403A0F5BF37}" type="presOf" srcId="{51986DB1-91E9-4B71-8ED0-96ADC66CF9D0}" destId="{B16833FF-09D8-4439-A328-F57CA23829D5}" srcOrd="0" destOrd="0" presId="urn:microsoft.com/office/officeart/2005/8/layout/process1"/>
    <dgm:cxn modelId="{1A8DAE44-BCD0-4953-AD47-45E6EFC0991B}" type="presParOf" srcId="{66B98CAC-22BE-4BF7-AE3C-367C06DCEB4D}" destId="{83B618FD-2E34-478F-AF2C-12746F1E0DFC}" srcOrd="0" destOrd="0" presId="urn:microsoft.com/office/officeart/2005/8/layout/process1"/>
    <dgm:cxn modelId="{EBE7ECB7-0654-4FD6-BA43-F6FC17966A5E}" type="presParOf" srcId="{66B98CAC-22BE-4BF7-AE3C-367C06DCEB4D}" destId="{7126EE22-A783-460B-9DD2-26977215EBDD}" srcOrd="1" destOrd="0" presId="urn:microsoft.com/office/officeart/2005/8/layout/process1"/>
    <dgm:cxn modelId="{31160397-FF70-4F86-91E0-727D3754D277}" type="presParOf" srcId="{7126EE22-A783-460B-9DD2-26977215EBDD}" destId="{C0534753-2FA0-4BA8-8F2E-8E0C3E665974}" srcOrd="0" destOrd="0" presId="urn:microsoft.com/office/officeart/2005/8/layout/process1"/>
    <dgm:cxn modelId="{081A9CB7-60FB-473E-B726-5134ED54441A}" type="presParOf" srcId="{66B98CAC-22BE-4BF7-AE3C-367C06DCEB4D}" destId="{2FA01B96-D611-4032-AFE4-EA13FCDD899B}" srcOrd="2" destOrd="0" presId="urn:microsoft.com/office/officeart/2005/8/layout/process1"/>
    <dgm:cxn modelId="{E004D235-A456-4F93-B08D-DC4430402B28}" type="presParOf" srcId="{66B98CAC-22BE-4BF7-AE3C-367C06DCEB4D}" destId="{076E557F-D209-49E0-993A-FA63BE76E959}" srcOrd="3" destOrd="0" presId="urn:microsoft.com/office/officeart/2005/8/layout/process1"/>
    <dgm:cxn modelId="{BD005270-6C58-4041-8144-2164BB9891DB}" type="presParOf" srcId="{076E557F-D209-49E0-993A-FA63BE76E959}" destId="{E1B56FFC-D9BF-4787-A36A-52ED69ACE76C}" srcOrd="0" destOrd="0" presId="urn:microsoft.com/office/officeart/2005/8/layout/process1"/>
    <dgm:cxn modelId="{D827724F-25E1-48BC-98B6-2EDA5B06E8B2}" type="presParOf" srcId="{66B98CAC-22BE-4BF7-AE3C-367C06DCEB4D}" destId="{B16833FF-09D8-4439-A328-F57CA23829D5}" srcOrd="4" destOrd="0" presId="urn:microsoft.com/office/officeart/2005/8/layout/process1"/>
    <dgm:cxn modelId="{ED3B7628-7ABA-4CD5-ADC4-A000A5AA9189}" type="presParOf" srcId="{66B98CAC-22BE-4BF7-AE3C-367C06DCEB4D}" destId="{7BD4327A-43C4-407E-9650-42201545A97F}" srcOrd="5" destOrd="0" presId="urn:microsoft.com/office/officeart/2005/8/layout/process1"/>
    <dgm:cxn modelId="{2721ED5C-6C38-4229-9FD0-A5073E921795}" type="presParOf" srcId="{7BD4327A-43C4-407E-9650-42201545A97F}" destId="{A8C6730C-AFBC-4B3A-B2FA-B80BB69C6340}" srcOrd="0" destOrd="0" presId="urn:microsoft.com/office/officeart/2005/8/layout/process1"/>
    <dgm:cxn modelId="{384EC424-D101-4924-9079-724461DBCBF8}" type="presParOf" srcId="{66B98CAC-22BE-4BF7-AE3C-367C06DCEB4D}" destId="{DCC5002B-77B5-48FF-8675-166724E0FDA8}" srcOrd="6" destOrd="0" presId="urn:microsoft.com/office/officeart/2005/8/layout/process1"/>
    <dgm:cxn modelId="{ED7FE5D4-44E1-47B6-B0DA-6B82DAD0D1A9}" type="presParOf" srcId="{66B98CAC-22BE-4BF7-AE3C-367C06DCEB4D}" destId="{294F7D6D-6A93-4973-878E-B9E0139A3B0A}" srcOrd="7" destOrd="0" presId="urn:microsoft.com/office/officeart/2005/8/layout/process1"/>
    <dgm:cxn modelId="{5F337E60-580B-405C-9270-398C761E993E}" type="presParOf" srcId="{294F7D6D-6A93-4973-878E-B9E0139A3B0A}" destId="{62B89DE0-4089-4541-B664-7DB79B63EAD6}" srcOrd="0" destOrd="0" presId="urn:microsoft.com/office/officeart/2005/8/layout/process1"/>
    <dgm:cxn modelId="{59B786B5-230E-45EF-923C-E6290D3AE68A}" type="presParOf" srcId="{66B98CAC-22BE-4BF7-AE3C-367C06DCEB4D}" destId="{424D7852-5F02-470B-B89B-D4234FA9A035}" srcOrd="8" destOrd="0" presId="urn:microsoft.com/office/officeart/2005/8/layout/process1"/>
    <dgm:cxn modelId="{80645460-15EA-4D7C-B59B-9E4D61155FA4}" type="presParOf" srcId="{66B98CAC-22BE-4BF7-AE3C-367C06DCEB4D}" destId="{FD3E142F-25B9-4154-BE09-2450E7FEF92E}" srcOrd="9" destOrd="0" presId="urn:microsoft.com/office/officeart/2005/8/layout/process1"/>
    <dgm:cxn modelId="{83D83D27-A8B1-41F6-A89C-5DDA9656CF8B}" type="presParOf" srcId="{FD3E142F-25B9-4154-BE09-2450E7FEF92E}" destId="{CD02207E-EDF4-4150-B79A-270B519B56A2}" srcOrd="0" destOrd="0" presId="urn:microsoft.com/office/officeart/2005/8/layout/process1"/>
    <dgm:cxn modelId="{1396EC28-997F-4F70-8AFE-3E9AF99A0FF7}" type="presParOf" srcId="{66B98CAC-22BE-4BF7-AE3C-367C06DCEB4D}" destId="{4AA53B28-37F8-46CA-99EA-F82FE19C689E}" srcOrd="1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618FD-2E34-478F-AF2C-12746F1E0DFC}">
      <dsp:nvSpPr>
        <dsp:cNvPr id="0" name=""/>
        <dsp:cNvSpPr/>
      </dsp:nvSpPr>
      <dsp:spPr>
        <a:xfrm>
          <a:off x="1145" y="124599"/>
          <a:ext cx="1431910" cy="1941823"/>
        </a:xfrm>
        <a:prstGeom prst="roundRect">
          <a:avLst>
            <a:gd name="adj" fmla="val 10000"/>
          </a:avLst>
        </a:prstGeom>
        <a:solidFill>
          <a:srgbClr val="482E91"/>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Module1:</a:t>
          </a:r>
        </a:p>
        <a:p>
          <a:pPr marL="0" lvl="0" indent="0" algn="ctr" defTabSz="711200" rtl="0">
            <a:lnSpc>
              <a:spcPct val="90000"/>
            </a:lnSpc>
            <a:spcBef>
              <a:spcPct val="0"/>
            </a:spcBef>
            <a:spcAft>
              <a:spcPct val="35000"/>
            </a:spcAft>
            <a:buNone/>
          </a:pPr>
          <a:r>
            <a:rPr lang="en-GB" sz="1400" kern="1200" dirty="0">
              <a:solidFill>
                <a:schemeClr val="bg1"/>
              </a:solidFill>
            </a:rPr>
            <a:t>Cyber Security Foundations and Compliance</a:t>
          </a:r>
          <a:r>
            <a:rPr lang="en-US" sz="1400" kern="1200" dirty="0">
              <a:solidFill>
                <a:schemeClr val="bg1"/>
              </a:solidFill>
            </a:rPr>
            <a:t> </a:t>
          </a:r>
        </a:p>
        <a:p>
          <a:pPr marL="0" lvl="0" indent="0" algn="ctr" defTabSz="711200" rtl="0">
            <a:lnSpc>
              <a:spcPct val="90000"/>
            </a:lnSpc>
            <a:spcBef>
              <a:spcPct val="0"/>
            </a:spcBef>
            <a:spcAft>
              <a:spcPct val="35000"/>
            </a:spcAft>
            <a:buNone/>
          </a:pPr>
          <a:r>
            <a:rPr lang="en-US" sz="1600" b="1" kern="1200" dirty="0">
              <a:solidFill>
                <a:schemeClr val="bg1"/>
              </a:solidFill>
            </a:rPr>
            <a:t>(3 months)</a:t>
          </a:r>
          <a:endParaRPr lang="en-GB" sz="1600" b="1" kern="1200" dirty="0">
            <a:solidFill>
              <a:schemeClr val="bg1"/>
            </a:solidFill>
          </a:endParaRPr>
        </a:p>
      </dsp:txBody>
      <dsp:txXfrm>
        <a:off x="43084" y="166538"/>
        <a:ext cx="1348032" cy="1857945"/>
      </dsp:txXfrm>
    </dsp:sp>
    <dsp:sp modelId="{7126EE22-A783-460B-9DD2-26977215EBDD}">
      <dsp:nvSpPr>
        <dsp:cNvPr id="0" name=""/>
        <dsp:cNvSpPr/>
      </dsp:nvSpPr>
      <dsp:spPr>
        <a:xfrm>
          <a:off x="1576246"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schemeClr val="tx1"/>
            </a:solidFill>
            <a:latin typeface="+mn-lt"/>
            <a:ea typeface="+mn-ea"/>
            <a:cs typeface="+mn-cs"/>
          </a:endParaRPr>
        </a:p>
      </dsp:txBody>
      <dsp:txXfrm>
        <a:off x="1576246" y="988977"/>
        <a:ext cx="212496" cy="213067"/>
      </dsp:txXfrm>
    </dsp:sp>
    <dsp:sp modelId="{2FA01B96-D611-4032-AFE4-EA13FCDD899B}">
      <dsp:nvSpPr>
        <dsp:cNvPr id="0" name=""/>
        <dsp:cNvSpPr/>
      </dsp:nvSpPr>
      <dsp:spPr>
        <a:xfrm>
          <a:off x="2005820" y="124599"/>
          <a:ext cx="1431910" cy="1941823"/>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Module 2:</a:t>
          </a:r>
          <a:r>
            <a:rPr lang="en-GB" sz="1600" kern="1200" dirty="0">
              <a:solidFill>
                <a:schemeClr val="bg1"/>
              </a:solidFill>
            </a:rPr>
            <a:t>Cyber Security Operations and Helpdesk</a:t>
          </a:r>
          <a:endParaRPr lang="en-US" sz="1600" kern="1200" dirty="0">
            <a:solidFill>
              <a:schemeClr val="bg1"/>
            </a:solidFill>
          </a:endParaRPr>
        </a:p>
        <a:p>
          <a:pPr marL="0" lvl="0" indent="0" algn="ctr" defTabSz="711200">
            <a:lnSpc>
              <a:spcPct val="90000"/>
            </a:lnSpc>
            <a:spcBef>
              <a:spcPct val="0"/>
            </a:spcBef>
            <a:spcAft>
              <a:spcPct val="35000"/>
            </a:spcAft>
            <a:buNone/>
          </a:pPr>
          <a:r>
            <a:rPr lang="en-US" sz="1600" b="1" kern="1200" dirty="0">
              <a:solidFill>
                <a:schemeClr val="bg1"/>
              </a:solidFill>
            </a:rPr>
            <a:t>(3 months)</a:t>
          </a:r>
          <a:endParaRPr lang="en-GB" sz="1600" kern="1200" dirty="0">
            <a:solidFill>
              <a:schemeClr val="bg1"/>
            </a:solidFill>
          </a:endParaRPr>
        </a:p>
      </dsp:txBody>
      <dsp:txXfrm>
        <a:off x="2047759" y="166538"/>
        <a:ext cx="1348032" cy="1857945"/>
      </dsp:txXfrm>
    </dsp:sp>
    <dsp:sp modelId="{076E557F-D209-49E0-993A-FA63BE76E959}">
      <dsp:nvSpPr>
        <dsp:cNvPr id="0" name=""/>
        <dsp:cNvSpPr/>
      </dsp:nvSpPr>
      <dsp:spPr>
        <a:xfrm>
          <a:off x="3580921"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schemeClr val="tx1"/>
            </a:solidFill>
            <a:latin typeface="+mn-lt"/>
            <a:ea typeface="+mn-ea"/>
            <a:cs typeface="+mn-cs"/>
          </a:endParaRPr>
        </a:p>
      </dsp:txBody>
      <dsp:txXfrm>
        <a:off x="3580921" y="988977"/>
        <a:ext cx="212496" cy="213067"/>
      </dsp:txXfrm>
    </dsp:sp>
    <dsp:sp modelId="{B16833FF-09D8-4439-A328-F57CA23829D5}">
      <dsp:nvSpPr>
        <dsp:cNvPr id="0" name=""/>
        <dsp:cNvSpPr/>
      </dsp:nvSpPr>
      <dsp:spPr>
        <a:xfrm>
          <a:off x="4010494" y="124599"/>
          <a:ext cx="1431910" cy="1941823"/>
        </a:xfrm>
        <a:prstGeom prst="roundRect">
          <a:avLst>
            <a:gd name="adj" fmla="val 10000"/>
          </a:avLst>
        </a:prstGeom>
        <a:solidFill>
          <a:srgbClr val="482E91"/>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Module 3: </a:t>
          </a:r>
          <a:r>
            <a:rPr lang="en-GB" sz="1600" kern="1200" dirty="0">
              <a:solidFill>
                <a:schemeClr val="bg1"/>
              </a:solidFill>
            </a:rPr>
            <a:t>Security Policy and Risk Management </a:t>
          </a:r>
          <a:r>
            <a:rPr lang="en-US" sz="1600" b="1" kern="1200" dirty="0">
              <a:solidFill>
                <a:schemeClr val="bg1"/>
              </a:solidFill>
            </a:rPr>
            <a:t>(</a:t>
          </a:r>
          <a:r>
            <a:rPr lang="en-US" sz="1600" b="1" kern="1200" dirty="0">
              <a:solidFill>
                <a:schemeClr val="bg1"/>
              </a:solidFill>
              <a:latin typeface="Aptos Display" panose="02110004020202020204"/>
            </a:rPr>
            <a:t>2</a:t>
          </a:r>
          <a:r>
            <a:rPr lang="en-US" sz="1600" b="1" kern="1200" dirty="0">
              <a:solidFill>
                <a:schemeClr val="bg1"/>
              </a:solidFill>
            </a:rPr>
            <a:t> months)</a:t>
          </a:r>
          <a:endParaRPr lang="en-GB" sz="1600" kern="1200" dirty="0">
            <a:solidFill>
              <a:schemeClr val="bg1"/>
            </a:solidFill>
          </a:endParaRPr>
        </a:p>
      </dsp:txBody>
      <dsp:txXfrm>
        <a:off x="4052433" y="166538"/>
        <a:ext cx="1348032" cy="1857945"/>
      </dsp:txXfrm>
    </dsp:sp>
    <dsp:sp modelId="{7BD4327A-43C4-407E-9650-42201545A97F}">
      <dsp:nvSpPr>
        <dsp:cNvPr id="0" name=""/>
        <dsp:cNvSpPr/>
      </dsp:nvSpPr>
      <dsp:spPr>
        <a:xfrm>
          <a:off x="5585596"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5585596" y="988977"/>
        <a:ext cx="212496" cy="213067"/>
      </dsp:txXfrm>
    </dsp:sp>
    <dsp:sp modelId="{DCC5002B-77B5-48FF-8675-166724E0FDA8}">
      <dsp:nvSpPr>
        <dsp:cNvPr id="0" name=""/>
        <dsp:cNvSpPr/>
      </dsp:nvSpPr>
      <dsp:spPr>
        <a:xfrm>
          <a:off x="6015169" y="124599"/>
          <a:ext cx="1599916" cy="1941823"/>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GB" sz="1600" kern="1200" dirty="0">
              <a:solidFill>
                <a:schemeClr val="bg1"/>
              </a:solidFill>
              <a:latin typeface="Aptos" panose="02110004020202020204"/>
              <a:ea typeface="+mn-ea"/>
              <a:cs typeface="+mn-cs"/>
            </a:rPr>
            <a:t>Module 4:</a:t>
          </a:r>
        </a:p>
        <a:p>
          <a:pPr marL="0" lvl="0" indent="0" algn="ctr" defTabSz="711200" rtl="0">
            <a:lnSpc>
              <a:spcPct val="90000"/>
            </a:lnSpc>
            <a:spcBef>
              <a:spcPct val="0"/>
            </a:spcBef>
            <a:spcAft>
              <a:spcPct val="35000"/>
            </a:spcAft>
            <a:buNone/>
          </a:pPr>
          <a:r>
            <a:rPr lang="en-GB" sz="1400" kern="1200" dirty="0">
              <a:solidFill>
                <a:schemeClr val="bg1"/>
              </a:solidFill>
              <a:latin typeface="Aptos" panose="02110004020202020204"/>
              <a:ea typeface="+mn-ea"/>
              <a:cs typeface="+mn-cs"/>
            </a:rPr>
            <a:t>Technical Security Controls and Asset Management </a:t>
          </a:r>
          <a:r>
            <a:rPr lang="en-GB" sz="1600" kern="1200" dirty="0">
              <a:solidFill>
                <a:schemeClr val="bg1"/>
              </a:solidFill>
              <a:latin typeface="Aptos Display" panose="02110004020202020204"/>
            </a:rPr>
            <a:t>Practices </a:t>
          </a:r>
          <a:br>
            <a:rPr lang="en-GB" sz="1600" kern="1200" dirty="0">
              <a:solidFill>
                <a:schemeClr val="bg1"/>
              </a:solidFill>
            </a:rPr>
          </a:br>
          <a:r>
            <a:rPr lang="en-GB" sz="1600" b="1" kern="1200" dirty="0">
              <a:solidFill>
                <a:schemeClr val="bg1"/>
              </a:solidFill>
              <a:latin typeface="Aptos" panose="02110004020202020204"/>
              <a:ea typeface="+mn-ea"/>
              <a:cs typeface="+mn-cs"/>
            </a:rPr>
            <a:t>(3months)</a:t>
          </a:r>
        </a:p>
      </dsp:txBody>
      <dsp:txXfrm>
        <a:off x="6062029" y="171459"/>
        <a:ext cx="1506196" cy="1848103"/>
      </dsp:txXfrm>
    </dsp:sp>
    <dsp:sp modelId="{294F7D6D-6A93-4973-878E-B9E0139A3B0A}">
      <dsp:nvSpPr>
        <dsp:cNvPr id="0" name=""/>
        <dsp:cNvSpPr/>
      </dsp:nvSpPr>
      <dsp:spPr>
        <a:xfrm>
          <a:off x="7758277"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7758277" y="988977"/>
        <a:ext cx="212496" cy="213067"/>
      </dsp:txXfrm>
    </dsp:sp>
    <dsp:sp modelId="{424D7852-5F02-470B-B89B-D4234FA9A035}">
      <dsp:nvSpPr>
        <dsp:cNvPr id="0" name=""/>
        <dsp:cNvSpPr/>
      </dsp:nvSpPr>
      <dsp:spPr>
        <a:xfrm>
          <a:off x="8187850" y="124599"/>
          <a:ext cx="1431910" cy="1941823"/>
        </a:xfrm>
        <a:prstGeom prst="roundRect">
          <a:avLst>
            <a:gd name="adj" fmla="val 10000"/>
          </a:avLst>
        </a:prstGeom>
        <a:solidFill>
          <a:srgbClr val="482E91"/>
        </a:solidFill>
        <a:ln w="19050" cap="flat" cmpd="sng" algn="ctr">
          <a:solidFill>
            <a:prstClr val="black">
              <a:shade val="80000"/>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ptos" panose="02110004020202020204"/>
              <a:ea typeface="+mn-ea"/>
              <a:cs typeface="+mn-cs"/>
            </a:rPr>
            <a:t>Module 5: </a:t>
          </a:r>
          <a:r>
            <a:rPr lang="en-GB" sz="1600" kern="1200" dirty="0">
              <a:solidFill>
                <a:schemeClr val="bg1"/>
              </a:solidFill>
              <a:latin typeface="Aptos" panose="02110004020202020204"/>
              <a:ea typeface="+mn-ea"/>
              <a:cs typeface="+mn-cs"/>
            </a:rPr>
            <a:t>Advanced Security Monitoring and Threat Management </a:t>
          </a:r>
          <a:r>
            <a:rPr lang="en-US" sz="1600" kern="1200" dirty="0">
              <a:solidFill>
                <a:schemeClr val="bg1"/>
              </a:solidFill>
              <a:latin typeface="Aptos" panose="02110004020202020204"/>
              <a:ea typeface="+mn-ea"/>
              <a:cs typeface="+mn-cs"/>
            </a:rPr>
            <a:t>(2 months)</a:t>
          </a:r>
          <a:endParaRPr lang="en-GB" sz="1600" kern="1200" dirty="0">
            <a:solidFill>
              <a:schemeClr val="bg1"/>
            </a:solidFill>
            <a:latin typeface="Aptos" panose="02110004020202020204"/>
            <a:ea typeface="+mn-ea"/>
            <a:cs typeface="+mn-cs"/>
          </a:endParaRPr>
        </a:p>
      </dsp:txBody>
      <dsp:txXfrm>
        <a:off x="8229789" y="166538"/>
        <a:ext cx="1348032" cy="1857945"/>
      </dsp:txXfrm>
    </dsp:sp>
    <dsp:sp modelId="{FD3E142F-25B9-4154-BE09-2450E7FEF92E}">
      <dsp:nvSpPr>
        <dsp:cNvPr id="0" name=""/>
        <dsp:cNvSpPr/>
      </dsp:nvSpPr>
      <dsp:spPr>
        <a:xfrm>
          <a:off x="9762952"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9762952" y="988977"/>
        <a:ext cx="212496" cy="213067"/>
      </dsp:txXfrm>
    </dsp:sp>
    <dsp:sp modelId="{4AA53B28-37F8-46CA-99EA-F82FE19C689E}">
      <dsp:nvSpPr>
        <dsp:cNvPr id="0" name=""/>
        <dsp:cNvSpPr/>
      </dsp:nvSpPr>
      <dsp:spPr>
        <a:xfrm>
          <a:off x="10192525" y="124599"/>
          <a:ext cx="1431910" cy="1941823"/>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chemeClr val="bg1"/>
              </a:solidFill>
            </a:rPr>
            <a:t>Module 6: Professional Development and Continuous Learning</a:t>
          </a:r>
        </a:p>
        <a:p>
          <a:pPr marL="0" lvl="0" indent="0" algn="ctr" defTabSz="711200">
            <a:lnSpc>
              <a:spcPct val="90000"/>
            </a:lnSpc>
            <a:spcBef>
              <a:spcPct val="0"/>
            </a:spcBef>
            <a:spcAft>
              <a:spcPct val="35000"/>
            </a:spcAft>
            <a:buNone/>
          </a:pPr>
          <a:r>
            <a:rPr lang="en-US" sz="1600" b="1" kern="1200" dirty="0">
              <a:solidFill>
                <a:schemeClr val="bg1"/>
              </a:solidFill>
            </a:rPr>
            <a:t>(1 month)</a:t>
          </a:r>
          <a:endParaRPr lang="en-GB" sz="1600" kern="1200" dirty="0">
            <a:solidFill>
              <a:schemeClr val="bg1"/>
            </a:solidFill>
          </a:endParaRPr>
        </a:p>
      </dsp:txBody>
      <dsp:txXfrm>
        <a:off x="10234464" y="166538"/>
        <a:ext cx="1348032" cy="18579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B618FD-2E34-478F-AF2C-12746F1E0DFC}">
      <dsp:nvSpPr>
        <dsp:cNvPr id="0" name=""/>
        <dsp:cNvSpPr/>
      </dsp:nvSpPr>
      <dsp:spPr>
        <a:xfrm>
          <a:off x="1145" y="243077"/>
          <a:ext cx="1431910" cy="1704868"/>
        </a:xfrm>
        <a:prstGeom prst="roundRect">
          <a:avLst>
            <a:gd name="adj" fmla="val 10000"/>
          </a:avLst>
        </a:prstGeom>
        <a:solidFill>
          <a:srgbClr val="482E91"/>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rPr>
            <a:t>Module1:</a:t>
          </a:r>
        </a:p>
        <a:p>
          <a:pPr marL="0" lvl="0" indent="0" algn="ctr" defTabSz="711200" rtl="0">
            <a:lnSpc>
              <a:spcPct val="90000"/>
            </a:lnSpc>
            <a:spcBef>
              <a:spcPct val="0"/>
            </a:spcBef>
            <a:spcAft>
              <a:spcPct val="35000"/>
            </a:spcAft>
            <a:buNone/>
          </a:pPr>
          <a:r>
            <a:rPr lang="en-GB" sz="1400" kern="1200" dirty="0">
              <a:solidFill>
                <a:schemeClr val="bg1"/>
              </a:solidFill>
            </a:rPr>
            <a:t>Introduction to Software Development and Stakeholder Engagement</a:t>
          </a:r>
          <a:endParaRPr lang="en-GB" sz="1600" b="1" kern="1200" dirty="0">
            <a:solidFill>
              <a:schemeClr val="bg1"/>
            </a:solidFill>
          </a:endParaRPr>
        </a:p>
      </dsp:txBody>
      <dsp:txXfrm>
        <a:off x="43084" y="285016"/>
        <a:ext cx="1348032" cy="1620990"/>
      </dsp:txXfrm>
    </dsp:sp>
    <dsp:sp modelId="{7126EE22-A783-460B-9DD2-26977215EBDD}">
      <dsp:nvSpPr>
        <dsp:cNvPr id="0" name=""/>
        <dsp:cNvSpPr/>
      </dsp:nvSpPr>
      <dsp:spPr>
        <a:xfrm>
          <a:off x="1576246"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schemeClr val="tx1"/>
            </a:solidFill>
            <a:latin typeface="+mn-lt"/>
            <a:ea typeface="+mn-ea"/>
            <a:cs typeface="+mn-cs"/>
          </a:endParaRPr>
        </a:p>
      </dsp:txBody>
      <dsp:txXfrm>
        <a:off x="1576246" y="988977"/>
        <a:ext cx="212496" cy="213067"/>
      </dsp:txXfrm>
    </dsp:sp>
    <dsp:sp modelId="{2FA01B96-D611-4032-AFE4-EA13FCDD899B}">
      <dsp:nvSpPr>
        <dsp:cNvPr id="0" name=""/>
        <dsp:cNvSpPr/>
      </dsp:nvSpPr>
      <dsp:spPr>
        <a:xfrm>
          <a:off x="2005820" y="243077"/>
          <a:ext cx="1431910" cy="1704868"/>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bg1"/>
              </a:solidFill>
            </a:rPr>
            <a:t>Module 2:</a:t>
          </a:r>
          <a:r>
            <a:rPr lang="en-GB" sz="1400" kern="1200" dirty="0">
              <a:solidFill>
                <a:schemeClr val="bg1"/>
              </a:solidFill>
            </a:rPr>
            <a:t>Algorithms and Programming Fundamentals</a:t>
          </a:r>
        </a:p>
      </dsp:txBody>
      <dsp:txXfrm>
        <a:off x="2047759" y="285016"/>
        <a:ext cx="1348032" cy="1620990"/>
      </dsp:txXfrm>
    </dsp:sp>
    <dsp:sp modelId="{076E557F-D209-49E0-993A-FA63BE76E959}">
      <dsp:nvSpPr>
        <dsp:cNvPr id="0" name=""/>
        <dsp:cNvSpPr/>
      </dsp:nvSpPr>
      <dsp:spPr>
        <a:xfrm>
          <a:off x="3580921"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schemeClr val="tx1"/>
            </a:solidFill>
            <a:latin typeface="+mn-lt"/>
            <a:ea typeface="+mn-ea"/>
            <a:cs typeface="+mn-cs"/>
          </a:endParaRPr>
        </a:p>
      </dsp:txBody>
      <dsp:txXfrm>
        <a:off x="3580921" y="988977"/>
        <a:ext cx="212496" cy="213067"/>
      </dsp:txXfrm>
    </dsp:sp>
    <dsp:sp modelId="{B16833FF-09D8-4439-A328-F57CA23829D5}">
      <dsp:nvSpPr>
        <dsp:cNvPr id="0" name=""/>
        <dsp:cNvSpPr/>
      </dsp:nvSpPr>
      <dsp:spPr>
        <a:xfrm>
          <a:off x="4010494" y="243077"/>
          <a:ext cx="1431910" cy="1704868"/>
        </a:xfrm>
        <a:prstGeom prst="roundRect">
          <a:avLst>
            <a:gd name="adj" fmla="val 10000"/>
          </a:avLst>
        </a:prstGeom>
        <a:solidFill>
          <a:srgbClr val="482E91"/>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rtl="0">
            <a:lnSpc>
              <a:spcPct val="90000"/>
            </a:lnSpc>
            <a:spcBef>
              <a:spcPct val="0"/>
            </a:spcBef>
            <a:spcAft>
              <a:spcPct val="35000"/>
            </a:spcAft>
            <a:buNone/>
          </a:pPr>
          <a:r>
            <a:rPr lang="en-US" sz="1400" kern="1200" dirty="0">
              <a:solidFill>
                <a:schemeClr val="bg1"/>
              </a:solidFill>
            </a:rPr>
            <a:t>Module 3: </a:t>
          </a:r>
          <a:r>
            <a:rPr lang="en-GB" sz="1400" kern="1200" dirty="0">
              <a:solidFill>
                <a:schemeClr val="bg1"/>
              </a:solidFill>
            </a:rPr>
            <a:t>Documentation and Project Management</a:t>
          </a:r>
        </a:p>
      </dsp:txBody>
      <dsp:txXfrm>
        <a:off x="4052433" y="285016"/>
        <a:ext cx="1348032" cy="1620990"/>
      </dsp:txXfrm>
    </dsp:sp>
    <dsp:sp modelId="{7BD4327A-43C4-407E-9650-42201545A97F}">
      <dsp:nvSpPr>
        <dsp:cNvPr id="0" name=""/>
        <dsp:cNvSpPr/>
      </dsp:nvSpPr>
      <dsp:spPr>
        <a:xfrm>
          <a:off x="5585596"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5585596" y="988977"/>
        <a:ext cx="212496" cy="213067"/>
      </dsp:txXfrm>
    </dsp:sp>
    <dsp:sp modelId="{DCC5002B-77B5-48FF-8675-166724E0FDA8}">
      <dsp:nvSpPr>
        <dsp:cNvPr id="0" name=""/>
        <dsp:cNvSpPr/>
      </dsp:nvSpPr>
      <dsp:spPr>
        <a:xfrm>
          <a:off x="6015169" y="243077"/>
          <a:ext cx="1599916" cy="1704868"/>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GB" sz="1600" kern="1200" dirty="0">
              <a:solidFill>
                <a:schemeClr val="bg1"/>
              </a:solidFill>
              <a:latin typeface="Aptos" panose="02110004020202020204"/>
              <a:ea typeface="+mn-ea"/>
              <a:cs typeface="+mn-cs"/>
            </a:rPr>
            <a:t>Module 4:</a:t>
          </a:r>
        </a:p>
        <a:p>
          <a:pPr marL="0" lvl="0" indent="0" algn="ctr" defTabSz="711200" rtl="0">
            <a:lnSpc>
              <a:spcPct val="90000"/>
            </a:lnSpc>
            <a:spcBef>
              <a:spcPct val="0"/>
            </a:spcBef>
            <a:spcAft>
              <a:spcPct val="35000"/>
            </a:spcAft>
            <a:buNone/>
          </a:pPr>
          <a:r>
            <a:rPr lang="en-GB" sz="1400" kern="1200" dirty="0">
              <a:solidFill>
                <a:schemeClr val="bg1"/>
              </a:solidFill>
              <a:latin typeface="Aptos" panose="02110004020202020204"/>
              <a:ea typeface="+mn-ea"/>
              <a:cs typeface="+mn-cs"/>
            </a:rPr>
            <a:t>Secure Development Practices</a:t>
          </a:r>
          <a:endParaRPr lang="en-GB" sz="1600" b="1" kern="1200" dirty="0">
            <a:solidFill>
              <a:schemeClr val="bg1"/>
            </a:solidFill>
            <a:latin typeface="Aptos" panose="02110004020202020204"/>
            <a:ea typeface="+mn-ea"/>
            <a:cs typeface="+mn-cs"/>
          </a:endParaRPr>
        </a:p>
      </dsp:txBody>
      <dsp:txXfrm>
        <a:off x="6062029" y="289937"/>
        <a:ext cx="1506196" cy="1611148"/>
      </dsp:txXfrm>
    </dsp:sp>
    <dsp:sp modelId="{294F7D6D-6A93-4973-878E-B9E0139A3B0A}">
      <dsp:nvSpPr>
        <dsp:cNvPr id="0" name=""/>
        <dsp:cNvSpPr/>
      </dsp:nvSpPr>
      <dsp:spPr>
        <a:xfrm>
          <a:off x="7758277"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7758277" y="988977"/>
        <a:ext cx="212496" cy="213067"/>
      </dsp:txXfrm>
    </dsp:sp>
    <dsp:sp modelId="{424D7852-5F02-470B-B89B-D4234FA9A035}">
      <dsp:nvSpPr>
        <dsp:cNvPr id="0" name=""/>
        <dsp:cNvSpPr/>
      </dsp:nvSpPr>
      <dsp:spPr>
        <a:xfrm>
          <a:off x="8187850" y="243077"/>
          <a:ext cx="1431910" cy="1704868"/>
        </a:xfrm>
        <a:prstGeom prst="roundRect">
          <a:avLst>
            <a:gd name="adj" fmla="val 10000"/>
          </a:avLst>
        </a:prstGeom>
        <a:solidFill>
          <a:srgbClr val="482E91"/>
        </a:solidFill>
        <a:ln w="19050" cap="flat" cmpd="sng" algn="ctr">
          <a:solidFill>
            <a:prstClr val="black">
              <a:shade val="80000"/>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rtl="0">
            <a:lnSpc>
              <a:spcPct val="90000"/>
            </a:lnSpc>
            <a:spcBef>
              <a:spcPct val="0"/>
            </a:spcBef>
            <a:spcAft>
              <a:spcPct val="35000"/>
            </a:spcAft>
            <a:buNone/>
          </a:pPr>
          <a:r>
            <a:rPr lang="en-US" sz="1600" kern="1200" dirty="0">
              <a:solidFill>
                <a:schemeClr val="bg1"/>
              </a:solidFill>
              <a:latin typeface="Aptos" panose="02110004020202020204"/>
              <a:ea typeface="+mn-ea"/>
              <a:cs typeface="+mn-cs"/>
            </a:rPr>
            <a:t>Module 5: </a:t>
          </a:r>
          <a:r>
            <a:rPr lang="en-GB" sz="1600" kern="1200" dirty="0">
              <a:solidFill>
                <a:schemeClr val="bg1"/>
              </a:solidFill>
              <a:latin typeface="Aptos" panose="02110004020202020204"/>
              <a:ea typeface="+mn-ea"/>
              <a:cs typeface="+mn-cs"/>
            </a:rPr>
            <a:t>Software Testing and Quality Assurance</a:t>
          </a:r>
        </a:p>
      </dsp:txBody>
      <dsp:txXfrm>
        <a:off x="8229789" y="285016"/>
        <a:ext cx="1348032" cy="1620990"/>
      </dsp:txXfrm>
    </dsp:sp>
    <dsp:sp modelId="{FD3E142F-25B9-4154-BE09-2450E7FEF92E}">
      <dsp:nvSpPr>
        <dsp:cNvPr id="0" name=""/>
        <dsp:cNvSpPr/>
      </dsp:nvSpPr>
      <dsp:spPr>
        <a:xfrm>
          <a:off x="9762952" y="917954"/>
          <a:ext cx="303565" cy="355113"/>
        </a:xfrm>
        <a:prstGeom prst="rightArrow">
          <a:avLst>
            <a:gd name="adj1" fmla="val 60000"/>
            <a:gd name="adj2" fmla="val 50000"/>
          </a:avLst>
        </a:prstGeom>
        <a:solidFill>
          <a:srgbClr val="482E91"/>
        </a:solidFill>
        <a:ln>
          <a:solidFill>
            <a:srgbClr val="482E91"/>
          </a:solid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l" defTabSz="914400" rtl="0" eaLnBrk="1" latinLnBrk="0" hangingPunct="1">
            <a:lnSpc>
              <a:spcPct val="90000"/>
            </a:lnSpc>
            <a:spcBef>
              <a:spcPct val="0"/>
            </a:spcBef>
            <a:spcAft>
              <a:spcPct val="35000"/>
            </a:spcAft>
            <a:buNone/>
          </a:pPr>
          <a:endParaRPr lang="en-GB" sz="1800" kern="1200">
            <a:solidFill>
              <a:prstClr val="black"/>
            </a:solidFill>
            <a:latin typeface="Aptos" panose="02110004020202020204"/>
            <a:ea typeface="+mn-ea"/>
            <a:cs typeface="+mn-cs"/>
          </a:endParaRPr>
        </a:p>
      </dsp:txBody>
      <dsp:txXfrm>
        <a:off x="9762952" y="988977"/>
        <a:ext cx="212496" cy="213067"/>
      </dsp:txXfrm>
    </dsp:sp>
    <dsp:sp modelId="{4AA53B28-37F8-46CA-99EA-F82FE19C689E}">
      <dsp:nvSpPr>
        <dsp:cNvPr id="0" name=""/>
        <dsp:cNvSpPr/>
      </dsp:nvSpPr>
      <dsp:spPr>
        <a:xfrm>
          <a:off x="10192525" y="243077"/>
          <a:ext cx="1431910" cy="1704868"/>
        </a:xfrm>
        <a:prstGeom prst="roundRect">
          <a:avLst>
            <a:gd name="adj" fmla="val 10000"/>
          </a:avLst>
        </a:prstGeom>
        <a:solidFill>
          <a:srgbClr val="909EE6"/>
        </a:solidFill>
        <a:ln w="1905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rPr>
            <a:t>Module 6: </a:t>
          </a:r>
          <a:r>
            <a:rPr lang="en-GB" sz="1400" kern="1200" dirty="0">
              <a:solidFill>
                <a:schemeClr val="bg1"/>
              </a:solidFill>
            </a:rPr>
            <a:t>Professional Development and Continuous Learning</a:t>
          </a:r>
        </a:p>
      </dsp:txBody>
      <dsp:txXfrm>
        <a:off x="10234464" y="285016"/>
        <a:ext cx="1348032" cy="1620990"/>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9DD9-7BB6-5C66-EBFF-7E49E2D89F6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B113198-F76C-C819-FEC8-35DB14ED950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643FFBA7-A423-1547-3736-DF27521E9DB3}"/>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6BEEB37C-F30A-3CF0-2AE4-E1D6FAD2BBD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3637EE3-1507-F79D-233D-6D1187555AA6}"/>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8622134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7A49F-757F-4796-5B96-784DB878582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40324BF-3443-85D2-5C2F-E5EF14928D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6B7B8858-1045-DF26-2B6C-518090367BCC}"/>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F2B41E80-7E9B-3F9A-F4D6-DFBE68F44A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7294CAC-ED91-7BA0-F9EA-B780B16FE3B4}"/>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37795216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3D831-A784-C0C0-ED75-C5C43A684B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1B59C9F2-A31E-E0FE-444D-3648DF02240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245C061-F2AD-A471-84C9-A3B3F7459712}"/>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BD092175-949F-0C9C-6FB6-59AC0B8B151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151BFA5-D96E-46AB-1302-A7FF94D41C15}"/>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8119661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B1A9C2-4CC7-DBDA-4086-321E5A19FDA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CB54687-F2D2-30E3-82D8-0BD3AFF1E8C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45CB6909-4D84-89EB-BCF0-B6531407DC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B47A3D0-0989-12BF-81EB-FC21DCAAF3B5}"/>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6" name="Footer Placeholder 5">
            <a:extLst>
              <a:ext uri="{FF2B5EF4-FFF2-40B4-BE49-F238E27FC236}">
                <a16:creationId xmlns:a16="http://schemas.microsoft.com/office/drawing/2014/main" id="{471381B4-2D51-B8DA-B368-A6468BC14F3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FF1A239-3EAD-B1FA-555D-6770072F48CE}"/>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42912216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7CFB5-5A74-C5D9-1053-8ACA6A2A4B3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A66ABE4-4F55-F7EA-BF03-9FA40129DA6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D01E3-F321-12D6-21A3-A6C6F578E4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C0E68F35-11E2-B3BA-BECD-82456943F48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514AE22-CE55-68F4-3B82-9DC02339788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3F00710-92EF-0229-EC9E-316E9AEE28C2}"/>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8" name="Footer Placeholder 7">
            <a:extLst>
              <a:ext uri="{FF2B5EF4-FFF2-40B4-BE49-F238E27FC236}">
                <a16:creationId xmlns:a16="http://schemas.microsoft.com/office/drawing/2014/main" id="{9F811502-3EB8-E088-F802-9ABA2708B81E}"/>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92772C6-A7A6-DD30-3F32-573C1F419BAB}"/>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9731657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380D6-EF03-2F7A-DC12-BE6A7D20FC86}"/>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F9C3359-BFA0-5BFB-455B-2E4DA801D0B3}"/>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4" name="Footer Placeholder 3">
            <a:extLst>
              <a:ext uri="{FF2B5EF4-FFF2-40B4-BE49-F238E27FC236}">
                <a16:creationId xmlns:a16="http://schemas.microsoft.com/office/drawing/2014/main" id="{4C3D7225-4A1A-685C-D73A-5D8300DE0724}"/>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1EE612B7-D510-7BBB-E868-47EB7935C029}"/>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2019771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AD265A6-6257-0380-4E15-4617929AAF4D}"/>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3" name="Footer Placeholder 2">
            <a:extLst>
              <a:ext uri="{FF2B5EF4-FFF2-40B4-BE49-F238E27FC236}">
                <a16:creationId xmlns:a16="http://schemas.microsoft.com/office/drawing/2014/main" id="{92C3DFA2-BD46-2E2D-FC88-92F9288B794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89EEFB3-2A3F-DD2E-9380-32FEBF156EAA}"/>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4186355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528B4-5892-5B89-2036-5B42D0EB7B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AEE450F8-546D-8228-DC6F-0C8FD3461C2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FE16E72-6A01-92EC-CA1D-65EADF2C816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9237A40-A407-46D9-B853-926DF87A8524}"/>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6" name="Footer Placeholder 5">
            <a:extLst>
              <a:ext uri="{FF2B5EF4-FFF2-40B4-BE49-F238E27FC236}">
                <a16:creationId xmlns:a16="http://schemas.microsoft.com/office/drawing/2014/main" id="{3E27EFDA-6BA4-C3B2-6464-7927A956F9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E198E38-1094-791B-1978-E2E292A74BE6}"/>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31689188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E5BF2-154B-FA9D-4A98-03F71451EB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AA57B6F6-EF54-76FB-E965-B892E865464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966639AE-F223-2B1F-BFAE-CD67021219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E0EF08-A4E5-92B8-B281-82A6BC7F41CE}"/>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6" name="Footer Placeholder 5">
            <a:extLst>
              <a:ext uri="{FF2B5EF4-FFF2-40B4-BE49-F238E27FC236}">
                <a16:creationId xmlns:a16="http://schemas.microsoft.com/office/drawing/2014/main" id="{FC1DECB5-93A6-40DE-C8EE-3B538B2FC1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82F07B7-5A64-1276-2201-DA52C3C59389}"/>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996547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28788-F92B-D2D0-DC6B-71E3FDA714D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B011899F-3E5F-A7E5-913B-5BE4344E1B4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0C33712-7327-C062-9DF4-86DDE56F1AE4}"/>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0C008C66-76E8-A58F-BA0E-A5A060AF878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2C159E-20FE-9C6E-C82A-AF152732166B}"/>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32894206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521730-8BAD-A6B7-1E25-FDE49B7A28A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2CCEBFD-8AFD-68DF-57EE-87322F0BC4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AF1A3B6E-DB46-86FD-D150-2DDE73207446}"/>
              </a:ext>
            </a:extLst>
          </p:cNvPr>
          <p:cNvSpPr>
            <a:spLocks noGrp="1"/>
          </p:cNvSpPr>
          <p:nvPr>
            <p:ph type="dt" sz="half" idx="10"/>
          </p:nvPr>
        </p:nvSpPr>
        <p:spPr/>
        <p:txBody>
          <a:body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8EBFF859-51F9-A201-BA79-267430070D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D948F6-EAFA-2955-F79C-DFDD9ECFAD30}"/>
              </a:ext>
            </a:extLst>
          </p:cNvPr>
          <p:cNvSpPr>
            <a:spLocks noGrp="1"/>
          </p:cNvSpPr>
          <p:nvPr>
            <p:ph type="sldNum" sz="quarter" idx="12"/>
          </p:nvPr>
        </p:nvSpPr>
        <p:spPr/>
        <p:txBody>
          <a:bodyPr/>
          <a:lstStyle/>
          <a:p>
            <a:fld id="{500B6E81-78CB-4A42-BEF2-54B689642E53}" type="slidenum">
              <a:rPr lang="en-GB" smtClean="0"/>
              <a:t>‹#›</a:t>
            </a:fld>
            <a:endParaRPr lang="en-GB"/>
          </a:p>
        </p:txBody>
      </p:sp>
    </p:spTree>
    <p:extLst>
      <p:ext uri="{BB962C8B-B14F-4D97-AF65-F5344CB8AC3E}">
        <p14:creationId xmlns:p14="http://schemas.microsoft.com/office/powerpoint/2010/main" val="41062524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420283"/>
            <a:ext cx="5181600" cy="980017"/>
          </a:xfrm>
        </p:spPr>
        <p:txBody>
          <a:bodyPr/>
          <a:lstStyle/>
          <a:p>
            <a:r>
              <a:rPr lang="en-US"/>
              <a:t>Click to edit Master title style</a:t>
            </a:r>
          </a:p>
        </p:txBody>
      </p:sp>
      <p:sp>
        <p:nvSpPr>
          <p:cNvPr id="3" name="Subtitle 2"/>
          <p:cNvSpPr>
            <a:spLocks noGrp="1"/>
          </p:cNvSpPr>
          <p:nvPr>
            <p:ph type="subTitle" idx="1"/>
          </p:nvPr>
        </p:nvSpPr>
        <p:spPr>
          <a:xfrm>
            <a:off x="914400" y="2590800"/>
            <a:ext cx="4267200" cy="1168400"/>
          </a:xfrm>
        </p:spPr>
        <p:txBody>
          <a:bodyPr/>
          <a:lstStyle>
            <a:lvl1pPr marL="0" indent="0" algn="ctr">
              <a:buNone/>
              <a:defRPr>
                <a:solidFill>
                  <a:schemeClr val="tx1">
                    <a:tint val="75000"/>
                  </a:schemeClr>
                </a:solidFill>
              </a:defRPr>
            </a:lvl1pPr>
            <a:lvl2pPr marL="304815" indent="0" algn="ctr">
              <a:buNone/>
              <a:defRPr>
                <a:solidFill>
                  <a:schemeClr val="tx1">
                    <a:tint val="75000"/>
                  </a:schemeClr>
                </a:solidFill>
              </a:defRPr>
            </a:lvl2pPr>
            <a:lvl3pPr marL="609630" indent="0" algn="ctr">
              <a:buNone/>
              <a:defRPr>
                <a:solidFill>
                  <a:schemeClr val="tx1">
                    <a:tint val="75000"/>
                  </a:schemeClr>
                </a:solidFill>
              </a:defRPr>
            </a:lvl3pPr>
            <a:lvl4pPr marL="914446" indent="0" algn="ctr">
              <a:buNone/>
              <a:defRPr>
                <a:solidFill>
                  <a:schemeClr val="tx1">
                    <a:tint val="75000"/>
                  </a:schemeClr>
                </a:solidFill>
              </a:defRPr>
            </a:lvl4pPr>
            <a:lvl5pPr marL="1219261" indent="0" algn="ctr">
              <a:buNone/>
              <a:defRPr>
                <a:solidFill>
                  <a:schemeClr val="tx1">
                    <a:tint val="75000"/>
                  </a:schemeClr>
                </a:solidFill>
              </a:defRPr>
            </a:lvl5pPr>
            <a:lvl6pPr marL="1524076" indent="0" algn="ctr">
              <a:buNone/>
              <a:defRPr>
                <a:solidFill>
                  <a:schemeClr val="tx1">
                    <a:tint val="75000"/>
                  </a:schemeClr>
                </a:solidFill>
              </a:defRPr>
            </a:lvl6pPr>
            <a:lvl7pPr marL="1828891" indent="0" algn="ctr">
              <a:buNone/>
              <a:defRPr>
                <a:solidFill>
                  <a:schemeClr val="tx1">
                    <a:tint val="75000"/>
                  </a:schemeClr>
                </a:solidFill>
              </a:defRPr>
            </a:lvl7pPr>
            <a:lvl8pPr marL="2133707" indent="0" algn="ctr">
              <a:buNone/>
              <a:defRPr>
                <a:solidFill>
                  <a:schemeClr val="tx1">
                    <a:tint val="75000"/>
                  </a:schemeClr>
                </a:solidFill>
              </a:defRPr>
            </a:lvl8pPr>
            <a:lvl9pPr marL="2438522"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0051457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844749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81542" y="2937934"/>
            <a:ext cx="5181600" cy="908050"/>
          </a:xfrm>
        </p:spPr>
        <p:txBody>
          <a:bodyPr anchor="t"/>
          <a:lstStyle>
            <a:lvl1pPr algn="l">
              <a:defRPr sz="2667" b="1" cap="all"/>
            </a:lvl1pPr>
          </a:lstStyle>
          <a:p>
            <a:r>
              <a:rPr lang="en-US"/>
              <a:t>Click to edit Master title style</a:t>
            </a:r>
          </a:p>
        </p:txBody>
      </p:sp>
      <p:sp>
        <p:nvSpPr>
          <p:cNvPr id="3" name="Text Placeholder 2"/>
          <p:cNvSpPr>
            <a:spLocks noGrp="1"/>
          </p:cNvSpPr>
          <p:nvPr>
            <p:ph type="body" idx="1"/>
          </p:nvPr>
        </p:nvSpPr>
        <p:spPr>
          <a:xfrm>
            <a:off x="481542" y="1937809"/>
            <a:ext cx="5181600" cy="1000125"/>
          </a:xfrm>
        </p:spPr>
        <p:txBody>
          <a:bodyPr anchor="b"/>
          <a:lstStyle>
            <a:lvl1pPr marL="0" indent="0">
              <a:buNone/>
              <a:defRPr sz="1333">
                <a:solidFill>
                  <a:schemeClr val="tx1">
                    <a:tint val="75000"/>
                  </a:schemeClr>
                </a:solidFill>
              </a:defRPr>
            </a:lvl1pPr>
            <a:lvl2pPr marL="304815" indent="0">
              <a:buNone/>
              <a:defRPr sz="1200">
                <a:solidFill>
                  <a:schemeClr val="tx1">
                    <a:tint val="75000"/>
                  </a:schemeClr>
                </a:solidFill>
              </a:defRPr>
            </a:lvl2pPr>
            <a:lvl3pPr marL="609630" indent="0">
              <a:buNone/>
              <a:defRPr sz="1067">
                <a:solidFill>
                  <a:schemeClr val="tx1">
                    <a:tint val="75000"/>
                  </a:schemeClr>
                </a:solidFill>
              </a:defRPr>
            </a:lvl3pPr>
            <a:lvl4pPr marL="914446" indent="0">
              <a:buNone/>
              <a:defRPr sz="933">
                <a:solidFill>
                  <a:schemeClr val="tx1">
                    <a:tint val="75000"/>
                  </a:schemeClr>
                </a:solidFill>
              </a:defRPr>
            </a:lvl4pPr>
            <a:lvl5pPr marL="1219261" indent="0">
              <a:buNone/>
              <a:defRPr sz="933">
                <a:solidFill>
                  <a:schemeClr val="tx1">
                    <a:tint val="75000"/>
                  </a:schemeClr>
                </a:solidFill>
              </a:defRPr>
            </a:lvl5pPr>
            <a:lvl6pPr marL="1524076" indent="0">
              <a:buNone/>
              <a:defRPr sz="933">
                <a:solidFill>
                  <a:schemeClr val="tx1">
                    <a:tint val="75000"/>
                  </a:schemeClr>
                </a:solidFill>
              </a:defRPr>
            </a:lvl6pPr>
            <a:lvl7pPr marL="1828891" indent="0">
              <a:buNone/>
              <a:defRPr sz="933">
                <a:solidFill>
                  <a:schemeClr val="tx1">
                    <a:tint val="75000"/>
                  </a:schemeClr>
                </a:solidFill>
              </a:defRPr>
            </a:lvl7pPr>
            <a:lvl8pPr marL="2133707" indent="0">
              <a:buNone/>
              <a:defRPr sz="933">
                <a:solidFill>
                  <a:schemeClr val="tx1">
                    <a:tint val="75000"/>
                  </a:schemeClr>
                </a:solidFill>
              </a:defRPr>
            </a:lvl8pPr>
            <a:lvl9pPr marL="2438522" indent="0">
              <a:buNone/>
              <a:defRPr sz="933">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485157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04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098800" y="1066800"/>
            <a:ext cx="2692400" cy="3017309"/>
          </a:xfrm>
        </p:spPr>
        <p:txBody>
          <a:bodyPr/>
          <a:lstStyle>
            <a:lvl1pPr>
              <a:defRPr sz="1867"/>
            </a:lvl1pPr>
            <a:lvl2pPr>
              <a:defRPr sz="1600"/>
            </a:lvl2pPr>
            <a:lvl3pPr>
              <a:defRPr sz="1333"/>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3660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04800" y="1023409"/>
            <a:ext cx="2693459"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4" name="Content Placeholder 3"/>
          <p:cNvSpPr>
            <a:spLocks noGrp="1"/>
          </p:cNvSpPr>
          <p:nvPr>
            <p:ph sz="half" idx="2"/>
          </p:nvPr>
        </p:nvSpPr>
        <p:spPr>
          <a:xfrm>
            <a:off x="304800" y="1449917"/>
            <a:ext cx="2693459"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096684" y="1023409"/>
            <a:ext cx="2694517" cy="426508"/>
          </a:xfrm>
        </p:spPr>
        <p:txBody>
          <a:bodyPr anchor="b"/>
          <a:lstStyle>
            <a:lvl1pPr marL="0" indent="0">
              <a:buNone/>
              <a:defRPr sz="1600" b="1"/>
            </a:lvl1pPr>
            <a:lvl2pPr marL="304815" indent="0">
              <a:buNone/>
              <a:defRPr sz="1333" b="1"/>
            </a:lvl2pPr>
            <a:lvl3pPr marL="609630" indent="0">
              <a:buNone/>
              <a:defRPr sz="1200" b="1"/>
            </a:lvl3pPr>
            <a:lvl4pPr marL="914446" indent="0">
              <a:buNone/>
              <a:defRPr sz="1067" b="1"/>
            </a:lvl4pPr>
            <a:lvl5pPr marL="1219261" indent="0">
              <a:buNone/>
              <a:defRPr sz="1067" b="1"/>
            </a:lvl5pPr>
            <a:lvl6pPr marL="1524076" indent="0">
              <a:buNone/>
              <a:defRPr sz="1067" b="1"/>
            </a:lvl6pPr>
            <a:lvl7pPr marL="1828891" indent="0">
              <a:buNone/>
              <a:defRPr sz="1067" b="1"/>
            </a:lvl7pPr>
            <a:lvl8pPr marL="2133707" indent="0">
              <a:buNone/>
              <a:defRPr sz="1067" b="1"/>
            </a:lvl8pPr>
            <a:lvl9pPr marL="2438522" indent="0">
              <a:buNone/>
              <a:defRPr sz="1067" b="1"/>
            </a:lvl9pPr>
          </a:lstStyle>
          <a:p>
            <a:pPr lvl="0"/>
            <a:r>
              <a:rPr lang="en-US"/>
              <a:t>Click to edit Master text styles</a:t>
            </a:r>
          </a:p>
        </p:txBody>
      </p:sp>
      <p:sp>
        <p:nvSpPr>
          <p:cNvPr id="6" name="Content Placeholder 5"/>
          <p:cNvSpPr>
            <a:spLocks noGrp="1"/>
          </p:cNvSpPr>
          <p:nvPr>
            <p:ph sz="quarter" idx="4"/>
          </p:nvPr>
        </p:nvSpPr>
        <p:spPr>
          <a:xfrm>
            <a:off x="3096684" y="1449917"/>
            <a:ext cx="2694517" cy="2634192"/>
          </a:xfrm>
        </p:spPr>
        <p:txBody>
          <a:bodyPr/>
          <a:lstStyle>
            <a:lvl1pPr>
              <a:defRPr sz="1600"/>
            </a:lvl1pPr>
            <a:lvl2pPr>
              <a:defRPr sz="1333"/>
            </a:lvl2pPr>
            <a:lvl3pPr>
              <a:defRPr sz="1200"/>
            </a:lvl3pPr>
            <a:lvl4pPr>
              <a:defRPr sz="1067"/>
            </a:lvl4pPr>
            <a:lvl5pPr>
              <a:defRPr sz="1067"/>
            </a:lvl5pPr>
            <a:lvl6pPr>
              <a:defRPr sz="1067"/>
            </a:lvl6pPr>
            <a:lvl7pPr>
              <a:defRPr sz="1067"/>
            </a:lvl7pPr>
            <a:lvl8pPr>
              <a:defRPr sz="1067"/>
            </a:lvl8pPr>
            <a:lvl9pPr>
              <a:defRPr sz="1067"/>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830749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850142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45351530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0" y="182033"/>
            <a:ext cx="2005542" cy="774700"/>
          </a:xfrm>
        </p:spPr>
        <p:txBody>
          <a:bodyPr anchor="b"/>
          <a:lstStyle>
            <a:lvl1pPr algn="l">
              <a:defRPr sz="1333" b="1"/>
            </a:lvl1pPr>
          </a:lstStyle>
          <a:p>
            <a:r>
              <a:rPr lang="en-US"/>
              <a:t>Click to edit Master title style</a:t>
            </a:r>
          </a:p>
        </p:txBody>
      </p:sp>
      <p:sp>
        <p:nvSpPr>
          <p:cNvPr id="3" name="Content Placeholder 2"/>
          <p:cNvSpPr>
            <a:spLocks noGrp="1"/>
          </p:cNvSpPr>
          <p:nvPr>
            <p:ph idx="1"/>
          </p:nvPr>
        </p:nvSpPr>
        <p:spPr>
          <a:xfrm>
            <a:off x="2383367" y="182034"/>
            <a:ext cx="3407833" cy="3902075"/>
          </a:xfrm>
        </p:spPr>
        <p:txBody>
          <a:bodyPr/>
          <a:lstStyle>
            <a:lvl1pPr>
              <a:defRPr sz="2133"/>
            </a:lvl1pPr>
            <a:lvl2pPr>
              <a:defRPr sz="1867"/>
            </a:lvl2pPr>
            <a:lvl3pPr>
              <a:defRPr sz="16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04800" y="956734"/>
            <a:ext cx="2005542" cy="31273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00035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94859" y="3200400"/>
            <a:ext cx="3657600" cy="377825"/>
          </a:xfrm>
        </p:spPr>
        <p:txBody>
          <a:bodyPr anchor="b"/>
          <a:lstStyle>
            <a:lvl1pPr algn="l">
              <a:defRPr sz="1333" b="1"/>
            </a:lvl1pPr>
          </a:lstStyle>
          <a:p>
            <a:r>
              <a:rPr lang="en-US"/>
              <a:t>Click to edit Master title style</a:t>
            </a:r>
          </a:p>
        </p:txBody>
      </p:sp>
      <p:sp>
        <p:nvSpPr>
          <p:cNvPr id="3" name="Picture Placeholder 2"/>
          <p:cNvSpPr>
            <a:spLocks noGrp="1"/>
          </p:cNvSpPr>
          <p:nvPr>
            <p:ph type="pic" idx="1"/>
          </p:nvPr>
        </p:nvSpPr>
        <p:spPr>
          <a:xfrm>
            <a:off x="1194859" y="408517"/>
            <a:ext cx="3657600" cy="2743200"/>
          </a:xfrm>
        </p:spPr>
        <p:txBody>
          <a:bodyPr/>
          <a:lstStyle>
            <a:lvl1pPr marL="0" indent="0">
              <a:buNone/>
              <a:defRPr sz="2133"/>
            </a:lvl1pPr>
            <a:lvl2pPr marL="304815" indent="0">
              <a:buNone/>
              <a:defRPr sz="1867"/>
            </a:lvl2pPr>
            <a:lvl3pPr marL="609630" indent="0">
              <a:buNone/>
              <a:defRPr sz="1600"/>
            </a:lvl3pPr>
            <a:lvl4pPr marL="914446" indent="0">
              <a:buNone/>
              <a:defRPr sz="1333"/>
            </a:lvl4pPr>
            <a:lvl5pPr marL="1219261" indent="0">
              <a:buNone/>
              <a:defRPr sz="1333"/>
            </a:lvl5pPr>
            <a:lvl6pPr marL="1524076" indent="0">
              <a:buNone/>
              <a:defRPr sz="1333"/>
            </a:lvl6pPr>
            <a:lvl7pPr marL="1828891" indent="0">
              <a:buNone/>
              <a:defRPr sz="1333"/>
            </a:lvl7pPr>
            <a:lvl8pPr marL="2133707" indent="0">
              <a:buNone/>
              <a:defRPr sz="1333"/>
            </a:lvl8pPr>
            <a:lvl9pPr marL="2438522" indent="0">
              <a:buNone/>
              <a:defRPr sz="1333"/>
            </a:lvl9pPr>
          </a:lstStyle>
          <a:p>
            <a:endParaRPr lang="en-US"/>
          </a:p>
        </p:txBody>
      </p:sp>
      <p:sp>
        <p:nvSpPr>
          <p:cNvPr id="4" name="Text Placeholder 3"/>
          <p:cNvSpPr>
            <a:spLocks noGrp="1"/>
          </p:cNvSpPr>
          <p:nvPr>
            <p:ph type="body" sz="half" idx="2"/>
          </p:nvPr>
        </p:nvSpPr>
        <p:spPr>
          <a:xfrm>
            <a:off x="1194859" y="3578225"/>
            <a:ext cx="3657600" cy="536575"/>
          </a:xfrm>
        </p:spPr>
        <p:txBody>
          <a:bodyPr/>
          <a:lstStyle>
            <a:lvl1pPr marL="0" indent="0">
              <a:buNone/>
              <a:defRPr sz="933"/>
            </a:lvl1pPr>
            <a:lvl2pPr marL="304815" indent="0">
              <a:buNone/>
              <a:defRPr sz="800"/>
            </a:lvl2pPr>
            <a:lvl3pPr marL="609630" indent="0">
              <a:buNone/>
              <a:defRPr sz="667"/>
            </a:lvl3pPr>
            <a:lvl4pPr marL="914446" indent="0">
              <a:buNone/>
              <a:defRPr sz="600"/>
            </a:lvl4pPr>
            <a:lvl5pPr marL="1219261" indent="0">
              <a:buNone/>
              <a:defRPr sz="600"/>
            </a:lvl5pPr>
            <a:lvl6pPr marL="1524076" indent="0">
              <a:buNone/>
              <a:defRPr sz="600"/>
            </a:lvl6pPr>
            <a:lvl7pPr marL="1828891" indent="0">
              <a:buNone/>
              <a:defRPr sz="600"/>
            </a:lvl7pPr>
            <a:lvl8pPr marL="2133707" indent="0">
              <a:buNone/>
              <a:defRPr sz="600"/>
            </a:lvl8pPr>
            <a:lvl9pPr marL="2438522" indent="0">
              <a:buNone/>
              <a:defRPr sz="6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4426296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6047124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419600" y="183092"/>
            <a:ext cx="1371600" cy="3901017"/>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04800" y="183092"/>
            <a:ext cx="4013200" cy="39010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774117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150CD1C-1D41-1B77-AD6B-195082827FB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2F1D2CC8-D5AE-A9EB-0599-D8A2360431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582DC0-7D80-4A9C-1EA9-F2DBBC2F82A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F8B13AB-2DF5-4A12-8833-91365D6546DF}" type="datetimeFigureOut">
              <a:rPr lang="en-GB" smtClean="0"/>
              <a:t>06/10/2025</a:t>
            </a:fld>
            <a:endParaRPr lang="en-GB"/>
          </a:p>
        </p:txBody>
      </p:sp>
      <p:sp>
        <p:nvSpPr>
          <p:cNvPr id="5" name="Footer Placeholder 4">
            <a:extLst>
              <a:ext uri="{FF2B5EF4-FFF2-40B4-BE49-F238E27FC236}">
                <a16:creationId xmlns:a16="http://schemas.microsoft.com/office/drawing/2014/main" id="{5C9AF1A2-C4E4-BF33-3225-27190250CA4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54882704-6012-87AF-A54C-FFBE95E7AD4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00B6E81-78CB-4A42-BEF2-54B689642E53}" type="slidenum">
              <a:rPr lang="en-GB" smtClean="0"/>
              <a:t>‹#›</a:t>
            </a:fld>
            <a:endParaRPr lang="en-GB"/>
          </a:p>
        </p:txBody>
      </p:sp>
    </p:spTree>
    <p:extLst>
      <p:ext uri="{BB962C8B-B14F-4D97-AF65-F5344CB8AC3E}">
        <p14:creationId xmlns:p14="http://schemas.microsoft.com/office/powerpoint/2010/main" val="21186278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04800" y="183092"/>
            <a:ext cx="5486400" cy="762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04800" y="1066800"/>
            <a:ext cx="5486400" cy="301730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04800" y="4237567"/>
            <a:ext cx="1422400" cy="243417"/>
          </a:xfrm>
          <a:prstGeom prst="rect">
            <a:avLst/>
          </a:prstGeom>
        </p:spPr>
        <p:txBody>
          <a:bodyPr vert="horz" lIns="91440" tIns="45720" rIns="91440" bIns="45720" rtlCol="0" anchor="ctr"/>
          <a:lstStyle>
            <a:lvl1pPr algn="l">
              <a:defRPr sz="800">
                <a:solidFill>
                  <a:schemeClr val="tx1">
                    <a:tint val="75000"/>
                  </a:schemeClr>
                </a:solidFill>
              </a:defRPr>
            </a:lvl1pPr>
          </a:lstStyle>
          <a:p>
            <a:fld id="{1D8BD707-D9CF-40AE-B4C6-C98DA3205C09}" type="datetimeFigureOut">
              <a:rPr lang="en-US" smtClean="0"/>
              <a:pPr/>
              <a:t>10/6/2025</a:t>
            </a:fld>
            <a:endParaRPr lang="en-US"/>
          </a:p>
        </p:txBody>
      </p:sp>
      <p:sp>
        <p:nvSpPr>
          <p:cNvPr id="5" name="Footer Placeholder 4"/>
          <p:cNvSpPr>
            <a:spLocks noGrp="1"/>
          </p:cNvSpPr>
          <p:nvPr>
            <p:ph type="ftr" sz="quarter" idx="3"/>
          </p:nvPr>
        </p:nvSpPr>
        <p:spPr>
          <a:xfrm>
            <a:off x="2082800" y="4237567"/>
            <a:ext cx="1930400" cy="243417"/>
          </a:xfrm>
          <a:prstGeom prst="rect">
            <a:avLst/>
          </a:prstGeom>
        </p:spPr>
        <p:txBody>
          <a:bodyPr vert="horz" lIns="91440" tIns="45720" rIns="91440" bIns="45720" rtlCol="0" anchor="ctr"/>
          <a:lstStyle>
            <a:lvl1pPr algn="ctr">
              <a:defRPr sz="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368800" y="4237567"/>
            <a:ext cx="1422400" cy="243417"/>
          </a:xfrm>
          <a:prstGeom prst="rect">
            <a:avLst/>
          </a:prstGeom>
        </p:spPr>
        <p:txBody>
          <a:bodyPr vert="horz" lIns="91440" tIns="45720" rIns="91440" bIns="45720" rtlCol="0" anchor="ctr"/>
          <a:lstStyle>
            <a:lvl1pPr algn="r">
              <a:defRPr sz="8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val="27520369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609630" rtl="0" eaLnBrk="1" latinLnBrk="0" hangingPunct="1">
        <a:spcBef>
          <a:spcPct val="0"/>
        </a:spcBef>
        <a:buNone/>
        <a:defRPr sz="2933" kern="1200">
          <a:solidFill>
            <a:schemeClr val="tx1"/>
          </a:solidFill>
          <a:latin typeface="+mj-lt"/>
          <a:ea typeface="+mj-ea"/>
          <a:cs typeface="+mj-cs"/>
        </a:defRPr>
      </a:lvl1pPr>
    </p:titleStyle>
    <p:body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p:bodyStyle>
    <p:otherStyle>
      <a:defPPr>
        <a:defRPr lang="en-US"/>
      </a:defPPr>
      <a:lvl1pPr marL="0" algn="l" defTabSz="609630" rtl="0" eaLnBrk="1" latinLnBrk="0" hangingPunct="1">
        <a:defRPr sz="1200" kern="1200">
          <a:solidFill>
            <a:schemeClr val="tx1"/>
          </a:solidFill>
          <a:latin typeface="+mn-lt"/>
          <a:ea typeface="+mn-ea"/>
          <a:cs typeface="+mn-cs"/>
        </a:defRPr>
      </a:lvl1pPr>
      <a:lvl2pPr marL="304815" algn="l" defTabSz="609630" rtl="0" eaLnBrk="1" latinLnBrk="0" hangingPunct="1">
        <a:defRPr sz="1200" kern="1200">
          <a:solidFill>
            <a:schemeClr val="tx1"/>
          </a:solidFill>
          <a:latin typeface="+mn-lt"/>
          <a:ea typeface="+mn-ea"/>
          <a:cs typeface="+mn-cs"/>
        </a:defRPr>
      </a:lvl2pPr>
      <a:lvl3pPr marL="609630" algn="l" defTabSz="609630" rtl="0" eaLnBrk="1" latinLnBrk="0" hangingPunct="1">
        <a:defRPr sz="1200" kern="1200">
          <a:solidFill>
            <a:schemeClr val="tx1"/>
          </a:solidFill>
          <a:latin typeface="+mn-lt"/>
          <a:ea typeface="+mn-ea"/>
          <a:cs typeface="+mn-cs"/>
        </a:defRPr>
      </a:lvl3pPr>
      <a:lvl4pPr marL="914446" algn="l" defTabSz="609630" rtl="0" eaLnBrk="1" latinLnBrk="0" hangingPunct="1">
        <a:defRPr sz="1200" kern="1200">
          <a:solidFill>
            <a:schemeClr val="tx1"/>
          </a:solidFill>
          <a:latin typeface="+mn-lt"/>
          <a:ea typeface="+mn-ea"/>
          <a:cs typeface="+mn-cs"/>
        </a:defRPr>
      </a:lvl4pPr>
      <a:lvl5pPr marL="1219261" algn="l" defTabSz="609630" rtl="0" eaLnBrk="1" latinLnBrk="0" hangingPunct="1">
        <a:defRPr sz="1200" kern="1200">
          <a:solidFill>
            <a:schemeClr val="tx1"/>
          </a:solidFill>
          <a:latin typeface="+mn-lt"/>
          <a:ea typeface="+mn-ea"/>
          <a:cs typeface="+mn-cs"/>
        </a:defRPr>
      </a:lvl5pPr>
      <a:lvl6pPr marL="1524076" algn="l" defTabSz="609630" rtl="0" eaLnBrk="1" latinLnBrk="0" hangingPunct="1">
        <a:defRPr sz="1200" kern="1200">
          <a:solidFill>
            <a:schemeClr val="tx1"/>
          </a:solidFill>
          <a:latin typeface="+mn-lt"/>
          <a:ea typeface="+mn-ea"/>
          <a:cs typeface="+mn-cs"/>
        </a:defRPr>
      </a:lvl6pPr>
      <a:lvl7pPr marL="1828891" algn="l" defTabSz="609630" rtl="0" eaLnBrk="1" latinLnBrk="0" hangingPunct="1">
        <a:defRPr sz="1200" kern="1200">
          <a:solidFill>
            <a:schemeClr val="tx1"/>
          </a:solidFill>
          <a:latin typeface="+mn-lt"/>
          <a:ea typeface="+mn-ea"/>
          <a:cs typeface="+mn-cs"/>
        </a:defRPr>
      </a:lvl7pPr>
      <a:lvl8pPr marL="2133707" algn="l" defTabSz="609630" rtl="0" eaLnBrk="1" latinLnBrk="0" hangingPunct="1">
        <a:defRPr sz="1200" kern="1200">
          <a:solidFill>
            <a:schemeClr val="tx1"/>
          </a:solidFill>
          <a:latin typeface="+mn-lt"/>
          <a:ea typeface="+mn-ea"/>
          <a:cs typeface="+mn-cs"/>
        </a:defRPr>
      </a:lvl8pPr>
      <a:lvl9pPr marL="2438522" algn="l" defTabSz="609630" rtl="0" eaLnBrk="1" latinLnBrk="0" hangingPunct="1">
        <a:defRPr sz="1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8.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Layout" Target="../slideLayouts/slideLayout18.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png"/><Relationship Id="rId7" Type="http://schemas.openxmlformats.org/officeDocument/2006/relationships/image" Target="../media/image16.png"/><Relationship Id="rId2" Type="http://schemas.openxmlformats.org/officeDocument/2006/relationships/image" Target="../media/image12.png"/><Relationship Id="rId1" Type="http://schemas.openxmlformats.org/officeDocument/2006/relationships/slideLayout" Target="../slideLayouts/slideLayout18.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20.jpe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Layout" Target="../diagrams/layout1.xml"/><Relationship Id="rId7" Type="http://schemas.openxmlformats.org/officeDocument/2006/relationships/image" Target="../media/image25.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diagramLayout" Target="../diagrams/layout2.xml"/><Relationship Id="rId7" Type="http://schemas.openxmlformats.org/officeDocument/2006/relationships/image" Target="../media/image25.png"/><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6.png"/><Relationship Id="rId2" Type="http://schemas.openxmlformats.org/officeDocument/2006/relationships/image" Target="../media/image21.jpeg"/><Relationship Id="rId1" Type="http://schemas.openxmlformats.org/officeDocument/2006/relationships/slideLayout" Target="../slideLayouts/slideLayout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38.svg"/><Relationship Id="rId4" Type="http://schemas.openxmlformats.org/officeDocument/2006/relationships/image" Target="../media/image37.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slideLayout" Target="../slideLayouts/slideLayout2.xml"/><Relationship Id="rId1" Type="http://schemas.openxmlformats.org/officeDocument/2006/relationships/video" Target="https://www.youtube.com/embed/Uk1pq8sb-eo?feature=oembed" TargetMode="Externa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slideLayout" Target="../slideLayouts/slideLayout2.xml"/><Relationship Id="rId1" Type="http://schemas.openxmlformats.org/officeDocument/2006/relationships/video" Target="https://www.youtube.com/embed/tVo_wkxH9dU?feature=oembed"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32.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48.png"/></Relationships>
</file>

<file path=ppt/slides/_rels/slide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8.xml"/></Relationships>
</file>

<file path=ppt/slides/_rels/slide33.xml.rels><?xml version="1.0" encoding="UTF-8" standalone="yes"?>
<Relationships xmlns="http://schemas.openxmlformats.org/package/2006/relationships"><Relationship Id="rId3" Type="http://schemas.openxmlformats.org/officeDocument/2006/relationships/hyperlink" Target="https://www.linkedin.com/learning/cybersecurity-foundations-governance-risk-and-compliance-grc/" TargetMode="External"/><Relationship Id="rId7" Type="http://schemas.openxmlformats.org/officeDocument/2006/relationships/image" Target="../media/image24.png"/><Relationship Id="rId2" Type="http://schemas.openxmlformats.org/officeDocument/2006/relationships/hyperlink" Target="https://www.linkedin.com/learning/software-development-life-cycle-sdlc" TargetMode="External"/><Relationship Id="rId1" Type="http://schemas.openxmlformats.org/officeDocument/2006/relationships/slideLayout" Target="../slideLayouts/slideLayout2.xml"/><Relationship Id="rId6" Type="http://schemas.openxmlformats.org/officeDocument/2006/relationships/image" Target="../media/image36.png"/><Relationship Id="rId5" Type="http://schemas.openxmlformats.org/officeDocument/2006/relationships/image" Target="../media/image50.png"/><Relationship Id="rId4"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478922" y="0"/>
            <a:ext cx="3926205" cy="6858000"/>
          </a:xfrm>
          <a:custGeom>
            <a:avLst/>
            <a:gdLst/>
            <a:ahLst/>
            <a:cxnLst/>
            <a:rect l="l" t="t" r="r" b="b"/>
            <a:pathLst>
              <a:path w="5889307" h="10287000">
                <a:moveTo>
                  <a:pt x="0" y="0"/>
                </a:moveTo>
                <a:lnTo>
                  <a:pt x="5889308" y="0"/>
                </a:lnTo>
                <a:lnTo>
                  <a:pt x="5889308" y="10287000"/>
                </a:lnTo>
                <a:lnTo>
                  <a:pt x="0" y="102870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defTabSz="609630"/>
            <a:endParaRPr lang="en-GB" sz="1200">
              <a:solidFill>
                <a:prstClr val="black"/>
              </a:solidFill>
              <a:latin typeface="Calibri"/>
            </a:endParaRPr>
          </a:p>
        </p:txBody>
      </p:sp>
      <p:sp>
        <p:nvSpPr>
          <p:cNvPr id="3" name="Freeform 3"/>
          <p:cNvSpPr/>
          <p:nvPr/>
        </p:nvSpPr>
        <p:spPr>
          <a:xfrm>
            <a:off x="700822" y="1577018"/>
            <a:ext cx="638741" cy="638741"/>
          </a:xfrm>
          <a:custGeom>
            <a:avLst/>
            <a:gdLst/>
            <a:ahLst/>
            <a:cxnLst/>
            <a:rect l="l" t="t" r="r" b="b"/>
            <a:pathLst>
              <a:path w="958111" h="958111">
                <a:moveTo>
                  <a:pt x="0" y="0"/>
                </a:moveTo>
                <a:lnTo>
                  <a:pt x="958112" y="0"/>
                </a:lnTo>
                <a:lnTo>
                  <a:pt x="958112" y="958111"/>
                </a:lnTo>
                <a:lnTo>
                  <a:pt x="0" y="95811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609630"/>
            <a:endParaRPr lang="en-GB" sz="1200">
              <a:solidFill>
                <a:prstClr val="black"/>
              </a:solidFill>
              <a:latin typeface="Calibri"/>
            </a:endParaRPr>
          </a:p>
        </p:txBody>
      </p:sp>
      <p:grpSp>
        <p:nvGrpSpPr>
          <p:cNvPr id="4" name="Group 4"/>
          <p:cNvGrpSpPr/>
          <p:nvPr/>
        </p:nvGrpSpPr>
        <p:grpSpPr>
          <a:xfrm>
            <a:off x="7928950" y="1896388"/>
            <a:ext cx="4920016" cy="1374267"/>
            <a:chOff x="0" y="0"/>
            <a:chExt cx="1943710" cy="542920"/>
          </a:xfrm>
        </p:grpSpPr>
        <p:sp>
          <p:nvSpPr>
            <p:cNvPr id="5" name="Freeform 5"/>
            <p:cNvSpPr/>
            <p:nvPr/>
          </p:nvSpPr>
          <p:spPr>
            <a:xfrm>
              <a:off x="0" y="0"/>
              <a:ext cx="1943710" cy="542920"/>
            </a:xfrm>
            <a:custGeom>
              <a:avLst/>
              <a:gdLst/>
              <a:ahLst/>
              <a:cxnLst/>
              <a:rect l="l" t="t" r="r" b="b"/>
              <a:pathLst>
                <a:path w="1943710" h="542920">
                  <a:moveTo>
                    <a:pt x="104904" y="0"/>
                  </a:moveTo>
                  <a:lnTo>
                    <a:pt x="1838806" y="0"/>
                  </a:lnTo>
                  <a:cubicBezTo>
                    <a:pt x="1866629" y="0"/>
                    <a:pt x="1893311" y="11052"/>
                    <a:pt x="1912984" y="30726"/>
                  </a:cubicBezTo>
                  <a:cubicBezTo>
                    <a:pt x="1932658" y="50399"/>
                    <a:pt x="1943710" y="77082"/>
                    <a:pt x="1943710" y="104904"/>
                  </a:cubicBezTo>
                  <a:lnTo>
                    <a:pt x="1943710" y="438017"/>
                  </a:lnTo>
                  <a:cubicBezTo>
                    <a:pt x="1943710" y="465839"/>
                    <a:pt x="1932658" y="492521"/>
                    <a:pt x="1912984" y="512195"/>
                  </a:cubicBezTo>
                  <a:cubicBezTo>
                    <a:pt x="1893311" y="531868"/>
                    <a:pt x="1866629" y="542920"/>
                    <a:pt x="1838806" y="542920"/>
                  </a:cubicBezTo>
                  <a:lnTo>
                    <a:pt x="104904" y="542920"/>
                  </a:lnTo>
                  <a:cubicBezTo>
                    <a:pt x="77082" y="542920"/>
                    <a:pt x="50399" y="531868"/>
                    <a:pt x="30726" y="512195"/>
                  </a:cubicBezTo>
                  <a:cubicBezTo>
                    <a:pt x="11052" y="492521"/>
                    <a:pt x="0" y="465839"/>
                    <a:pt x="0" y="438017"/>
                  </a:cubicBezTo>
                  <a:lnTo>
                    <a:pt x="0" y="104904"/>
                  </a:lnTo>
                  <a:cubicBezTo>
                    <a:pt x="0" y="77082"/>
                    <a:pt x="11052" y="50399"/>
                    <a:pt x="30726" y="30726"/>
                  </a:cubicBezTo>
                  <a:cubicBezTo>
                    <a:pt x="50399" y="11052"/>
                    <a:pt x="77082" y="0"/>
                    <a:pt x="104904" y="0"/>
                  </a:cubicBezTo>
                  <a:close/>
                </a:path>
              </a:pathLst>
            </a:custGeom>
            <a:solidFill>
              <a:srgbClr val="F1B34A"/>
            </a:solidFill>
          </p:spPr>
          <p:txBody>
            <a:bodyPr/>
            <a:lstStyle/>
            <a:p>
              <a:pPr defTabSz="609630"/>
              <a:endParaRPr lang="en-GB" sz="1200">
                <a:solidFill>
                  <a:prstClr val="black"/>
                </a:solidFill>
                <a:latin typeface="Calibri"/>
              </a:endParaRPr>
            </a:p>
          </p:txBody>
        </p:sp>
        <p:sp>
          <p:nvSpPr>
            <p:cNvPr id="6" name="TextBox 6"/>
            <p:cNvSpPr txBox="1"/>
            <p:nvPr/>
          </p:nvSpPr>
          <p:spPr>
            <a:xfrm>
              <a:off x="0" y="-66675"/>
              <a:ext cx="1943710" cy="609595"/>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7" name="Freeform 7"/>
          <p:cNvSpPr/>
          <p:nvPr/>
        </p:nvSpPr>
        <p:spPr>
          <a:xfrm>
            <a:off x="9391588" y="4068089"/>
            <a:ext cx="2800413" cy="2789911"/>
          </a:xfrm>
          <a:custGeom>
            <a:avLst/>
            <a:gdLst/>
            <a:ahLst/>
            <a:cxnLst/>
            <a:rect l="l" t="t" r="r" b="b"/>
            <a:pathLst>
              <a:path w="4200619" h="4184867">
                <a:moveTo>
                  <a:pt x="0" y="0"/>
                </a:moveTo>
                <a:lnTo>
                  <a:pt x="4200619" y="0"/>
                </a:lnTo>
                <a:lnTo>
                  <a:pt x="4200619" y="4184867"/>
                </a:lnTo>
                <a:lnTo>
                  <a:pt x="0" y="4184867"/>
                </a:lnTo>
                <a:lnTo>
                  <a:pt x="0" y="0"/>
                </a:lnTo>
                <a:close/>
              </a:path>
            </a:pathLst>
          </a:custGeom>
          <a:blipFill>
            <a:blip r:embed="rId6"/>
            <a:stretch>
              <a:fillRect/>
            </a:stretch>
          </a:blipFill>
        </p:spPr>
        <p:txBody>
          <a:bodyPr/>
          <a:lstStyle/>
          <a:p>
            <a:pPr defTabSz="609630"/>
            <a:endParaRPr lang="en-GB" sz="1200">
              <a:solidFill>
                <a:prstClr val="black"/>
              </a:solidFill>
              <a:latin typeface="Calibri"/>
            </a:endParaRPr>
          </a:p>
        </p:txBody>
      </p:sp>
      <p:sp>
        <p:nvSpPr>
          <p:cNvPr id="8" name="TextBox 8"/>
          <p:cNvSpPr txBox="1"/>
          <p:nvPr/>
        </p:nvSpPr>
        <p:spPr>
          <a:xfrm>
            <a:off x="1528748" y="2558122"/>
            <a:ext cx="9134506" cy="2818977"/>
          </a:xfrm>
          <a:prstGeom prst="rect">
            <a:avLst/>
          </a:prstGeom>
        </p:spPr>
        <p:txBody>
          <a:bodyPr lIns="0" tIns="0" rIns="0" bIns="0" rtlCol="0" anchor="t">
            <a:spAutoFit/>
          </a:bodyPr>
          <a:lstStyle/>
          <a:p>
            <a:pPr defTabSz="609630">
              <a:lnSpc>
                <a:spcPts val="6250"/>
              </a:lnSpc>
            </a:pPr>
            <a:r>
              <a:rPr lang="en-US" sz="5000" dirty="0">
                <a:solidFill>
                  <a:srgbClr val="000000"/>
                </a:solidFill>
                <a:latin typeface="Etna Sans Serif"/>
                <a:ea typeface="Etna Sans Serif"/>
                <a:cs typeface="Etna Sans Serif"/>
                <a:sym typeface="Etna Sans Serif"/>
              </a:rPr>
              <a:t>Welcome to </a:t>
            </a:r>
          </a:p>
          <a:p>
            <a:pPr defTabSz="609630">
              <a:lnSpc>
                <a:spcPts val="6250"/>
              </a:lnSpc>
            </a:pPr>
            <a:r>
              <a:rPr lang="en-US" sz="5000" dirty="0">
                <a:solidFill>
                  <a:srgbClr val="000000"/>
                </a:solidFill>
                <a:latin typeface="Etna Sans Serif"/>
                <a:ea typeface="Etna Sans Serif"/>
                <a:cs typeface="Etna Sans Serif"/>
                <a:sym typeface="Etna Sans Serif"/>
              </a:rPr>
              <a:t>Blackpool School of Computing</a:t>
            </a:r>
          </a:p>
          <a:p>
            <a:pPr defTabSz="609630">
              <a:lnSpc>
                <a:spcPts val="6250"/>
              </a:lnSpc>
            </a:pPr>
            <a:endParaRPr lang="en-US" sz="5000" dirty="0">
              <a:solidFill>
                <a:srgbClr val="000000"/>
              </a:solidFill>
              <a:latin typeface="Etna Sans Serif"/>
              <a:ea typeface="Etna Sans Serif"/>
              <a:cs typeface="Etna Sans Serif"/>
              <a:sym typeface="Etna Sans Serif"/>
            </a:endParaRPr>
          </a:p>
          <a:p>
            <a:pPr defTabSz="609630">
              <a:lnSpc>
                <a:spcPts val="3333"/>
              </a:lnSpc>
            </a:pPr>
            <a:r>
              <a:rPr lang="en-US" sz="2666" dirty="0">
                <a:solidFill>
                  <a:srgbClr val="000000"/>
                </a:solidFill>
                <a:latin typeface="Etna Sans Serif"/>
                <a:ea typeface="Etna Sans Serif"/>
                <a:cs typeface="Etna Sans Serif"/>
                <a:sym typeface="Etna Sans Serif"/>
              </a:rPr>
              <a:t>Your Journey Starts HERE!</a:t>
            </a:r>
          </a:p>
        </p:txBody>
      </p:sp>
      <p:sp>
        <p:nvSpPr>
          <p:cNvPr id="9" name="Freeform 9"/>
          <p:cNvSpPr/>
          <p:nvPr/>
        </p:nvSpPr>
        <p:spPr>
          <a:xfrm>
            <a:off x="10174704" y="0"/>
            <a:ext cx="2131771" cy="810673"/>
          </a:xfrm>
          <a:custGeom>
            <a:avLst/>
            <a:gdLst/>
            <a:ahLst/>
            <a:cxnLst/>
            <a:rect l="l" t="t" r="r" b="b"/>
            <a:pathLst>
              <a:path w="3197656" h="1216010">
                <a:moveTo>
                  <a:pt x="0" y="0"/>
                </a:moveTo>
                <a:lnTo>
                  <a:pt x="3197655" y="0"/>
                </a:lnTo>
                <a:lnTo>
                  <a:pt x="3197655" y="1216010"/>
                </a:lnTo>
                <a:lnTo>
                  <a:pt x="0" y="1216010"/>
                </a:lnTo>
                <a:lnTo>
                  <a:pt x="0" y="0"/>
                </a:lnTo>
                <a:close/>
              </a:path>
            </a:pathLst>
          </a:custGeom>
          <a:blipFill>
            <a:blip r:embed="rId7"/>
            <a:stretch>
              <a:fillRect/>
            </a:stretch>
          </a:blipFill>
        </p:spPr>
        <p:txBody>
          <a:bodyPr/>
          <a:lstStyle/>
          <a:p>
            <a:pPr defTabSz="609630"/>
            <a:endParaRPr lang="en-GB" sz="1200">
              <a:solidFill>
                <a:prstClr val="black"/>
              </a:solidFill>
              <a:latin typeface="Calibri"/>
            </a:endParaRPr>
          </a:p>
        </p:txBody>
      </p:sp>
      <p:sp>
        <p:nvSpPr>
          <p:cNvPr id="10" name="TextBox 10"/>
          <p:cNvSpPr txBox="1"/>
          <p:nvPr/>
        </p:nvSpPr>
        <p:spPr>
          <a:xfrm>
            <a:off x="700822" y="5377395"/>
            <a:ext cx="5156737" cy="339324"/>
          </a:xfrm>
          <a:prstGeom prst="rect">
            <a:avLst/>
          </a:prstGeom>
        </p:spPr>
        <p:txBody>
          <a:bodyPr lIns="0" tIns="0" rIns="0" bIns="0" rtlCol="0" anchor="t">
            <a:spAutoFit/>
          </a:bodyPr>
          <a:lstStyle/>
          <a:p>
            <a:pPr defTabSz="609630">
              <a:lnSpc>
                <a:spcPts val="2895"/>
              </a:lnSpc>
              <a:spcBef>
                <a:spcPct val="0"/>
              </a:spcBef>
            </a:pPr>
            <a:r>
              <a:rPr lang="en-US" sz="2068" b="1" dirty="0">
                <a:solidFill>
                  <a:srgbClr val="000000"/>
                </a:solidFill>
                <a:latin typeface="Telegraf Bold"/>
                <a:ea typeface="Telegraf Bold"/>
                <a:cs typeface="Telegraf Bold"/>
                <a:sym typeface="Telegraf Bold"/>
              </a:rPr>
              <a:t>22 September,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134600" y="0"/>
            <a:ext cx="2057400" cy="6858000"/>
            <a:chOff x="0" y="0"/>
            <a:chExt cx="812800" cy="2709333"/>
          </a:xfrm>
        </p:grpSpPr>
        <p:sp>
          <p:nvSpPr>
            <p:cNvPr id="3" name="Freeform 3"/>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5372FE"/>
            </a:solidFill>
          </p:spPr>
          <p:txBody>
            <a:bodyPr/>
            <a:lstStyle/>
            <a:p>
              <a:pPr defTabSz="609630"/>
              <a:endParaRPr lang="en-GB" sz="1200">
                <a:solidFill>
                  <a:prstClr val="black"/>
                </a:solidFill>
                <a:latin typeface="Calibri"/>
              </a:endParaRPr>
            </a:p>
          </p:txBody>
        </p:sp>
        <p:sp>
          <p:nvSpPr>
            <p:cNvPr id="4" name="TextBox 4"/>
            <p:cNvSpPr txBox="1"/>
            <p:nvPr/>
          </p:nvSpPr>
          <p:spPr>
            <a:xfrm>
              <a:off x="0" y="-38100"/>
              <a:ext cx="812800" cy="2747433"/>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p:cNvSpPr/>
          <p:nvPr/>
        </p:nvSpPr>
        <p:spPr>
          <a:xfrm>
            <a:off x="9118836" y="4258361"/>
            <a:ext cx="2231270" cy="2231270"/>
          </a:xfrm>
          <a:custGeom>
            <a:avLst/>
            <a:gdLst/>
            <a:ahLst/>
            <a:cxnLst/>
            <a:rect l="l" t="t" r="r" b="b"/>
            <a:pathLst>
              <a:path w="3346905" h="3346905">
                <a:moveTo>
                  <a:pt x="0" y="0"/>
                </a:moveTo>
                <a:lnTo>
                  <a:pt x="3346905" y="0"/>
                </a:lnTo>
                <a:lnTo>
                  <a:pt x="3346905" y="3346905"/>
                </a:lnTo>
                <a:lnTo>
                  <a:pt x="0" y="334690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defTabSz="609630"/>
            <a:endParaRPr lang="en-GB" sz="1200">
              <a:solidFill>
                <a:prstClr val="black"/>
              </a:solidFill>
              <a:latin typeface="Calibri"/>
            </a:endParaRPr>
          </a:p>
        </p:txBody>
      </p:sp>
      <p:sp>
        <p:nvSpPr>
          <p:cNvPr id="6" name="Freeform 6"/>
          <p:cNvSpPr/>
          <p:nvPr/>
        </p:nvSpPr>
        <p:spPr>
          <a:xfrm>
            <a:off x="10234471" y="5370"/>
            <a:ext cx="2131771" cy="810673"/>
          </a:xfrm>
          <a:custGeom>
            <a:avLst/>
            <a:gdLst/>
            <a:ahLst/>
            <a:cxnLst/>
            <a:rect l="l" t="t" r="r" b="b"/>
            <a:pathLst>
              <a:path w="3197656" h="1216010">
                <a:moveTo>
                  <a:pt x="0" y="0"/>
                </a:moveTo>
                <a:lnTo>
                  <a:pt x="3197655" y="0"/>
                </a:lnTo>
                <a:lnTo>
                  <a:pt x="3197655" y="1216010"/>
                </a:lnTo>
                <a:lnTo>
                  <a:pt x="0" y="1216010"/>
                </a:lnTo>
                <a:lnTo>
                  <a:pt x="0" y="0"/>
                </a:lnTo>
                <a:close/>
              </a:path>
            </a:pathLst>
          </a:custGeom>
          <a:blipFill>
            <a:blip r:embed="rId4"/>
            <a:stretch>
              <a:fillRect/>
            </a:stretch>
          </a:blipFill>
        </p:spPr>
        <p:txBody>
          <a:bodyPr/>
          <a:lstStyle/>
          <a:p>
            <a:pPr defTabSz="609630"/>
            <a:endParaRPr lang="en-GB" sz="1200">
              <a:solidFill>
                <a:prstClr val="black"/>
              </a:solidFill>
              <a:latin typeface="Calibri"/>
            </a:endParaRPr>
          </a:p>
        </p:txBody>
      </p:sp>
      <p:sp>
        <p:nvSpPr>
          <p:cNvPr id="7" name="Freeform 7"/>
          <p:cNvSpPr/>
          <p:nvPr/>
        </p:nvSpPr>
        <p:spPr>
          <a:xfrm>
            <a:off x="1066466" y="4258361"/>
            <a:ext cx="7534173" cy="2053062"/>
          </a:xfrm>
          <a:custGeom>
            <a:avLst/>
            <a:gdLst/>
            <a:ahLst/>
            <a:cxnLst/>
            <a:rect l="l" t="t" r="r" b="b"/>
            <a:pathLst>
              <a:path w="11301259" h="3079593">
                <a:moveTo>
                  <a:pt x="0" y="0"/>
                </a:moveTo>
                <a:lnTo>
                  <a:pt x="11301259" y="0"/>
                </a:lnTo>
                <a:lnTo>
                  <a:pt x="11301259" y="3079593"/>
                </a:lnTo>
                <a:lnTo>
                  <a:pt x="0" y="3079593"/>
                </a:lnTo>
                <a:lnTo>
                  <a:pt x="0" y="0"/>
                </a:lnTo>
                <a:close/>
              </a:path>
            </a:pathLst>
          </a:custGeom>
          <a:blipFill>
            <a:blip r:embed="rId5"/>
            <a:stretch>
              <a:fillRect/>
            </a:stretch>
          </a:blipFill>
        </p:spPr>
        <p:txBody>
          <a:bodyPr/>
          <a:lstStyle/>
          <a:p>
            <a:pPr defTabSz="609630"/>
            <a:endParaRPr lang="en-GB" sz="1200">
              <a:solidFill>
                <a:prstClr val="black"/>
              </a:solidFill>
              <a:latin typeface="Calibri"/>
            </a:endParaRPr>
          </a:p>
        </p:txBody>
      </p:sp>
      <p:sp>
        <p:nvSpPr>
          <p:cNvPr id="8" name="Freeform 8"/>
          <p:cNvSpPr/>
          <p:nvPr/>
        </p:nvSpPr>
        <p:spPr>
          <a:xfrm rot="859810">
            <a:off x="9248242" y="2612294"/>
            <a:ext cx="700371" cy="741569"/>
          </a:xfrm>
          <a:custGeom>
            <a:avLst/>
            <a:gdLst/>
            <a:ahLst/>
            <a:cxnLst/>
            <a:rect l="l" t="t" r="r" b="b"/>
            <a:pathLst>
              <a:path w="1050556" h="1112354">
                <a:moveTo>
                  <a:pt x="0" y="0"/>
                </a:moveTo>
                <a:lnTo>
                  <a:pt x="1050556" y="0"/>
                </a:lnTo>
                <a:lnTo>
                  <a:pt x="1050556" y="1112354"/>
                </a:lnTo>
                <a:lnTo>
                  <a:pt x="0" y="1112354"/>
                </a:lnTo>
                <a:lnTo>
                  <a:pt x="0" y="0"/>
                </a:lnTo>
                <a:close/>
              </a:path>
            </a:pathLst>
          </a:custGeom>
          <a:blipFill>
            <a:blip r:embed="rId6"/>
            <a:stretch>
              <a:fillRect/>
            </a:stretch>
          </a:blipFill>
        </p:spPr>
        <p:txBody>
          <a:bodyPr/>
          <a:lstStyle/>
          <a:p>
            <a:pPr defTabSz="609630"/>
            <a:endParaRPr lang="en-GB" sz="1200">
              <a:solidFill>
                <a:prstClr val="black"/>
              </a:solidFill>
              <a:latin typeface="Calibri"/>
            </a:endParaRPr>
          </a:p>
        </p:txBody>
      </p:sp>
      <p:sp>
        <p:nvSpPr>
          <p:cNvPr id="9" name="TextBox 9"/>
          <p:cNvSpPr txBox="1"/>
          <p:nvPr/>
        </p:nvSpPr>
        <p:spPr>
          <a:xfrm>
            <a:off x="507790" y="2392569"/>
            <a:ext cx="9090638" cy="1872307"/>
          </a:xfrm>
          <a:prstGeom prst="rect">
            <a:avLst/>
          </a:prstGeom>
        </p:spPr>
        <p:txBody>
          <a:bodyPr lIns="0" tIns="0" rIns="0" bIns="0" rtlCol="0" anchor="t">
            <a:spAutoFit/>
          </a:bodyPr>
          <a:lstStyle/>
          <a:p>
            <a:pPr defTabSz="609630">
              <a:lnSpc>
                <a:spcPts val="2371"/>
              </a:lnSpc>
            </a:pPr>
            <a:r>
              <a:rPr lang="en-US" sz="1694" dirty="0">
                <a:solidFill>
                  <a:srgbClr val="000000"/>
                </a:solidFill>
                <a:ea typeface="Telegraf"/>
                <a:cs typeface="Telegraf"/>
                <a:sym typeface="Telegraf"/>
              </a:rPr>
              <a:t>At B&amp;FC, we’re proud to hold </a:t>
            </a:r>
            <a:r>
              <a:rPr lang="en-US" sz="1694" b="1" dirty="0">
                <a:solidFill>
                  <a:srgbClr val="FBB03B"/>
                </a:solidFill>
                <a:ea typeface="Telegraf Bold"/>
                <a:cs typeface="Telegraf Bold"/>
                <a:sym typeface="Telegraf Bold"/>
              </a:rPr>
              <a:t>TEF Gold</a:t>
            </a:r>
            <a:r>
              <a:rPr lang="en-US" sz="1694" dirty="0">
                <a:solidFill>
                  <a:srgbClr val="000000"/>
                </a:solidFill>
                <a:ea typeface="Telegraf"/>
                <a:cs typeface="Telegraf"/>
                <a:sym typeface="Telegraf"/>
              </a:rPr>
              <a:t>, one of only two providers in the Northwest to achieve Gold in all three categories: Overall, Experience and Outcomes</a:t>
            </a:r>
          </a:p>
          <a:p>
            <a:pPr defTabSz="609630">
              <a:lnSpc>
                <a:spcPts val="2371"/>
              </a:lnSpc>
            </a:pPr>
            <a:endParaRPr lang="en-US" sz="1694" dirty="0">
              <a:solidFill>
                <a:srgbClr val="000000"/>
              </a:solidFill>
              <a:ea typeface="Telegraf"/>
              <a:cs typeface="Telegraf"/>
              <a:sym typeface="Telegraf"/>
            </a:endParaRPr>
          </a:p>
          <a:p>
            <a:pPr defTabSz="609630">
              <a:lnSpc>
                <a:spcPts val="691"/>
              </a:lnSpc>
            </a:pPr>
            <a:endParaRPr lang="en-US" sz="1694" dirty="0">
              <a:solidFill>
                <a:srgbClr val="000000"/>
              </a:solidFill>
              <a:ea typeface="Telegraf"/>
              <a:cs typeface="Telegraf"/>
              <a:sym typeface="Telegraf"/>
            </a:endParaRPr>
          </a:p>
          <a:p>
            <a:pPr defTabSz="609630">
              <a:lnSpc>
                <a:spcPts val="2371"/>
              </a:lnSpc>
            </a:pPr>
            <a:r>
              <a:rPr lang="en-US" sz="1694" dirty="0">
                <a:solidFill>
                  <a:srgbClr val="000000"/>
                </a:solidFill>
                <a:ea typeface="Telegraf"/>
                <a:cs typeface="Telegraf"/>
                <a:sym typeface="Telegraf"/>
              </a:rPr>
              <a:t>Well-established links with over 1,800 employer partners, including major industry leaders like Vodafone, to jump-start careers even before graduation.</a:t>
            </a:r>
          </a:p>
          <a:p>
            <a:pPr defTabSz="609630">
              <a:lnSpc>
                <a:spcPts val="1905"/>
              </a:lnSpc>
            </a:pPr>
            <a:endParaRPr lang="en-US" sz="1694" dirty="0">
              <a:solidFill>
                <a:srgbClr val="000000"/>
              </a:solidFill>
              <a:latin typeface="Telegraf"/>
              <a:ea typeface="Telegraf"/>
              <a:cs typeface="Telegraf"/>
              <a:sym typeface="Telegraf"/>
            </a:endParaRPr>
          </a:p>
        </p:txBody>
      </p:sp>
      <p:sp>
        <p:nvSpPr>
          <p:cNvPr id="10" name="TextBox 10"/>
          <p:cNvSpPr txBox="1"/>
          <p:nvPr/>
        </p:nvSpPr>
        <p:spPr>
          <a:xfrm>
            <a:off x="2345305" y="530733"/>
            <a:ext cx="7501391" cy="1548309"/>
          </a:xfrm>
          <a:prstGeom prst="rect">
            <a:avLst/>
          </a:prstGeom>
        </p:spPr>
        <p:txBody>
          <a:bodyPr lIns="0" tIns="0" rIns="0" bIns="0" rtlCol="0" anchor="t">
            <a:spAutoFit/>
          </a:bodyPr>
          <a:lstStyle/>
          <a:p>
            <a:pPr defTabSz="609630">
              <a:lnSpc>
                <a:spcPts val="3984"/>
              </a:lnSpc>
            </a:pPr>
            <a:r>
              <a:rPr lang="en-US" sz="4800">
                <a:solidFill>
                  <a:srgbClr val="250D52"/>
                </a:solidFill>
                <a:latin typeface="Etna Sans Serif"/>
                <a:ea typeface="Etna Sans Serif"/>
                <a:cs typeface="Etna Sans Serif"/>
                <a:sym typeface="Etna Sans Serif"/>
              </a:rPr>
              <a:t>Welcome to Blackpool &amp; The Fylde College </a:t>
            </a:r>
          </a:p>
          <a:p>
            <a:pPr defTabSz="609630">
              <a:lnSpc>
                <a:spcPts val="1549"/>
              </a:lnSpc>
            </a:pPr>
            <a:endParaRPr lang="en-US" sz="4800">
              <a:solidFill>
                <a:srgbClr val="250D52"/>
              </a:solidFill>
              <a:latin typeface="Etna Sans Serif"/>
              <a:ea typeface="Etna Sans Serif"/>
              <a:cs typeface="Etna Sans Serif"/>
              <a:sym typeface="Etna Sans Serif"/>
            </a:endParaRPr>
          </a:p>
          <a:p>
            <a:pPr algn="r" defTabSz="609630">
              <a:lnSpc>
                <a:spcPts val="2545"/>
              </a:lnSpc>
            </a:pPr>
            <a:r>
              <a:rPr lang="en-US" sz="3067">
                <a:solidFill>
                  <a:srgbClr val="FBB03B"/>
                </a:solidFill>
                <a:latin typeface="Etna Sans Serif"/>
                <a:ea typeface="Etna Sans Serif"/>
                <a:cs typeface="Etna Sans Serif"/>
                <a:sym typeface="Etna Sans Serif"/>
              </a:rPr>
              <a:t>Your Future is in safe hands</a:t>
            </a:r>
          </a:p>
        </p:txBody>
      </p:sp>
      <p:sp>
        <p:nvSpPr>
          <p:cNvPr id="11" name="Freeform 11"/>
          <p:cNvSpPr/>
          <p:nvPr/>
        </p:nvSpPr>
        <p:spPr>
          <a:xfrm>
            <a:off x="143004" y="114053"/>
            <a:ext cx="2034365" cy="2026737"/>
          </a:xfrm>
          <a:custGeom>
            <a:avLst/>
            <a:gdLst/>
            <a:ahLst/>
            <a:cxnLst/>
            <a:rect l="l" t="t" r="r" b="b"/>
            <a:pathLst>
              <a:path w="3051548" h="3040105">
                <a:moveTo>
                  <a:pt x="0" y="0"/>
                </a:moveTo>
                <a:lnTo>
                  <a:pt x="3051548" y="0"/>
                </a:lnTo>
                <a:lnTo>
                  <a:pt x="3051548" y="3040104"/>
                </a:lnTo>
                <a:lnTo>
                  <a:pt x="0" y="3040104"/>
                </a:lnTo>
                <a:lnTo>
                  <a:pt x="0" y="0"/>
                </a:lnTo>
                <a:close/>
              </a:path>
            </a:pathLst>
          </a:custGeom>
          <a:blipFill>
            <a:blip r:embed="rId7"/>
            <a:stretch>
              <a:fillRect/>
            </a:stretch>
          </a:blipFill>
        </p:spPr>
        <p:txBody>
          <a:bodyPr/>
          <a:lstStyle/>
          <a:p>
            <a:pPr defTabSz="609630"/>
            <a:endParaRPr lang="en-GB" sz="1200">
              <a:solidFill>
                <a:prstClr val="black"/>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1261742"/>
            <a:chOff x="0" y="0"/>
            <a:chExt cx="4816593" cy="498466"/>
          </a:xfrm>
        </p:grpSpPr>
        <p:sp>
          <p:nvSpPr>
            <p:cNvPr id="3" name="Freeform 3"/>
            <p:cNvSpPr/>
            <p:nvPr/>
          </p:nvSpPr>
          <p:spPr>
            <a:xfrm>
              <a:off x="0" y="0"/>
              <a:ext cx="4816592" cy="498466"/>
            </a:xfrm>
            <a:custGeom>
              <a:avLst/>
              <a:gdLst/>
              <a:ahLst/>
              <a:cxnLst/>
              <a:rect l="l" t="t" r="r" b="b"/>
              <a:pathLst>
                <a:path w="4816592" h="498466">
                  <a:moveTo>
                    <a:pt x="0" y="0"/>
                  </a:moveTo>
                  <a:lnTo>
                    <a:pt x="4816592" y="0"/>
                  </a:lnTo>
                  <a:lnTo>
                    <a:pt x="4816592" y="498466"/>
                  </a:lnTo>
                  <a:lnTo>
                    <a:pt x="0" y="498466"/>
                  </a:lnTo>
                  <a:close/>
                </a:path>
              </a:pathLst>
            </a:custGeom>
            <a:solidFill>
              <a:srgbClr val="5372FE"/>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4" name="TextBox 4"/>
            <p:cNvSpPr txBox="1"/>
            <p:nvPr/>
          </p:nvSpPr>
          <p:spPr>
            <a:xfrm>
              <a:off x="0" y="-38100"/>
              <a:ext cx="4816593" cy="5365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5" name="Group 5"/>
          <p:cNvGrpSpPr/>
          <p:nvPr/>
        </p:nvGrpSpPr>
        <p:grpSpPr>
          <a:xfrm>
            <a:off x="1102826" y="3167885"/>
            <a:ext cx="2364162" cy="425048"/>
            <a:chOff x="0" y="0"/>
            <a:chExt cx="1144074" cy="205691"/>
          </a:xfrm>
        </p:grpSpPr>
        <p:sp>
          <p:nvSpPr>
            <p:cNvPr id="6" name="Freeform 6"/>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7" name="TextBox 7"/>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8" name="Group 8"/>
          <p:cNvGrpSpPr/>
          <p:nvPr/>
        </p:nvGrpSpPr>
        <p:grpSpPr>
          <a:xfrm>
            <a:off x="1704689" y="2043970"/>
            <a:ext cx="1160439" cy="1467773"/>
            <a:chOff x="0" y="0"/>
            <a:chExt cx="829648" cy="1049374"/>
          </a:xfrm>
        </p:grpSpPr>
        <p:sp>
          <p:nvSpPr>
            <p:cNvPr id="9" name="Freeform 9"/>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2"/>
              <a:stretch>
                <a:fillRect l="-14235" r="-14235"/>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sp>
        <p:nvSpPr>
          <p:cNvPr id="10" name="Freeform 10"/>
          <p:cNvSpPr/>
          <p:nvPr/>
        </p:nvSpPr>
        <p:spPr>
          <a:xfrm>
            <a:off x="11243191" y="5938174"/>
            <a:ext cx="955159" cy="951577"/>
          </a:xfrm>
          <a:custGeom>
            <a:avLst/>
            <a:gdLst/>
            <a:ahLst/>
            <a:cxnLst/>
            <a:rect l="l" t="t" r="r" b="b"/>
            <a:pathLst>
              <a:path w="1432738" h="1427365">
                <a:moveTo>
                  <a:pt x="0" y="0"/>
                </a:moveTo>
                <a:lnTo>
                  <a:pt x="1432738" y="0"/>
                </a:lnTo>
                <a:lnTo>
                  <a:pt x="1432738" y="1427365"/>
                </a:lnTo>
                <a:lnTo>
                  <a:pt x="0" y="1427365"/>
                </a:lnTo>
                <a:lnTo>
                  <a:pt x="0" y="0"/>
                </a:lnTo>
                <a:close/>
              </a:path>
            </a:pathLst>
          </a:custGeom>
          <a:blipFill>
            <a:blip r:embed="rId3"/>
            <a:stretch>
              <a:fillRect/>
            </a:stretch>
          </a:blipFill>
        </p:spPr>
        <p:txBody>
          <a:bodyPr/>
          <a:lstStyle/>
          <a:p>
            <a:pPr defTabSz="609630"/>
            <a:endParaRPr lang="en-GB" sz="1200">
              <a:solidFill>
                <a:prstClr val="black"/>
              </a:solidFill>
              <a:latin typeface="Calibri"/>
            </a:endParaRPr>
          </a:p>
        </p:txBody>
      </p:sp>
      <p:grpSp>
        <p:nvGrpSpPr>
          <p:cNvPr id="11" name="Group 11"/>
          <p:cNvGrpSpPr/>
          <p:nvPr/>
        </p:nvGrpSpPr>
        <p:grpSpPr>
          <a:xfrm>
            <a:off x="3743674" y="3167885"/>
            <a:ext cx="2364162" cy="425048"/>
            <a:chOff x="0" y="0"/>
            <a:chExt cx="1144074" cy="205691"/>
          </a:xfrm>
        </p:grpSpPr>
        <p:sp>
          <p:nvSpPr>
            <p:cNvPr id="12" name="Freeform 12"/>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13" name="TextBox 13"/>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14" name="Group 14"/>
          <p:cNvGrpSpPr/>
          <p:nvPr/>
        </p:nvGrpSpPr>
        <p:grpSpPr>
          <a:xfrm>
            <a:off x="4345537" y="2043970"/>
            <a:ext cx="1160439" cy="1467773"/>
            <a:chOff x="0" y="0"/>
            <a:chExt cx="829648" cy="1049374"/>
          </a:xfrm>
        </p:grpSpPr>
        <p:sp>
          <p:nvSpPr>
            <p:cNvPr id="15" name="Freeform 15"/>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4"/>
              <a:stretch>
                <a:fillRect t="-6761" b="-6761"/>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grpSp>
        <p:nvGrpSpPr>
          <p:cNvPr id="16" name="Group 16"/>
          <p:cNvGrpSpPr/>
          <p:nvPr/>
        </p:nvGrpSpPr>
        <p:grpSpPr>
          <a:xfrm>
            <a:off x="6387237" y="3167885"/>
            <a:ext cx="2364162" cy="425048"/>
            <a:chOff x="0" y="0"/>
            <a:chExt cx="1144074" cy="205691"/>
          </a:xfrm>
        </p:grpSpPr>
        <p:sp>
          <p:nvSpPr>
            <p:cNvPr id="17" name="Freeform 17"/>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18" name="TextBox 18"/>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19" name="Group 19"/>
          <p:cNvGrpSpPr/>
          <p:nvPr/>
        </p:nvGrpSpPr>
        <p:grpSpPr>
          <a:xfrm>
            <a:off x="6989099" y="2043970"/>
            <a:ext cx="1160439" cy="1467773"/>
            <a:chOff x="0" y="0"/>
            <a:chExt cx="829648" cy="1049374"/>
          </a:xfrm>
        </p:grpSpPr>
        <p:sp>
          <p:nvSpPr>
            <p:cNvPr id="20" name="Freeform 20"/>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5"/>
              <a:stretch>
                <a:fillRect t="-197" b="-197"/>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grpSp>
        <p:nvGrpSpPr>
          <p:cNvPr id="21" name="Group 21"/>
          <p:cNvGrpSpPr/>
          <p:nvPr/>
        </p:nvGrpSpPr>
        <p:grpSpPr>
          <a:xfrm>
            <a:off x="1150154" y="5679937"/>
            <a:ext cx="2364162" cy="425048"/>
            <a:chOff x="0" y="0"/>
            <a:chExt cx="1144074" cy="205691"/>
          </a:xfrm>
        </p:grpSpPr>
        <p:sp>
          <p:nvSpPr>
            <p:cNvPr id="22" name="Freeform 22"/>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23" name="TextBox 23"/>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24" name="Group 24"/>
          <p:cNvGrpSpPr/>
          <p:nvPr/>
        </p:nvGrpSpPr>
        <p:grpSpPr>
          <a:xfrm>
            <a:off x="1752017" y="4556022"/>
            <a:ext cx="1160439" cy="1467773"/>
            <a:chOff x="0" y="0"/>
            <a:chExt cx="829648" cy="1049374"/>
          </a:xfrm>
        </p:grpSpPr>
        <p:sp>
          <p:nvSpPr>
            <p:cNvPr id="25" name="Freeform 25"/>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6"/>
              <a:stretch>
                <a:fillRect t="-779" b="-779"/>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grpSp>
        <p:nvGrpSpPr>
          <p:cNvPr id="26" name="Group 26"/>
          <p:cNvGrpSpPr/>
          <p:nvPr/>
        </p:nvGrpSpPr>
        <p:grpSpPr>
          <a:xfrm>
            <a:off x="3701939" y="5679937"/>
            <a:ext cx="2364162" cy="425048"/>
            <a:chOff x="0" y="0"/>
            <a:chExt cx="1144074" cy="205691"/>
          </a:xfrm>
        </p:grpSpPr>
        <p:sp>
          <p:nvSpPr>
            <p:cNvPr id="27" name="Freeform 27"/>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28" name="TextBox 28"/>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29" name="Group 29"/>
          <p:cNvGrpSpPr/>
          <p:nvPr/>
        </p:nvGrpSpPr>
        <p:grpSpPr>
          <a:xfrm>
            <a:off x="4303801" y="4556022"/>
            <a:ext cx="1160439" cy="1467773"/>
            <a:chOff x="0" y="0"/>
            <a:chExt cx="829648" cy="1049374"/>
          </a:xfrm>
        </p:grpSpPr>
        <p:sp>
          <p:nvSpPr>
            <p:cNvPr id="30" name="Freeform 30"/>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7"/>
              <a:stretch>
                <a:fillRect l="-1301" r="-1301"/>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grpSp>
        <p:nvGrpSpPr>
          <p:cNvPr id="31" name="Group 31"/>
          <p:cNvGrpSpPr/>
          <p:nvPr/>
        </p:nvGrpSpPr>
        <p:grpSpPr>
          <a:xfrm>
            <a:off x="6250780" y="5679937"/>
            <a:ext cx="2364162" cy="425048"/>
            <a:chOff x="0" y="0"/>
            <a:chExt cx="1144074" cy="205691"/>
          </a:xfrm>
        </p:grpSpPr>
        <p:sp>
          <p:nvSpPr>
            <p:cNvPr id="32" name="Freeform 32"/>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33" name="TextBox 33"/>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34" name="Group 34"/>
          <p:cNvGrpSpPr/>
          <p:nvPr/>
        </p:nvGrpSpPr>
        <p:grpSpPr>
          <a:xfrm>
            <a:off x="6852642" y="4556022"/>
            <a:ext cx="1160439" cy="1467773"/>
            <a:chOff x="0" y="0"/>
            <a:chExt cx="829648" cy="1049374"/>
          </a:xfrm>
        </p:grpSpPr>
        <p:sp>
          <p:nvSpPr>
            <p:cNvPr id="35" name="Freeform 35"/>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8"/>
              <a:stretch>
                <a:fillRect l="-3011" r="-3011"/>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grpSp>
        <p:nvGrpSpPr>
          <p:cNvPr id="36" name="Group 36"/>
          <p:cNvGrpSpPr/>
          <p:nvPr/>
        </p:nvGrpSpPr>
        <p:grpSpPr>
          <a:xfrm>
            <a:off x="8802565" y="5679937"/>
            <a:ext cx="2364162" cy="425048"/>
            <a:chOff x="0" y="0"/>
            <a:chExt cx="1144074" cy="205691"/>
          </a:xfrm>
        </p:grpSpPr>
        <p:sp>
          <p:nvSpPr>
            <p:cNvPr id="37" name="Freeform 37"/>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38" name="TextBox 38"/>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39" name="Group 39"/>
          <p:cNvGrpSpPr/>
          <p:nvPr/>
        </p:nvGrpSpPr>
        <p:grpSpPr>
          <a:xfrm>
            <a:off x="9404427" y="4556022"/>
            <a:ext cx="1160439" cy="1467773"/>
            <a:chOff x="0" y="0"/>
            <a:chExt cx="829648" cy="1049374"/>
          </a:xfrm>
        </p:grpSpPr>
        <p:sp>
          <p:nvSpPr>
            <p:cNvPr id="40" name="Freeform 40"/>
            <p:cNvSpPr/>
            <p:nvPr/>
          </p:nvSpPr>
          <p:spPr>
            <a:xfrm>
              <a:off x="0" y="0"/>
              <a:ext cx="829648" cy="1049374"/>
            </a:xfrm>
            <a:custGeom>
              <a:avLst/>
              <a:gdLst/>
              <a:ahLst/>
              <a:cxnLst/>
              <a:rect l="l" t="t" r="r" b="b"/>
              <a:pathLst>
                <a:path w="829648" h="1049374">
                  <a:moveTo>
                    <a:pt x="0" y="0"/>
                  </a:moveTo>
                  <a:lnTo>
                    <a:pt x="829648" y="0"/>
                  </a:lnTo>
                  <a:lnTo>
                    <a:pt x="829648" y="1049374"/>
                  </a:lnTo>
                  <a:lnTo>
                    <a:pt x="0" y="1049374"/>
                  </a:lnTo>
                  <a:close/>
                </a:path>
              </a:pathLst>
            </a:custGeom>
            <a:blipFill>
              <a:blip r:embed="rId9"/>
              <a:stretch>
                <a:fillRect l="-11686" r="-11686"/>
              </a:stretch>
            </a:blipFill>
            <a:ln w="38100" cap="sq">
              <a:solidFill>
                <a:srgbClr val="5372FE"/>
              </a:solidFill>
              <a:prstDash val="solid"/>
              <a:miter/>
            </a:ln>
          </p:spPr>
          <p:txBody>
            <a:bodyPr/>
            <a:lstStyle/>
            <a:p>
              <a:pPr defTabSz="609630"/>
              <a:endParaRPr lang="en-GB" sz="1200">
                <a:solidFill>
                  <a:prstClr val="black"/>
                </a:solidFill>
                <a:latin typeface="Calibri"/>
              </a:endParaRPr>
            </a:p>
          </p:txBody>
        </p:sp>
      </p:grpSp>
      <p:sp>
        <p:nvSpPr>
          <p:cNvPr id="41" name="TextBox 41"/>
          <p:cNvSpPr txBox="1"/>
          <p:nvPr/>
        </p:nvSpPr>
        <p:spPr>
          <a:xfrm>
            <a:off x="1032713" y="1405488"/>
            <a:ext cx="2504391" cy="204736"/>
          </a:xfrm>
          <a:prstGeom prst="rect">
            <a:avLst/>
          </a:prstGeom>
        </p:spPr>
        <p:txBody>
          <a:bodyPr lIns="0" tIns="0" rIns="0" bIns="0" rtlCol="0" anchor="t">
            <a:spAutoFit/>
          </a:bodyPr>
          <a:lstStyle/>
          <a:p>
            <a:pPr algn="ctr" defTabSz="609630">
              <a:lnSpc>
                <a:spcPts val="1705"/>
              </a:lnSpc>
              <a:spcBef>
                <a:spcPct val="0"/>
              </a:spcBef>
            </a:pPr>
            <a:r>
              <a:rPr lang="en-US" sz="1218" b="1" dirty="0">
                <a:solidFill>
                  <a:srgbClr val="26AADC"/>
                </a:solidFill>
                <a:latin typeface="+mj-lt"/>
                <a:ea typeface="Telegraf Bold"/>
                <a:cs typeface="Telegraf Bold"/>
                <a:sym typeface="Telegraf Bold"/>
              </a:rPr>
              <a:t>Dr Colette Mazzola-Randles</a:t>
            </a:r>
          </a:p>
        </p:txBody>
      </p:sp>
      <p:sp>
        <p:nvSpPr>
          <p:cNvPr id="42" name="TextBox 42"/>
          <p:cNvSpPr txBox="1"/>
          <p:nvPr/>
        </p:nvSpPr>
        <p:spPr>
          <a:xfrm>
            <a:off x="1239283" y="1647588"/>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Operations Manager </a:t>
            </a:r>
          </a:p>
          <a:p>
            <a:pPr algn="ctr" defTabSz="609630">
              <a:lnSpc>
                <a:spcPts val="1393"/>
              </a:lnSpc>
              <a:spcBef>
                <a:spcPct val="0"/>
              </a:spcBef>
            </a:pPr>
            <a:r>
              <a:rPr lang="en-US" sz="995">
                <a:solidFill>
                  <a:srgbClr val="000000"/>
                </a:solidFill>
                <a:latin typeface="Telegraf"/>
                <a:ea typeface="Telegraf"/>
                <a:cs typeface="Telegraf"/>
                <a:sym typeface="Telegraf"/>
              </a:rPr>
              <a:t>Apprenticeships</a:t>
            </a:r>
          </a:p>
        </p:txBody>
      </p:sp>
      <p:sp>
        <p:nvSpPr>
          <p:cNvPr id="43" name="TextBox 43"/>
          <p:cNvSpPr txBox="1"/>
          <p:nvPr/>
        </p:nvSpPr>
        <p:spPr>
          <a:xfrm>
            <a:off x="685800" y="-38100"/>
            <a:ext cx="10820400" cy="1170833"/>
          </a:xfrm>
          <a:prstGeom prst="rect">
            <a:avLst/>
          </a:prstGeom>
        </p:spPr>
        <p:txBody>
          <a:bodyPr lIns="0" tIns="0" rIns="0" bIns="0" rtlCol="0" anchor="t">
            <a:spAutoFit/>
          </a:bodyPr>
          <a:lstStyle/>
          <a:p>
            <a:pPr algn="ctr" defTabSz="609630">
              <a:lnSpc>
                <a:spcPts val="9492"/>
              </a:lnSpc>
            </a:pPr>
            <a:r>
              <a:rPr lang="en-US" sz="7594" dirty="0">
                <a:solidFill>
                  <a:srgbClr val="FFFFFF"/>
                </a:solidFill>
                <a:latin typeface="+mj-lt"/>
                <a:ea typeface="Etna Sans Serif"/>
                <a:cs typeface="Etna Sans Serif"/>
                <a:sym typeface="Etna Sans Serif"/>
              </a:rPr>
              <a:t>Our Team</a:t>
            </a:r>
          </a:p>
        </p:txBody>
      </p:sp>
      <p:sp>
        <p:nvSpPr>
          <p:cNvPr id="44" name="TextBox 44"/>
          <p:cNvSpPr txBox="1"/>
          <p:nvPr/>
        </p:nvSpPr>
        <p:spPr>
          <a:xfrm>
            <a:off x="3673561" y="1405488"/>
            <a:ext cx="2504391" cy="204736"/>
          </a:xfrm>
          <a:prstGeom prst="rect">
            <a:avLst/>
          </a:prstGeom>
        </p:spPr>
        <p:txBody>
          <a:bodyPr lIns="0" tIns="0" rIns="0" bIns="0" rtlCol="0" anchor="t">
            <a:spAutoFit/>
          </a:bodyPr>
          <a:lstStyle/>
          <a:p>
            <a:pPr algn="ctr" defTabSz="609630">
              <a:lnSpc>
                <a:spcPts val="1705"/>
              </a:lnSpc>
              <a:spcBef>
                <a:spcPct val="0"/>
              </a:spcBef>
            </a:pPr>
            <a:r>
              <a:rPr lang="en-US" sz="1218" b="1" dirty="0">
                <a:solidFill>
                  <a:srgbClr val="26AADC"/>
                </a:solidFill>
                <a:latin typeface="+mj-lt"/>
                <a:ea typeface="Telegraf Bold"/>
                <a:cs typeface="Telegraf Bold"/>
                <a:sym typeface="Telegraf Bold"/>
              </a:rPr>
              <a:t>James Dunkerley</a:t>
            </a:r>
          </a:p>
        </p:txBody>
      </p:sp>
      <p:sp>
        <p:nvSpPr>
          <p:cNvPr id="45" name="TextBox 45"/>
          <p:cNvSpPr txBox="1"/>
          <p:nvPr/>
        </p:nvSpPr>
        <p:spPr>
          <a:xfrm>
            <a:off x="3880131" y="1647588"/>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Programme Leader</a:t>
            </a:r>
          </a:p>
          <a:p>
            <a:pPr algn="ctr" defTabSz="609630">
              <a:lnSpc>
                <a:spcPts val="1393"/>
              </a:lnSpc>
              <a:spcBef>
                <a:spcPct val="0"/>
              </a:spcBef>
            </a:pPr>
            <a:r>
              <a:rPr lang="en-US" sz="995">
                <a:solidFill>
                  <a:srgbClr val="000000"/>
                </a:solidFill>
                <a:latin typeface="Telegraf"/>
                <a:ea typeface="Telegraf"/>
                <a:cs typeface="Telegraf"/>
                <a:sym typeface="Telegraf"/>
              </a:rPr>
              <a:t>Higher Degree Apprenticeships</a:t>
            </a:r>
          </a:p>
        </p:txBody>
      </p:sp>
      <p:sp>
        <p:nvSpPr>
          <p:cNvPr id="46" name="TextBox 46"/>
          <p:cNvSpPr txBox="1"/>
          <p:nvPr/>
        </p:nvSpPr>
        <p:spPr>
          <a:xfrm>
            <a:off x="6317123" y="1405488"/>
            <a:ext cx="2504391" cy="199029"/>
          </a:xfrm>
          <a:prstGeom prst="rect">
            <a:avLst/>
          </a:prstGeom>
        </p:spPr>
        <p:txBody>
          <a:bodyPr lIns="0" tIns="0" rIns="0" bIns="0" rtlCol="0" anchor="t">
            <a:spAutoFit/>
          </a:bodyPr>
          <a:lstStyle/>
          <a:p>
            <a:pPr algn="ctr" defTabSz="609630">
              <a:lnSpc>
                <a:spcPts val="1705"/>
              </a:lnSpc>
              <a:spcBef>
                <a:spcPct val="0"/>
              </a:spcBef>
            </a:pPr>
            <a:r>
              <a:rPr lang="en-US" sz="1218" b="1" dirty="0">
                <a:solidFill>
                  <a:srgbClr val="26AADC"/>
                </a:solidFill>
                <a:latin typeface="Telegraf Bold"/>
                <a:ea typeface="Telegraf Bold"/>
                <a:cs typeface="Telegraf Bold"/>
                <a:sym typeface="Telegraf Bold"/>
              </a:rPr>
              <a:t>Anthony Parkinson</a:t>
            </a:r>
          </a:p>
        </p:txBody>
      </p:sp>
      <p:sp>
        <p:nvSpPr>
          <p:cNvPr id="47" name="TextBox 47"/>
          <p:cNvSpPr txBox="1"/>
          <p:nvPr/>
        </p:nvSpPr>
        <p:spPr>
          <a:xfrm>
            <a:off x="6523694" y="1647588"/>
            <a:ext cx="2091249" cy="347852"/>
          </a:xfrm>
          <a:prstGeom prst="rect">
            <a:avLst/>
          </a:prstGeom>
        </p:spPr>
        <p:txBody>
          <a:bodyPr lIns="0" tIns="0" rIns="0" bIns="0" rtlCol="0" anchor="t">
            <a:spAutoFit/>
          </a:bodyPr>
          <a:lstStyle/>
          <a:p>
            <a:pPr algn="ctr" defTabSz="609630">
              <a:lnSpc>
                <a:spcPts val="1393"/>
              </a:lnSpc>
            </a:pPr>
            <a:r>
              <a:rPr lang="en-US" sz="995" b="1" dirty="0" err="1">
                <a:solidFill>
                  <a:srgbClr val="000000"/>
                </a:solidFill>
                <a:latin typeface="Telegraf Bold"/>
                <a:ea typeface="Telegraf Bold"/>
                <a:cs typeface="Telegraf Bold"/>
                <a:sym typeface="Telegraf Bold"/>
              </a:rPr>
              <a:t>Programme</a:t>
            </a:r>
            <a:r>
              <a:rPr lang="en-US" sz="995" b="1" dirty="0">
                <a:solidFill>
                  <a:srgbClr val="000000"/>
                </a:solidFill>
                <a:latin typeface="Telegraf Bold"/>
                <a:ea typeface="Telegraf Bold"/>
                <a:cs typeface="Telegraf Bold"/>
                <a:sym typeface="Telegraf Bold"/>
              </a:rPr>
              <a:t> Leader</a:t>
            </a:r>
          </a:p>
          <a:p>
            <a:pPr algn="ctr" defTabSz="609630">
              <a:lnSpc>
                <a:spcPts val="1393"/>
              </a:lnSpc>
              <a:spcBef>
                <a:spcPct val="0"/>
              </a:spcBef>
            </a:pPr>
            <a:r>
              <a:rPr lang="en-US" sz="995" dirty="0">
                <a:solidFill>
                  <a:srgbClr val="000000"/>
                </a:solidFill>
                <a:latin typeface="Telegraf"/>
                <a:ea typeface="Telegraf"/>
                <a:cs typeface="Telegraf"/>
                <a:sym typeface="Telegraf"/>
              </a:rPr>
              <a:t>Apprenticeship Progress</a:t>
            </a:r>
          </a:p>
        </p:txBody>
      </p:sp>
      <p:sp>
        <p:nvSpPr>
          <p:cNvPr id="48" name="TextBox 48"/>
          <p:cNvSpPr txBox="1"/>
          <p:nvPr/>
        </p:nvSpPr>
        <p:spPr>
          <a:xfrm>
            <a:off x="1080041" y="3917540"/>
            <a:ext cx="2504391" cy="199029"/>
          </a:xfrm>
          <a:prstGeom prst="rect">
            <a:avLst/>
          </a:prstGeom>
        </p:spPr>
        <p:txBody>
          <a:bodyPr lIns="0" tIns="0" rIns="0" bIns="0" rtlCol="0" anchor="t">
            <a:spAutoFit/>
          </a:bodyPr>
          <a:lstStyle/>
          <a:p>
            <a:pPr algn="ctr" defTabSz="609630">
              <a:lnSpc>
                <a:spcPts val="1705"/>
              </a:lnSpc>
              <a:spcBef>
                <a:spcPct val="0"/>
              </a:spcBef>
            </a:pPr>
            <a:r>
              <a:rPr lang="en-US" sz="1218" b="1">
                <a:solidFill>
                  <a:srgbClr val="26AADC"/>
                </a:solidFill>
                <a:latin typeface="Telegraf Bold"/>
                <a:ea typeface="Telegraf Bold"/>
                <a:cs typeface="Telegraf Bold"/>
                <a:sym typeface="Telegraf Bold"/>
              </a:rPr>
              <a:t>David Lawless</a:t>
            </a:r>
          </a:p>
        </p:txBody>
      </p:sp>
      <p:sp>
        <p:nvSpPr>
          <p:cNvPr id="49" name="TextBox 49"/>
          <p:cNvSpPr txBox="1"/>
          <p:nvPr/>
        </p:nvSpPr>
        <p:spPr>
          <a:xfrm>
            <a:off x="1286611" y="4159640"/>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Lecturer </a:t>
            </a:r>
          </a:p>
          <a:p>
            <a:pPr algn="ctr" defTabSz="609630">
              <a:lnSpc>
                <a:spcPts val="1393"/>
              </a:lnSpc>
              <a:spcBef>
                <a:spcPct val="0"/>
              </a:spcBef>
            </a:pPr>
            <a:r>
              <a:rPr lang="en-US" sz="995">
                <a:solidFill>
                  <a:srgbClr val="000000"/>
                </a:solidFill>
                <a:latin typeface="Telegraf"/>
                <a:ea typeface="Telegraf"/>
                <a:cs typeface="Telegraf"/>
                <a:sym typeface="Telegraf"/>
              </a:rPr>
              <a:t>Cyber Security Specialist</a:t>
            </a:r>
          </a:p>
        </p:txBody>
      </p:sp>
      <p:sp>
        <p:nvSpPr>
          <p:cNvPr id="50" name="TextBox 50"/>
          <p:cNvSpPr txBox="1"/>
          <p:nvPr/>
        </p:nvSpPr>
        <p:spPr>
          <a:xfrm>
            <a:off x="3631825" y="3917540"/>
            <a:ext cx="2504391" cy="199029"/>
          </a:xfrm>
          <a:prstGeom prst="rect">
            <a:avLst/>
          </a:prstGeom>
        </p:spPr>
        <p:txBody>
          <a:bodyPr lIns="0" tIns="0" rIns="0" bIns="0" rtlCol="0" anchor="t">
            <a:spAutoFit/>
          </a:bodyPr>
          <a:lstStyle/>
          <a:p>
            <a:pPr algn="ctr" defTabSz="609630">
              <a:lnSpc>
                <a:spcPts val="1705"/>
              </a:lnSpc>
              <a:spcBef>
                <a:spcPct val="0"/>
              </a:spcBef>
            </a:pPr>
            <a:r>
              <a:rPr lang="en-US" sz="1218" b="1">
                <a:solidFill>
                  <a:srgbClr val="26AADC"/>
                </a:solidFill>
                <a:latin typeface="Telegraf Bold"/>
                <a:ea typeface="Telegraf Bold"/>
                <a:cs typeface="Telegraf Bold"/>
                <a:sym typeface="Telegraf Bold"/>
              </a:rPr>
              <a:t>Maria Anthony</a:t>
            </a:r>
          </a:p>
        </p:txBody>
      </p:sp>
      <p:sp>
        <p:nvSpPr>
          <p:cNvPr id="51" name="TextBox 51"/>
          <p:cNvSpPr txBox="1"/>
          <p:nvPr/>
        </p:nvSpPr>
        <p:spPr>
          <a:xfrm>
            <a:off x="3838396" y="4159640"/>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Lecturer </a:t>
            </a:r>
          </a:p>
          <a:p>
            <a:pPr algn="ctr" defTabSz="609630">
              <a:lnSpc>
                <a:spcPts val="1393"/>
              </a:lnSpc>
              <a:spcBef>
                <a:spcPct val="0"/>
              </a:spcBef>
            </a:pPr>
            <a:r>
              <a:rPr lang="en-US" sz="995">
                <a:solidFill>
                  <a:srgbClr val="000000"/>
                </a:solidFill>
                <a:latin typeface="Telegraf"/>
                <a:ea typeface="Telegraf"/>
                <a:cs typeface="Telegraf"/>
                <a:sym typeface="Telegraf"/>
              </a:rPr>
              <a:t>Data Analyst Specialist</a:t>
            </a:r>
          </a:p>
        </p:txBody>
      </p:sp>
      <p:sp>
        <p:nvSpPr>
          <p:cNvPr id="52" name="TextBox 52"/>
          <p:cNvSpPr txBox="1"/>
          <p:nvPr/>
        </p:nvSpPr>
        <p:spPr>
          <a:xfrm>
            <a:off x="6180666" y="3917540"/>
            <a:ext cx="2504391" cy="199029"/>
          </a:xfrm>
          <a:prstGeom prst="rect">
            <a:avLst/>
          </a:prstGeom>
        </p:spPr>
        <p:txBody>
          <a:bodyPr lIns="0" tIns="0" rIns="0" bIns="0" rtlCol="0" anchor="t">
            <a:spAutoFit/>
          </a:bodyPr>
          <a:lstStyle>
            <a:defPPr>
              <a:defRPr lang="en-US"/>
            </a:defPPr>
            <a:lvl1pPr algn="ctr" defTabSz="609630">
              <a:lnSpc>
                <a:spcPts val="1705"/>
              </a:lnSpc>
              <a:spcBef>
                <a:spcPct val="0"/>
              </a:spcBef>
              <a:defRPr sz="1218" b="1">
                <a:solidFill>
                  <a:srgbClr val="26AADC"/>
                </a:solidFill>
                <a:latin typeface="+mj-lt"/>
                <a:ea typeface="Telegraf Bold"/>
                <a:cs typeface="Telegraf Bold"/>
              </a:defRPr>
            </a:lvl1pPr>
          </a:lstStyle>
          <a:p>
            <a:r>
              <a:rPr lang="en-US" dirty="0">
                <a:sym typeface="Telegraf Bold"/>
              </a:rPr>
              <a:t>Jason Walker</a:t>
            </a:r>
          </a:p>
        </p:txBody>
      </p:sp>
      <p:sp>
        <p:nvSpPr>
          <p:cNvPr id="53" name="TextBox 53"/>
          <p:cNvSpPr txBox="1"/>
          <p:nvPr/>
        </p:nvSpPr>
        <p:spPr>
          <a:xfrm>
            <a:off x="6387237" y="4159640"/>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Lecturer </a:t>
            </a:r>
          </a:p>
          <a:p>
            <a:pPr algn="ctr" defTabSz="609630">
              <a:lnSpc>
                <a:spcPts val="1393"/>
              </a:lnSpc>
              <a:spcBef>
                <a:spcPct val="0"/>
              </a:spcBef>
            </a:pPr>
            <a:r>
              <a:rPr lang="en-US" sz="995">
                <a:solidFill>
                  <a:srgbClr val="000000"/>
                </a:solidFill>
                <a:latin typeface="Telegraf"/>
                <a:ea typeface="Telegraf"/>
                <a:cs typeface="Telegraf"/>
                <a:sym typeface="Telegraf"/>
              </a:rPr>
              <a:t>Software Engineer Specialist</a:t>
            </a:r>
          </a:p>
        </p:txBody>
      </p:sp>
      <p:sp>
        <p:nvSpPr>
          <p:cNvPr id="54" name="TextBox 54"/>
          <p:cNvSpPr txBox="1"/>
          <p:nvPr/>
        </p:nvSpPr>
        <p:spPr>
          <a:xfrm>
            <a:off x="8732451" y="3917540"/>
            <a:ext cx="2504391" cy="204736"/>
          </a:xfrm>
          <a:prstGeom prst="rect">
            <a:avLst/>
          </a:prstGeom>
        </p:spPr>
        <p:txBody>
          <a:bodyPr lIns="0" tIns="0" rIns="0" bIns="0" rtlCol="0" anchor="t">
            <a:spAutoFit/>
          </a:bodyPr>
          <a:lstStyle/>
          <a:p>
            <a:pPr algn="ctr" defTabSz="609630">
              <a:lnSpc>
                <a:spcPts val="1705"/>
              </a:lnSpc>
              <a:spcBef>
                <a:spcPct val="0"/>
              </a:spcBef>
            </a:pPr>
            <a:r>
              <a:rPr lang="en-US" sz="1218" b="1" dirty="0">
                <a:solidFill>
                  <a:srgbClr val="26AADC"/>
                </a:solidFill>
                <a:latin typeface="+mj-lt"/>
                <a:sym typeface="Telegraf Bold"/>
              </a:rPr>
              <a:t>Kyle Cameron</a:t>
            </a:r>
          </a:p>
        </p:txBody>
      </p:sp>
      <p:sp>
        <p:nvSpPr>
          <p:cNvPr id="55" name="TextBox 55"/>
          <p:cNvSpPr txBox="1"/>
          <p:nvPr/>
        </p:nvSpPr>
        <p:spPr>
          <a:xfrm>
            <a:off x="8939022" y="4159640"/>
            <a:ext cx="2091249" cy="343235"/>
          </a:xfrm>
          <a:prstGeom prst="rect">
            <a:avLst/>
          </a:prstGeom>
        </p:spPr>
        <p:txBody>
          <a:bodyPr lIns="0" tIns="0" rIns="0" bIns="0" rtlCol="0" anchor="t">
            <a:spAutoFit/>
          </a:bodyPr>
          <a:lstStyle/>
          <a:p>
            <a:pPr algn="ctr" defTabSz="609630">
              <a:lnSpc>
                <a:spcPts val="1393"/>
              </a:lnSpc>
            </a:pPr>
            <a:r>
              <a:rPr lang="en-US" sz="995" b="1">
                <a:solidFill>
                  <a:srgbClr val="000000"/>
                </a:solidFill>
                <a:latin typeface="Telegraf Bold"/>
                <a:ea typeface="Telegraf Bold"/>
                <a:cs typeface="Telegraf Bold"/>
                <a:sym typeface="Telegraf Bold"/>
              </a:rPr>
              <a:t>Lecturer </a:t>
            </a:r>
          </a:p>
          <a:p>
            <a:pPr algn="ctr" defTabSz="609630">
              <a:lnSpc>
                <a:spcPts val="1393"/>
              </a:lnSpc>
              <a:spcBef>
                <a:spcPct val="0"/>
              </a:spcBef>
            </a:pPr>
            <a:r>
              <a:rPr lang="en-US" sz="995">
                <a:solidFill>
                  <a:srgbClr val="000000"/>
                </a:solidFill>
                <a:latin typeface="Telegraf"/>
                <a:ea typeface="Telegraf"/>
                <a:cs typeface="Telegraf"/>
                <a:sym typeface="Telegraf"/>
              </a:rPr>
              <a:t>Network Engineer Specialist</a:t>
            </a:r>
          </a:p>
        </p:txBody>
      </p:sp>
      <p:grpSp>
        <p:nvGrpSpPr>
          <p:cNvPr id="56" name="Group 36">
            <a:extLst>
              <a:ext uri="{FF2B5EF4-FFF2-40B4-BE49-F238E27FC236}">
                <a16:creationId xmlns:a16="http://schemas.microsoft.com/office/drawing/2014/main" id="{72844AAE-A5CC-B898-CB0C-D1E340BAA637}"/>
              </a:ext>
            </a:extLst>
          </p:cNvPr>
          <p:cNvGrpSpPr/>
          <p:nvPr/>
        </p:nvGrpSpPr>
        <p:grpSpPr>
          <a:xfrm>
            <a:off x="9030800" y="3176177"/>
            <a:ext cx="2364162" cy="425048"/>
            <a:chOff x="0" y="0"/>
            <a:chExt cx="1144074" cy="205691"/>
          </a:xfrm>
        </p:grpSpPr>
        <p:sp>
          <p:nvSpPr>
            <p:cNvPr id="57" name="Freeform 37">
              <a:extLst>
                <a:ext uri="{FF2B5EF4-FFF2-40B4-BE49-F238E27FC236}">
                  <a16:creationId xmlns:a16="http://schemas.microsoft.com/office/drawing/2014/main" id="{CB0A6E33-6C18-FD53-FE36-815D9C0273ED}"/>
                </a:ext>
              </a:extLst>
            </p:cNvPr>
            <p:cNvSpPr/>
            <p:nvPr/>
          </p:nvSpPr>
          <p:spPr>
            <a:xfrm>
              <a:off x="0" y="0"/>
              <a:ext cx="1144074" cy="205691"/>
            </a:xfrm>
            <a:custGeom>
              <a:avLst/>
              <a:gdLst/>
              <a:ahLst/>
              <a:cxnLst/>
              <a:rect l="l" t="t" r="r" b="b"/>
              <a:pathLst>
                <a:path w="1144074" h="205691">
                  <a:moveTo>
                    <a:pt x="0" y="0"/>
                  </a:moveTo>
                  <a:lnTo>
                    <a:pt x="1144074" y="0"/>
                  </a:lnTo>
                  <a:lnTo>
                    <a:pt x="1144074" y="205691"/>
                  </a:lnTo>
                  <a:lnTo>
                    <a:pt x="0" y="205691"/>
                  </a:lnTo>
                  <a:close/>
                </a:path>
              </a:pathLst>
            </a:custGeom>
            <a:solidFill>
              <a:srgbClr val="F1B34A"/>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58" name="TextBox 38">
              <a:extLst>
                <a:ext uri="{FF2B5EF4-FFF2-40B4-BE49-F238E27FC236}">
                  <a16:creationId xmlns:a16="http://schemas.microsoft.com/office/drawing/2014/main" id="{9FEDF975-2957-A2CE-57B6-7090F6423282}"/>
                </a:ext>
              </a:extLst>
            </p:cNvPr>
            <p:cNvSpPr txBox="1"/>
            <p:nvPr/>
          </p:nvSpPr>
          <p:spPr>
            <a:xfrm>
              <a:off x="0" y="-66675"/>
              <a:ext cx="1144074" cy="2723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61" name="TextBox 55">
            <a:extLst>
              <a:ext uri="{FF2B5EF4-FFF2-40B4-BE49-F238E27FC236}">
                <a16:creationId xmlns:a16="http://schemas.microsoft.com/office/drawing/2014/main" id="{8BBA97E0-C637-D4BF-950B-FC87C8EF0D40}"/>
              </a:ext>
            </a:extLst>
          </p:cNvPr>
          <p:cNvSpPr txBox="1"/>
          <p:nvPr/>
        </p:nvSpPr>
        <p:spPr>
          <a:xfrm>
            <a:off x="9167257" y="1655880"/>
            <a:ext cx="2091249" cy="347852"/>
          </a:xfrm>
          <a:prstGeom prst="rect">
            <a:avLst/>
          </a:prstGeom>
        </p:spPr>
        <p:txBody>
          <a:bodyPr lIns="0" tIns="0" rIns="0" bIns="0" rtlCol="0" anchor="t">
            <a:spAutoFit/>
          </a:bodyPr>
          <a:lstStyle/>
          <a:p>
            <a:pPr algn="ctr" defTabSz="609630">
              <a:lnSpc>
                <a:spcPts val="1393"/>
              </a:lnSpc>
            </a:pPr>
            <a:r>
              <a:rPr lang="en-US" sz="995" b="1" dirty="0">
                <a:solidFill>
                  <a:srgbClr val="000000"/>
                </a:solidFill>
                <a:latin typeface="Telegraf Bold"/>
                <a:ea typeface="Telegraf Bold"/>
                <a:cs typeface="Telegraf Bold"/>
                <a:sym typeface="Telegraf Bold"/>
              </a:rPr>
              <a:t>Trainer </a:t>
            </a:r>
          </a:p>
          <a:p>
            <a:pPr algn="ctr" defTabSz="609630">
              <a:lnSpc>
                <a:spcPts val="1393"/>
              </a:lnSpc>
              <a:spcBef>
                <a:spcPct val="0"/>
              </a:spcBef>
            </a:pPr>
            <a:r>
              <a:rPr lang="en-US" sz="995" dirty="0">
                <a:solidFill>
                  <a:srgbClr val="000000"/>
                </a:solidFill>
                <a:latin typeface="Telegraf"/>
                <a:ea typeface="Telegraf"/>
                <a:cs typeface="Telegraf"/>
                <a:sym typeface="Telegraf"/>
              </a:rPr>
              <a:t>Apprenticeship Progress</a:t>
            </a:r>
          </a:p>
        </p:txBody>
      </p:sp>
      <p:sp>
        <p:nvSpPr>
          <p:cNvPr id="62" name="TextBox 46">
            <a:extLst>
              <a:ext uri="{FF2B5EF4-FFF2-40B4-BE49-F238E27FC236}">
                <a16:creationId xmlns:a16="http://schemas.microsoft.com/office/drawing/2014/main" id="{D006C084-9655-FD4C-7B22-1A890EF416C2}"/>
              </a:ext>
            </a:extLst>
          </p:cNvPr>
          <p:cNvSpPr txBox="1"/>
          <p:nvPr/>
        </p:nvSpPr>
        <p:spPr>
          <a:xfrm>
            <a:off x="8908463" y="1411195"/>
            <a:ext cx="2504391" cy="204736"/>
          </a:xfrm>
          <a:prstGeom prst="rect">
            <a:avLst/>
          </a:prstGeom>
        </p:spPr>
        <p:txBody>
          <a:bodyPr lIns="0" tIns="0" rIns="0" bIns="0" rtlCol="0" anchor="t">
            <a:spAutoFit/>
          </a:bodyPr>
          <a:lstStyle/>
          <a:p>
            <a:pPr algn="ctr" defTabSz="609630">
              <a:lnSpc>
                <a:spcPts val="1705"/>
              </a:lnSpc>
              <a:spcBef>
                <a:spcPct val="0"/>
              </a:spcBef>
            </a:pPr>
            <a:r>
              <a:rPr lang="en-US" sz="1218" b="1" dirty="0">
                <a:solidFill>
                  <a:srgbClr val="26AADC"/>
                </a:solidFill>
                <a:latin typeface="Telegraf Bold"/>
                <a:ea typeface="Telegraf Bold"/>
                <a:cs typeface="Telegraf Bold"/>
                <a:sym typeface="Telegraf Bold"/>
              </a:rPr>
              <a:t>Clare Ruckledge</a:t>
            </a:r>
          </a:p>
        </p:txBody>
      </p:sp>
      <p:pic>
        <p:nvPicPr>
          <p:cNvPr id="65" name="Picture 64">
            <a:extLst>
              <a:ext uri="{FF2B5EF4-FFF2-40B4-BE49-F238E27FC236}">
                <a16:creationId xmlns:a16="http://schemas.microsoft.com/office/drawing/2014/main" id="{6BFFB0CE-1FCB-D638-F492-37E3DB5F4ABD}"/>
              </a:ext>
            </a:extLst>
          </p:cNvPr>
          <p:cNvPicPr>
            <a:picLocks noChangeAspect="1"/>
          </p:cNvPicPr>
          <p:nvPr/>
        </p:nvPicPr>
        <p:blipFill>
          <a:blip r:embed="rId10"/>
          <a:srcRect l="4276" r="10359"/>
          <a:stretch/>
        </p:blipFill>
        <p:spPr>
          <a:xfrm>
            <a:off x="9526036" y="1987770"/>
            <a:ext cx="1258432" cy="146193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2192000" cy="1261742"/>
            <a:chOff x="0" y="0"/>
            <a:chExt cx="4816593" cy="498466"/>
          </a:xfrm>
        </p:grpSpPr>
        <p:sp>
          <p:nvSpPr>
            <p:cNvPr id="3" name="Freeform 3"/>
            <p:cNvSpPr/>
            <p:nvPr/>
          </p:nvSpPr>
          <p:spPr>
            <a:xfrm>
              <a:off x="0" y="0"/>
              <a:ext cx="4816592" cy="498466"/>
            </a:xfrm>
            <a:custGeom>
              <a:avLst/>
              <a:gdLst/>
              <a:ahLst/>
              <a:cxnLst/>
              <a:rect l="l" t="t" r="r" b="b"/>
              <a:pathLst>
                <a:path w="4816592" h="498466">
                  <a:moveTo>
                    <a:pt x="0" y="0"/>
                  </a:moveTo>
                  <a:lnTo>
                    <a:pt x="4816592" y="0"/>
                  </a:lnTo>
                  <a:lnTo>
                    <a:pt x="4816592" y="498466"/>
                  </a:lnTo>
                  <a:lnTo>
                    <a:pt x="0" y="498466"/>
                  </a:lnTo>
                  <a:close/>
                </a:path>
              </a:pathLst>
            </a:custGeom>
            <a:solidFill>
              <a:srgbClr val="5372FE"/>
            </a:solidFill>
            <a:ln w="38100" cap="sq">
              <a:solidFill>
                <a:srgbClr val="000000"/>
              </a:solidFill>
              <a:prstDash val="solid"/>
              <a:miter/>
            </a:ln>
          </p:spPr>
          <p:txBody>
            <a:bodyPr/>
            <a:lstStyle/>
            <a:p>
              <a:pPr defTabSz="609630"/>
              <a:endParaRPr lang="en-GB" sz="1200">
                <a:solidFill>
                  <a:prstClr val="black"/>
                </a:solidFill>
                <a:latin typeface="Calibri"/>
              </a:endParaRPr>
            </a:p>
          </p:txBody>
        </p:sp>
        <p:sp>
          <p:nvSpPr>
            <p:cNvPr id="4" name="TextBox 4"/>
            <p:cNvSpPr txBox="1"/>
            <p:nvPr/>
          </p:nvSpPr>
          <p:spPr>
            <a:xfrm>
              <a:off x="0" y="-38100"/>
              <a:ext cx="4816593" cy="536566"/>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5" name="Freeform 5"/>
          <p:cNvSpPr/>
          <p:nvPr/>
        </p:nvSpPr>
        <p:spPr>
          <a:xfrm>
            <a:off x="10940810" y="5636926"/>
            <a:ext cx="1257540" cy="1252824"/>
          </a:xfrm>
          <a:custGeom>
            <a:avLst/>
            <a:gdLst/>
            <a:ahLst/>
            <a:cxnLst/>
            <a:rect l="l" t="t" r="r" b="b"/>
            <a:pathLst>
              <a:path w="1886310" h="1879236">
                <a:moveTo>
                  <a:pt x="0" y="0"/>
                </a:moveTo>
                <a:lnTo>
                  <a:pt x="1886310" y="0"/>
                </a:lnTo>
                <a:lnTo>
                  <a:pt x="1886310" y="1879236"/>
                </a:lnTo>
                <a:lnTo>
                  <a:pt x="0" y="1879236"/>
                </a:lnTo>
                <a:lnTo>
                  <a:pt x="0" y="0"/>
                </a:lnTo>
                <a:close/>
              </a:path>
            </a:pathLst>
          </a:custGeom>
          <a:blipFill>
            <a:blip r:embed="rId4"/>
            <a:stretch>
              <a:fillRect/>
            </a:stretch>
          </a:blipFill>
        </p:spPr>
        <p:txBody>
          <a:bodyPr/>
          <a:lstStyle/>
          <a:p>
            <a:pPr defTabSz="609630"/>
            <a:endParaRPr lang="en-GB" sz="1200">
              <a:solidFill>
                <a:prstClr val="black"/>
              </a:solidFill>
              <a:latin typeface="Calibri"/>
            </a:endParaRPr>
          </a:p>
        </p:txBody>
      </p:sp>
      <p:pic>
        <p:nvPicPr>
          <p:cNvPr id="6" name="Picture 6">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rcRect/>
          <a:stretch>
            <a:fillRect/>
          </a:stretch>
        </p:blipFill>
        <p:spPr>
          <a:xfrm>
            <a:off x="1407448" y="1390267"/>
            <a:ext cx="9377104" cy="5274621"/>
          </a:xfrm>
          <a:prstGeom prst="rect">
            <a:avLst/>
          </a:prstGeom>
          <a:ln w="38100" cap="rnd">
            <a:solidFill>
              <a:srgbClr val="F1B34A"/>
            </a:solidFill>
            <a:prstDash val="solid"/>
          </a:ln>
        </p:spPr>
      </p:pic>
      <p:sp>
        <p:nvSpPr>
          <p:cNvPr id="7" name="TextBox 7"/>
          <p:cNvSpPr txBox="1"/>
          <p:nvPr/>
        </p:nvSpPr>
        <p:spPr>
          <a:xfrm>
            <a:off x="685800" y="-38100"/>
            <a:ext cx="10820400" cy="1170833"/>
          </a:xfrm>
          <a:prstGeom prst="rect">
            <a:avLst/>
          </a:prstGeom>
        </p:spPr>
        <p:txBody>
          <a:bodyPr lIns="0" tIns="0" rIns="0" bIns="0" rtlCol="0" anchor="t">
            <a:spAutoFit/>
          </a:bodyPr>
          <a:lstStyle/>
          <a:p>
            <a:pPr algn="ctr" defTabSz="609630">
              <a:lnSpc>
                <a:spcPts val="9492"/>
              </a:lnSpc>
            </a:pPr>
            <a:r>
              <a:rPr lang="en-US" sz="7594" dirty="0">
                <a:solidFill>
                  <a:srgbClr val="FFFFFF"/>
                </a:solidFill>
                <a:latin typeface="+mj-lt"/>
                <a:ea typeface="Etna Sans Serif"/>
                <a:cs typeface="Etna Sans Serif"/>
                <a:sym typeface="Etna Sans Serif"/>
              </a:rPr>
              <a:t>Welcome From Colette</a:t>
            </a:r>
          </a:p>
        </p:txBody>
      </p:sp>
    </p:spTree>
  </p:cSld>
  <p:clrMapOvr>
    <a:masterClrMapping/>
  </p:clrMapOvr>
  <p:timing>
    <p:tnLst>
      <p:par>
        <p:cTn id="1" dur="indefinite" restart="never" nodeType="tmRoot">
          <p:childTnLst>
            <p:video>
              <p:cMediaNode vol="100000">
                <p:cTn id="2" fill="hold" display="0">
                  <p:stCondLst>
                    <p:cond delay="indefinite"/>
                  </p:stCondLst>
                </p:cTn>
                <p:tgtEl>
                  <p:spTgt spid="6"/>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E8FE1-0F4F-529B-C101-ACA91596B8C9}"/>
            </a:ext>
          </a:extLst>
        </p:cNvPr>
        <p:cNvGrpSpPr/>
        <p:nvPr/>
      </p:nvGrpSpPr>
      <p:grpSpPr>
        <a:xfrm>
          <a:off x="0" y="0"/>
          <a:ext cx="0" cy="0"/>
          <a:chOff x="0" y="0"/>
          <a:chExt cx="0" cy="0"/>
        </a:xfrm>
      </p:grpSpPr>
      <p:pic>
        <p:nvPicPr>
          <p:cNvPr id="4" name="Picture 2" descr="Blackpool and The Fylde College">
            <a:extLst>
              <a:ext uri="{FF2B5EF4-FFF2-40B4-BE49-F238E27FC236}">
                <a16:creationId xmlns:a16="http://schemas.microsoft.com/office/drawing/2014/main" id="{0FE55870-5FDA-1E52-D175-434779D98B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43126" cy="2101850"/>
          </a:xfrm>
          <a:prstGeom prst="rect">
            <a:avLst/>
          </a:prstGeom>
          <a:solidFill>
            <a:srgbClr val="482E91"/>
          </a:solidFill>
        </p:spPr>
      </p:pic>
      <p:sp>
        <p:nvSpPr>
          <p:cNvPr id="5" name="Rectangle 4">
            <a:extLst>
              <a:ext uri="{FF2B5EF4-FFF2-40B4-BE49-F238E27FC236}">
                <a16:creationId xmlns:a16="http://schemas.microsoft.com/office/drawing/2014/main" id="{53104A0B-DBBE-BC24-3EFF-9DFD97309B0C}"/>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itle 7">
            <a:extLst>
              <a:ext uri="{FF2B5EF4-FFF2-40B4-BE49-F238E27FC236}">
                <a16:creationId xmlns:a16="http://schemas.microsoft.com/office/drawing/2014/main" id="{378905C8-3A96-67DA-A13B-307F69077894}"/>
              </a:ext>
            </a:extLst>
          </p:cNvPr>
          <p:cNvSpPr>
            <a:spLocks noGrp="1"/>
          </p:cNvSpPr>
          <p:nvPr>
            <p:ph type="title"/>
          </p:nvPr>
        </p:nvSpPr>
        <p:spPr>
          <a:xfrm>
            <a:off x="2540352" y="1566249"/>
            <a:ext cx="8428776" cy="3413157"/>
          </a:xfrm>
        </p:spPr>
        <p:txBody>
          <a:bodyPr>
            <a:normAutofit/>
          </a:bodyPr>
          <a:lstStyle/>
          <a:p>
            <a:pPr algn="ctr"/>
            <a:r>
              <a:rPr lang="en-GB" dirty="0"/>
              <a:t>Level 3 </a:t>
            </a:r>
            <a:br>
              <a:rPr lang="en-GB" dirty="0"/>
            </a:br>
            <a:br>
              <a:rPr lang="en-GB" dirty="0"/>
            </a:br>
            <a:r>
              <a:rPr lang="en-GB" dirty="0"/>
              <a:t>Cyber Pathway -David Lawless </a:t>
            </a:r>
            <a:br>
              <a:rPr lang="en-GB" dirty="0"/>
            </a:br>
            <a:r>
              <a:rPr lang="en-GB" dirty="0"/>
              <a:t>&amp;</a:t>
            </a:r>
            <a:br>
              <a:rPr lang="en-GB" dirty="0"/>
            </a:br>
            <a:r>
              <a:rPr lang="en-GB" dirty="0"/>
              <a:t>Software pathway -Jason walker</a:t>
            </a:r>
          </a:p>
        </p:txBody>
      </p:sp>
      <p:pic>
        <p:nvPicPr>
          <p:cNvPr id="9" name="Picture 8">
            <a:extLst>
              <a:ext uri="{FF2B5EF4-FFF2-40B4-BE49-F238E27FC236}">
                <a16:creationId xmlns:a16="http://schemas.microsoft.com/office/drawing/2014/main" id="{7523A8C6-7EF2-C8CE-5012-E7BE8AE0510D}"/>
              </a:ext>
            </a:extLst>
          </p:cNvPr>
          <p:cNvPicPr>
            <a:picLocks noChangeAspect="1"/>
          </p:cNvPicPr>
          <p:nvPr/>
        </p:nvPicPr>
        <p:blipFill>
          <a:blip r:embed="rId3"/>
          <a:stretch>
            <a:fillRect/>
          </a:stretch>
        </p:blipFill>
        <p:spPr>
          <a:xfrm>
            <a:off x="325925" y="4753033"/>
            <a:ext cx="1672281" cy="2104967"/>
          </a:xfrm>
          <a:prstGeom prst="rect">
            <a:avLst/>
          </a:prstGeom>
        </p:spPr>
      </p:pic>
      <p:pic>
        <p:nvPicPr>
          <p:cNvPr id="11" name="Picture 10" descr="A screen shot of a computer&#10;&#10;AI-generated content may be incorrect.">
            <a:extLst>
              <a:ext uri="{FF2B5EF4-FFF2-40B4-BE49-F238E27FC236}">
                <a16:creationId xmlns:a16="http://schemas.microsoft.com/office/drawing/2014/main" id="{F911A2B2-BF8D-F731-FA39-A16F599707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43126" y="0"/>
            <a:ext cx="10048874" cy="1457608"/>
          </a:xfrm>
          <a:prstGeom prst="rect">
            <a:avLst/>
          </a:prstGeom>
        </p:spPr>
      </p:pic>
    </p:spTree>
    <p:extLst>
      <p:ext uri="{BB962C8B-B14F-4D97-AF65-F5344CB8AC3E}">
        <p14:creationId xmlns:p14="http://schemas.microsoft.com/office/powerpoint/2010/main" val="800625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1000" fill="hold"/>
                                        <p:tgtEl>
                                          <p:spTgt spid="9"/>
                                        </p:tgtEl>
                                        <p:attrNameLst>
                                          <p:attrName>ppt_w</p:attrName>
                                        </p:attrNameLst>
                                      </p:cBhvr>
                                      <p:tavLst>
                                        <p:tav tm="0">
                                          <p:val>
                                            <p:fltVal val="0"/>
                                          </p:val>
                                        </p:tav>
                                        <p:tav tm="100000">
                                          <p:val>
                                            <p:strVal val="#ppt_w"/>
                                          </p:val>
                                        </p:tav>
                                      </p:tavLst>
                                    </p:anim>
                                    <p:anim calcmode="lin" valueType="num">
                                      <p:cBhvr>
                                        <p:cTn id="8" dur="1000" fill="hold"/>
                                        <p:tgtEl>
                                          <p:spTgt spid="9"/>
                                        </p:tgtEl>
                                        <p:attrNameLst>
                                          <p:attrName>ppt_h</p:attrName>
                                        </p:attrNameLst>
                                      </p:cBhvr>
                                      <p:tavLst>
                                        <p:tav tm="0">
                                          <p:val>
                                            <p:fltVal val="0"/>
                                          </p:val>
                                        </p:tav>
                                        <p:tav tm="100000">
                                          <p:val>
                                            <p:strVal val="#ppt_h"/>
                                          </p:val>
                                        </p:tav>
                                      </p:tavLst>
                                    </p:anim>
                                    <p:anim calcmode="lin" valueType="num">
                                      <p:cBhvr>
                                        <p:cTn id="9" dur="1000" fill="hold"/>
                                        <p:tgtEl>
                                          <p:spTgt spid="9"/>
                                        </p:tgtEl>
                                        <p:attrNameLst>
                                          <p:attrName>style.rotation</p:attrName>
                                        </p:attrNameLst>
                                      </p:cBhvr>
                                      <p:tavLst>
                                        <p:tav tm="0">
                                          <p:val>
                                            <p:fltVal val="90"/>
                                          </p:val>
                                        </p:tav>
                                        <p:tav tm="100000">
                                          <p:val>
                                            <p:fltVal val="0"/>
                                          </p:val>
                                        </p:tav>
                                      </p:tavLst>
                                    </p:anim>
                                    <p:animEffect transition="in" filter="fade">
                                      <p:cBhvr>
                                        <p:cTn id="10" dur="10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 calcmode="lin" valueType="num">
                                      <p:cBhvr>
                                        <p:cTn id="15" dur="1000" fill="hold"/>
                                        <p:tgtEl>
                                          <p:spTgt spid="4"/>
                                        </p:tgtEl>
                                        <p:attrNameLst>
                                          <p:attrName>ppt_w</p:attrName>
                                        </p:attrNameLst>
                                      </p:cBhvr>
                                      <p:tavLst>
                                        <p:tav tm="0">
                                          <p:val>
                                            <p:fltVal val="0"/>
                                          </p:val>
                                        </p:tav>
                                        <p:tav tm="100000">
                                          <p:val>
                                            <p:strVal val="#ppt_w"/>
                                          </p:val>
                                        </p:tav>
                                      </p:tavLst>
                                    </p:anim>
                                    <p:anim calcmode="lin" valueType="num">
                                      <p:cBhvr>
                                        <p:cTn id="16" dur="1000" fill="hold"/>
                                        <p:tgtEl>
                                          <p:spTgt spid="4"/>
                                        </p:tgtEl>
                                        <p:attrNameLst>
                                          <p:attrName>ppt_h</p:attrName>
                                        </p:attrNameLst>
                                      </p:cBhvr>
                                      <p:tavLst>
                                        <p:tav tm="0">
                                          <p:val>
                                            <p:fltVal val="0"/>
                                          </p:val>
                                        </p:tav>
                                        <p:tav tm="100000">
                                          <p:val>
                                            <p:strVal val="#ppt_h"/>
                                          </p:val>
                                        </p:tav>
                                      </p:tavLst>
                                    </p:anim>
                                    <p:anim calcmode="lin" valueType="num">
                                      <p:cBhvr>
                                        <p:cTn id="17" dur="1000" fill="hold"/>
                                        <p:tgtEl>
                                          <p:spTgt spid="4"/>
                                        </p:tgtEl>
                                        <p:attrNameLst>
                                          <p:attrName>style.rotation</p:attrName>
                                        </p:attrNameLst>
                                      </p:cBhvr>
                                      <p:tavLst>
                                        <p:tav tm="0">
                                          <p:val>
                                            <p:fltVal val="90"/>
                                          </p:val>
                                        </p:tav>
                                        <p:tav tm="100000">
                                          <p:val>
                                            <p:fltVal val="0"/>
                                          </p:val>
                                        </p:tav>
                                      </p:tavLst>
                                    </p:anim>
                                    <p:animEffect transition="in" filter="fade">
                                      <p:cBhvr>
                                        <p:cTn id="18"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940233" y="47404"/>
            <a:ext cx="3251766" cy="6763192"/>
            <a:chOff x="0" y="0"/>
            <a:chExt cx="449784" cy="609600"/>
          </a:xfrm>
        </p:grpSpPr>
        <p:sp>
          <p:nvSpPr>
            <p:cNvPr id="4" name="Freeform 4"/>
            <p:cNvSpPr/>
            <p:nvPr/>
          </p:nvSpPr>
          <p:spPr>
            <a:xfrm>
              <a:off x="0" y="0"/>
              <a:ext cx="449784" cy="609600"/>
            </a:xfrm>
            <a:custGeom>
              <a:avLst/>
              <a:gdLst/>
              <a:ahLst/>
              <a:cxnLst/>
              <a:rect l="l" t="t" r="r" b="b"/>
              <a:pathLst>
                <a:path w="449784" h="609600">
                  <a:moveTo>
                    <a:pt x="246584" y="0"/>
                  </a:moveTo>
                  <a:lnTo>
                    <a:pt x="0" y="0"/>
                  </a:lnTo>
                  <a:lnTo>
                    <a:pt x="203200" y="609600"/>
                  </a:lnTo>
                  <a:lnTo>
                    <a:pt x="449784" y="609600"/>
                  </a:lnTo>
                  <a:lnTo>
                    <a:pt x="246584" y="0"/>
                  </a:lnTo>
                  <a:close/>
                </a:path>
              </a:pathLst>
            </a:custGeom>
            <a:solidFill>
              <a:srgbClr val="5372FE"/>
            </a:solidFill>
          </p:spPr>
          <p:txBody>
            <a:bodyPr/>
            <a:lstStyle/>
            <a:p>
              <a:pPr defTabSz="609630"/>
              <a:endParaRPr lang="en-GB" sz="1200">
                <a:solidFill>
                  <a:prstClr val="black"/>
                </a:solidFill>
                <a:latin typeface="Calibri"/>
              </a:endParaRPr>
            </a:p>
          </p:txBody>
        </p:sp>
        <p:sp>
          <p:nvSpPr>
            <p:cNvPr id="5" name="TextBox 5"/>
            <p:cNvSpPr txBox="1"/>
            <p:nvPr/>
          </p:nvSpPr>
          <p:spPr>
            <a:xfrm>
              <a:off x="101600" y="-38100"/>
              <a:ext cx="246584"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6" name="Group 6"/>
          <p:cNvGrpSpPr/>
          <p:nvPr/>
        </p:nvGrpSpPr>
        <p:grpSpPr>
          <a:xfrm>
            <a:off x="9574621" y="0"/>
            <a:ext cx="1948457" cy="1914320"/>
            <a:chOff x="0" y="0"/>
            <a:chExt cx="406400" cy="609600"/>
          </a:xfrm>
        </p:grpSpPr>
        <p:sp>
          <p:nvSpPr>
            <p:cNvPr id="7" name="Freeform 7"/>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F1B34A"/>
            </a:solidFill>
          </p:spPr>
          <p:txBody>
            <a:bodyPr/>
            <a:lstStyle/>
            <a:p>
              <a:pPr defTabSz="609630"/>
              <a:endParaRPr lang="en-GB" sz="1200">
                <a:solidFill>
                  <a:prstClr val="black"/>
                </a:solidFill>
                <a:latin typeface="Calibri"/>
              </a:endParaRPr>
            </a:p>
          </p:txBody>
        </p:sp>
        <p:sp>
          <p:nvSpPr>
            <p:cNvPr id="8" name="TextBox 8"/>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9" name="Group 9"/>
          <p:cNvGrpSpPr/>
          <p:nvPr/>
        </p:nvGrpSpPr>
        <p:grpSpPr>
          <a:xfrm>
            <a:off x="7407265" y="0"/>
            <a:ext cx="1226374" cy="1000016"/>
            <a:chOff x="0" y="0"/>
            <a:chExt cx="406400" cy="609600"/>
          </a:xfrm>
        </p:grpSpPr>
        <p:sp>
          <p:nvSpPr>
            <p:cNvPr id="10" name="Freeform 10"/>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F1B34A"/>
            </a:solidFill>
            <a:ln cap="sq">
              <a:noFill/>
              <a:prstDash val="solid"/>
              <a:miter/>
            </a:ln>
          </p:spPr>
          <p:txBody>
            <a:bodyPr/>
            <a:lstStyle/>
            <a:p>
              <a:pPr defTabSz="609630"/>
              <a:endParaRPr lang="en-GB" sz="1200">
                <a:solidFill>
                  <a:prstClr val="black"/>
                </a:solidFill>
                <a:latin typeface="Calibri"/>
              </a:endParaRPr>
            </a:p>
          </p:txBody>
        </p:sp>
        <p:sp>
          <p:nvSpPr>
            <p:cNvPr id="11" name="TextBox 11"/>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12" name="Group 12"/>
          <p:cNvGrpSpPr/>
          <p:nvPr/>
        </p:nvGrpSpPr>
        <p:grpSpPr>
          <a:xfrm>
            <a:off x="7407265" y="0"/>
            <a:ext cx="1728472" cy="1317564"/>
            <a:chOff x="0" y="0"/>
            <a:chExt cx="406400" cy="609600"/>
          </a:xfrm>
        </p:grpSpPr>
        <p:sp>
          <p:nvSpPr>
            <p:cNvPr id="13" name="Freeform 13"/>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5372FE"/>
            </a:solidFill>
            <a:ln w="66675" cap="sq">
              <a:solidFill>
                <a:srgbClr val="F1B34A"/>
              </a:solidFill>
              <a:prstDash val="solid"/>
              <a:miter/>
            </a:ln>
          </p:spPr>
          <p:txBody>
            <a:bodyPr/>
            <a:lstStyle/>
            <a:p>
              <a:pPr defTabSz="609630"/>
              <a:endParaRPr lang="en-GB" sz="1200">
                <a:solidFill>
                  <a:prstClr val="black"/>
                </a:solidFill>
                <a:latin typeface="Calibri"/>
              </a:endParaRPr>
            </a:p>
          </p:txBody>
        </p:sp>
        <p:sp>
          <p:nvSpPr>
            <p:cNvPr id="14" name="TextBox 14"/>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15" name="Group 15"/>
          <p:cNvGrpSpPr/>
          <p:nvPr/>
        </p:nvGrpSpPr>
        <p:grpSpPr>
          <a:xfrm rot="-10800000">
            <a:off x="8809533" y="5490150"/>
            <a:ext cx="1117576" cy="1367850"/>
            <a:chOff x="0" y="0"/>
            <a:chExt cx="406400" cy="609600"/>
          </a:xfrm>
        </p:grpSpPr>
        <p:sp>
          <p:nvSpPr>
            <p:cNvPr id="16" name="Freeform 16"/>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5372FE"/>
            </a:solidFill>
            <a:ln cap="sq">
              <a:noFill/>
              <a:prstDash val="solid"/>
              <a:miter/>
            </a:ln>
          </p:spPr>
          <p:txBody>
            <a:bodyPr/>
            <a:lstStyle/>
            <a:p>
              <a:pPr defTabSz="609630"/>
              <a:endParaRPr lang="en-GB" sz="1200">
                <a:solidFill>
                  <a:prstClr val="black"/>
                </a:solidFill>
                <a:latin typeface="Calibri"/>
              </a:endParaRPr>
            </a:p>
          </p:txBody>
        </p:sp>
        <p:sp>
          <p:nvSpPr>
            <p:cNvPr id="17" name="TextBox 17"/>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18" name="Group 18"/>
          <p:cNvGrpSpPr/>
          <p:nvPr/>
        </p:nvGrpSpPr>
        <p:grpSpPr>
          <a:xfrm rot="-10800000">
            <a:off x="9338183" y="5442742"/>
            <a:ext cx="951413" cy="1367853"/>
            <a:chOff x="0" y="0"/>
            <a:chExt cx="406400" cy="609600"/>
          </a:xfrm>
        </p:grpSpPr>
        <p:sp>
          <p:nvSpPr>
            <p:cNvPr id="19" name="Freeform 19"/>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000000">
                <a:alpha val="0"/>
              </a:srgbClr>
            </a:solidFill>
            <a:ln w="66675" cap="sq">
              <a:solidFill>
                <a:srgbClr val="F1B34A"/>
              </a:solidFill>
              <a:prstDash val="solid"/>
              <a:miter/>
            </a:ln>
          </p:spPr>
          <p:txBody>
            <a:bodyPr/>
            <a:lstStyle/>
            <a:p>
              <a:pPr defTabSz="609630"/>
              <a:endParaRPr lang="en-GB" sz="1200">
                <a:solidFill>
                  <a:prstClr val="black"/>
                </a:solidFill>
                <a:latin typeface="Calibri"/>
              </a:endParaRPr>
            </a:p>
          </p:txBody>
        </p:sp>
        <p:sp>
          <p:nvSpPr>
            <p:cNvPr id="20" name="TextBox 20"/>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21" name="Group 21"/>
          <p:cNvGrpSpPr/>
          <p:nvPr/>
        </p:nvGrpSpPr>
        <p:grpSpPr>
          <a:xfrm>
            <a:off x="9717664" y="2380495"/>
            <a:ext cx="2390943" cy="4086497"/>
            <a:chOff x="0" y="0"/>
            <a:chExt cx="406400" cy="609600"/>
          </a:xfrm>
        </p:grpSpPr>
        <p:sp>
          <p:nvSpPr>
            <p:cNvPr id="22" name="Freeform 22"/>
            <p:cNvSpPr/>
            <p:nvPr/>
          </p:nvSpPr>
          <p:spPr>
            <a:xfrm>
              <a:off x="0" y="0"/>
              <a:ext cx="406400" cy="609600"/>
            </a:xfrm>
            <a:custGeom>
              <a:avLst/>
              <a:gdLst/>
              <a:ahLst/>
              <a:cxnLst/>
              <a:rect l="l" t="t" r="r" b="b"/>
              <a:pathLst>
                <a:path w="406400" h="609600">
                  <a:moveTo>
                    <a:pt x="203200" y="0"/>
                  </a:moveTo>
                  <a:lnTo>
                    <a:pt x="0" y="0"/>
                  </a:lnTo>
                  <a:lnTo>
                    <a:pt x="203200" y="609600"/>
                  </a:lnTo>
                  <a:lnTo>
                    <a:pt x="406400" y="609600"/>
                  </a:lnTo>
                  <a:lnTo>
                    <a:pt x="203200" y="0"/>
                  </a:lnTo>
                  <a:close/>
                </a:path>
              </a:pathLst>
            </a:custGeom>
            <a:solidFill>
              <a:srgbClr val="000000">
                <a:alpha val="0"/>
              </a:srgbClr>
            </a:solidFill>
            <a:ln w="85725" cap="sq">
              <a:solidFill>
                <a:srgbClr val="F1B34A"/>
              </a:solidFill>
              <a:prstDash val="solid"/>
              <a:miter/>
            </a:ln>
          </p:spPr>
          <p:txBody>
            <a:bodyPr/>
            <a:lstStyle/>
            <a:p>
              <a:pPr defTabSz="609630"/>
              <a:endParaRPr lang="en-GB" sz="1200">
                <a:solidFill>
                  <a:prstClr val="black"/>
                </a:solidFill>
                <a:latin typeface="Calibri"/>
              </a:endParaRPr>
            </a:p>
          </p:txBody>
        </p:sp>
        <p:sp>
          <p:nvSpPr>
            <p:cNvPr id="23" name="TextBox 23"/>
            <p:cNvSpPr txBox="1"/>
            <p:nvPr/>
          </p:nvSpPr>
          <p:spPr>
            <a:xfrm>
              <a:off x="101600" y="-38100"/>
              <a:ext cx="203200" cy="647700"/>
            </a:xfrm>
            <a:prstGeom prst="rect">
              <a:avLst/>
            </a:prstGeom>
          </p:spPr>
          <p:txBody>
            <a:bodyPr lIns="33867" tIns="33867" rIns="33867" bIns="33867" rtlCol="0" anchor="ctr"/>
            <a:lstStyle/>
            <a:p>
              <a:pPr algn="ctr" defTabSz="609630">
                <a:lnSpc>
                  <a:spcPts val="1773"/>
                </a:lnSpc>
                <a:spcBef>
                  <a:spcPct val="0"/>
                </a:spcBef>
              </a:pPr>
              <a:endParaRPr sz="1200">
                <a:solidFill>
                  <a:prstClr val="black"/>
                </a:solidFill>
                <a:latin typeface="Calibri"/>
              </a:endParaRPr>
            </a:p>
          </p:txBody>
        </p:sp>
      </p:grpSp>
      <p:grpSp>
        <p:nvGrpSpPr>
          <p:cNvPr id="24" name="Group 24"/>
          <p:cNvGrpSpPr/>
          <p:nvPr/>
        </p:nvGrpSpPr>
        <p:grpSpPr>
          <a:xfrm>
            <a:off x="-450150" y="-147009"/>
            <a:ext cx="7857415" cy="441577"/>
            <a:chOff x="0" y="0"/>
            <a:chExt cx="3104164" cy="174450"/>
          </a:xfrm>
        </p:grpSpPr>
        <p:sp>
          <p:nvSpPr>
            <p:cNvPr id="25" name="Freeform 25"/>
            <p:cNvSpPr/>
            <p:nvPr/>
          </p:nvSpPr>
          <p:spPr>
            <a:xfrm>
              <a:off x="0" y="0"/>
              <a:ext cx="3104164" cy="174450"/>
            </a:xfrm>
            <a:custGeom>
              <a:avLst/>
              <a:gdLst/>
              <a:ahLst/>
              <a:cxnLst/>
              <a:rect l="l" t="t" r="r" b="b"/>
              <a:pathLst>
                <a:path w="3104164" h="174450">
                  <a:moveTo>
                    <a:pt x="0" y="0"/>
                  </a:moveTo>
                  <a:lnTo>
                    <a:pt x="3104164" y="0"/>
                  </a:lnTo>
                  <a:lnTo>
                    <a:pt x="3104164" y="174450"/>
                  </a:lnTo>
                  <a:lnTo>
                    <a:pt x="0" y="174450"/>
                  </a:lnTo>
                  <a:close/>
                </a:path>
              </a:pathLst>
            </a:custGeom>
            <a:solidFill>
              <a:srgbClr val="5372FE"/>
            </a:solidFill>
          </p:spPr>
          <p:txBody>
            <a:bodyPr/>
            <a:lstStyle/>
            <a:p>
              <a:pPr defTabSz="609630"/>
              <a:endParaRPr lang="en-GB" sz="1200">
                <a:solidFill>
                  <a:prstClr val="black"/>
                </a:solidFill>
                <a:latin typeface="Calibri"/>
              </a:endParaRPr>
            </a:p>
          </p:txBody>
        </p:sp>
        <p:sp>
          <p:nvSpPr>
            <p:cNvPr id="26" name="TextBox 26"/>
            <p:cNvSpPr txBox="1"/>
            <p:nvPr/>
          </p:nvSpPr>
          <p:spPr>
            <a:xfrm>
              <a:off x="0" y="-38100"/>
              <a:ext cx="3104164" cy="212550"/>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grpSp>
        <p:nvGrpSpPr>
          <p:cNvPr id="27" name="Group 27"/>
          <p:cNvGrpSpPr/>
          <p:nvPr/>
        </p:nvGrpSpPr>
        <p:grpSpPr>
          <a:xfrm>
            <a:off x="30224" y="6411766"/>
            <a:ext cx="9617492" cy="441577"/>
            <a:chOff x="0" y="0"/>
            <a:chExt cx="3985458" cy="174450"/>
          </a:xfrm>
        </p:grpSpPr>
        <p:sp>
          <p:nvSpPr>
            <p:cNvPr id="28" name="Freeform 28"/>
            <p:cNvSpPr/>
            <p:nvPr/>
          </p:nvSpPr>
          <p:spPr>
            <a:xfrm>
              <a:off x="0" y="0"/>
              <a:ext cx="3985458" cy="174450"/>
            </a:xfrm>
            <a:custGeom>
              <a:avLst/>
              <a:gdLst/>
              <a:ahLst/>
              <a:cxnLst/>
              <a:rect l="l" t="t" r="r" b="b"/>
              <a:pathLst>
                <a:path w="3985458" h="174450">
                  <a:moveTo>
                    <a:pt x="0" y="0"/>
                  </a:moveTo>
                  <a:lnTo>
                    <a:pt x="3985458" y="0"/>
                  </a:lnTo>
                  <a:lnTo>
                    <a:pt x="3985458" y="174450"/>
                  </a:lnTo>
                  <a:lnTo>
                    <a:pt x="0" y="174450"/>
                  </a:lnTo>
                  <a:close/>
                </a:path>
              </a:pathLst>
            </a:custGeom>
            <a:solidFill>
              <a:srgbClr val="5372FE"/>
            </a:solidFill>
          </p:spPr>
          <p:txBody>
            <a:bodyPr/>
            <a:lstStyle/>
            <a:p>
              <a:pPr defTabSz="609630"/>
              <a:endParaRPr lang="en-GB" sz="1200">
                <a:solidFill>
                  <a:prstClr val="black"/>
                </a:solidFill>
                <a:latin typeface="Calibri"/>
              </a:endParaRPr>
            </a:p>
          </p:txBody>
        </p:sp>
        <p:sp>
          <p:nvSpPr>
            <p:cNvPr id="29" name="TextBox 29"/>
            <p:cNvSpPr txBox="1"/>
            <p:nvPr/>
          </p:nvSpPr>
          <p:spPr>
            <a:xfrm>
              <a:off x="0" y="-38100"/>
              <a:ext cx="3985458" cy="212550"/>
            </a:xfrm>
            <a:prstGeom prst="rect">
              <a:avLst/>
            </a:prstGeom>
          </p:spPr>
          <p:txBody>
            <a:bodyPr lIns="33867" tIns="33867" rIns="33867" bIns="33867" rtlCol="0" anchor="ctr"/>
            <a:lstStyle/>
            <a:p>
              <a:pPr algn="ctr" defTabSz="609630">
                <a:lnSpc>
                  <a:spcPts val="1773"/>
                </a:lnSpc>
              </a:pPr>
              <a:endParaRPr sz="1200">
                <a:solidFill>
                  <a:prstClr val="black"/>
                </a:solidFill>
                <a:latin typeface="Calibri"/>
              </a:endParaRPr>
            </a:p>
          </p:txBody>
        </p:sp>
      </p:grpSp>
      <p:sp>
        <p:nvSpPr>
          <p:cNvPr id="30" name="Freeform 30"/>
          <p:cNvSpPr/>
          <p:nvPr/>
        </p:nvSpPr>
        <p:spPr>
          <a:xfrm>
            <a:off x="10905634" y="25559"/>
            <a:ext cx="1210475" cy="1205935"/>
          </a:xfrm>
          <a:custGeom>
            <a:avLst/>
            <a:gdLst/>
            <a:ahLst/>
            <a:cxnLst/>
            <a:rect l="l" t="t" r="r" b="b"/>
            <a:pathLst>
              <a:path w="1815712" h="1808903">
                <a:moveTo>
                  <a:pt x="0" y="0"/>
                </a:moveTo>
                <a:lnTo>
                  <a:pt x="1815712" y="0"/>
                </a:lnTo>
                <a:lnTo>
                  <a:pt x="1815712" y="1808903"/>
                </a:lnTo>
                <a:lnTo>
                  <a:pt x="0" y="1808903"/>
                </a:lnTo>
                <a:lnTo>
                  <a:pt x="0" y="0"/>
                </a:lnTo>
                <a:close/>
              </a:path>
            </a:pathLst>
          </a:custGeom>
          <a:blipFill>
            <a:blip r:embed="rId2"/>
            <a:stretch>
              <a:fillRect/>
            </a:stretch>
          </a:blipFill>
        </p:spPr>
        <p:txBody>
          <a:bodyPr/>
          <a:lstStyle/>
          <a:p>
            <a:pPr defTabSz="609630"/>
            <a:endParaRPr lang="en-GB" sz="1200">
              <a:solidFill>
                <a:prstClr val="black"/>
              </a:solidFill>
              <a:latin typeface="Calibri"/>
            </a:endParaRPr>
          </a:p>
        </p:txBody>
      </p:sp>
      <p:sp>
        <p:nvSpPr>
          <p:cNvPr id="31" name="TextBox 31"/>
          <p:cNvSpPr txBox="1"/>
          <p:nvPr/>
        </p:nvSpPr>
        <p:spPr>
          <a:xfrm>
            <a:off x="-1399592" y="331143"/>
            <a:ext cx="11462475" cy="2846933"/>
          </a:xfrm>
          <a:prstGeom prst="rect">
            <a:avLst/>
          </a:prstGeom>
        </p:spPr>
        <p:txBody>
          <a:bodyPr wrap="square" lIns="0" tIns="0" rIns="0" bIns="0" rtlCol="0" anchor="t">
            <a:spAutoFit/>
          </a:bodyPr>
          <a:lstStyle/>
          <a:p>
            <a:pPr algn="ctr" defTabSz="609630">
              <a:lnSpc>
                <a:spcPts val="5676"/>
              </a:lnSpc>
            </a:pPr>
            <a:r>
              <a:rPr lang="en-US" sz="4936" b="1" dirty="0">
                <a:solidFill>
                  <a:srgbClr val="000000"/>
                </a:solidFill>
                <a:latin typeface="+mj-lt"/>
                <a:ea typeface="Antonio Bold"/>
                <a:cs typeface="Antonio Bold"/>
                <a:sym typeface="Antonio Bold"/>
              </a:rPr>
              <a:t>🗓️ </a:t>
            </a:r>
            <a:r>
              <a:rPr lang="en-US" sz="4936" b="1" dirty="0">
                <a:solidFill>
                  <a:srgbClr val="000000"/>
                </a:solidFill>
                <a:latin typeface="+mj-lt"/>
                <a:ea typeface="Antonio Bold"/>
                <a:cs typeface="Adobe Arabic" panose="02040503050201020203" pitchFamily="18" charset="-78"/>
                <a:sym typeface="Antonio Bold"/>
              </a:rPr>
              <a:t>YOUR LEVEL 3 </a:t>
            </a:r>
          </a:p>
          <a:p>
            <a:pPr algn="ctr" defTabSz="609630">
              <a:lnSpc>
                <a:spcPts val="5676"/>
              </a:lnSpc>
            </a:pPr>
            <a:r>
              <a:rPr lang="en-US" sz="4936" b="1" dirty="0">
                <a:solidFill>
                  <a:srgbClr val="000000"/>
                </a:solidFill>
                <a:latin typeface="+mj-lt"/>
                <a:ea typeface="Antonio Bold"/>
                <a:cs typeface="Adobe Arabic" panose="02040503050201020203" pitchFamily="18" charset="-78"/>
                <a:sym typeface="Antonio Bold"/>
              </a:rPr>
              <a:t>LEARNING DAY(Monday)</a:t>
            </a:r>
            <a:endParaRPr lang="en-US" sz="4936" b="1" dirty="0">
              <a:solidFill>
                <a:srgbClr val="000000"/>
              </a:solidFill>
              <a:latin typeface="+mj-lt"/>
              <a:cs typeface="Adobe Arabic" panose="02040503050201020203" pitchFamily="18" charset="-78"/>
              <a:sym typeface="Antonio Bold"/>
            </a:endParaRPr>
          </a:p>
          <a:p>
            <a:pPr algn="ctr" defTabSz="609630">
              <a:lnSpc>
                <a:spcPts val="5676"/>
              </a:lnSpc>
            </a:pPr>
            <a:r>
              <a:rPr lang="en-US" sz="4936" b="1" dirty="0">
                <a:solidFill>
                  <a:srgbClr val="000000"/>
                </a:solidFill>
                <a:latin typeface="Adobe Arabic" panose="02040503050201020203" pitchFamily="18" charset="-78"/>
                <a:ea typeface="Antonio Bold"/>
                <a:cs typeface="Adobe Arabic" panose="02040503050201020203" pitchFamily="18" charset="-78"/>
                <a:sym typeface="Antonio Bold"/>
              </a:rPr>
              <a:t>DAY</a:t>
            </a:r>
          </a:p>
          <a:p>
            <a:pPr algn="ctr" defTabSz="609630">
              <a:lnSpc>
                <a:spcPts val="5062"/>
              </a:lnSpc>
            </a:pPr>
            <a:endParaRPr lang="en-US" sz="4402" u="sng" dirty="0">
              <a:solidFill>
                <a:srgbClr val="F1B34A"/>
              </a:solidFill>
              <a:latin typeface="Antonio"/>
              <a:ea typeface="Antonio"/>
              <a:cs typeface="Antonio"/>
              <a:sym typeface="Antonio"/>
            </a:endParaRPr>
          </a:p>
        </p:txBody>
      </p:sp>
      <p:graphicFrame>
        <p:nvGraphicFramePr>
          <p:cNvPr id="32" name="Table 32"/>
          <p:cNvGraphicFramePr>
            <a:graphicFrameLocks noGrp="1"/>
          </p:cNvGraphicFramePr>
          <p:nvPr>
            <p:extLst>
              <p:ext uri="{D42A27DB-BD31-4B8C-83A1-F6EECF244321}">
                <p14:modId xmlns:p14="http://schemas.microsoft.com/office/powerpoint/2010/main" val="1690499917"/>
              </p:ext>
            </p:extLst>
          </p:nvPr>
        </p:nvGraphicFramePr>
        <p:xfrm>
          <a:off x="646133" y="1812926"/>
          <a:ext cx="8103831" cy="3394694"/>
        </p:xfrm>
        <a:graphic>
          <a:graphicData uri="http://schemas.openxmlformats.org/drawingml/2006/table">
            <a:tbl>
              <a:tblPr/>
              <a:tblGrid>
                <a:gridCol w="1511185">
                  <a:extLst>
                    <a:ext uri="{9D8B030D-6E8A-4147-A177-3AD203B41FA5}">
                      <a16:colId xmlns:a16="http://schemas.microsoft.com/office/drawing/2014/main" val="20000"/>
                    </a:ext>
                  </a:extLst>
                </a:gridCol>
                <a:gridCol w="1462867">
                  <a:extLst>
                    <a:ext uri="{9D8B030D-6E8A-4147-A177-3AD203B41FA5}">
                      <a16:colId xmlns:a16="http://schemas.microsoft.com/office/drawing/2014/main" val="20001"/>
                    </a:ext>
                  </a:extLst>
                </a:gridCol>
                <a:gridCol w="5129779">
                  <a:extLst>
                    <a:ext uri="{9D8B030D-6E8A-4147-A177-3AD203B41FA5}">
                      <a16:colId xmlns:a16="http://schemas.microsoft.com/office/drawing/2014/main" val="20002"/>
                    </a:ext>
                  </a:extLst>
                </a:gridCol>
              </a:tblGrid>
              <a:tr h="613413">
                <a:tc gridSpan="3">
                  <a:txBody>
                    <a:bodyPr/>
                    <a:lstStyle/>
                    <a:p>
                      <a:pPr algn="ctr">
                        <a:lnSpc>
                          <a:spcPts val="3499"/>
                        </a:lnSpc>
                        <a:defRPr/>
                      </a:pPr>
                      <a:r>
                        <a:rPr lang="en-US" sz="1700" b="1" dirty="0">
                          <a:solidFill>
                            <a:srgbClr val="000000"/>
                          </a:solidFill>
                          <a:latin typeface="Canva Sans Bold"/>
                          <a:ea typeface="Canva Sans Bold"/>
                          <a:cs typeface="Canva Sans Bold"/>
                          <a:sym typeface="Canva Sans Bold"/>
                        </a:rPr>
                        <a:t>📅 </a:t>
                      </a:r>
                      <a:r>
                        <a:rPr lang="en-US" sz="1700" b="1" dirty="0">
                          <a:solidFill>
                            <a:srgbClr val="000000"/>
                          </a:solidFill>
                          <a:latin typeface="+mj-lt"/>
                          <a:ea typeface="Canva Sans Bold"/>
                          <a:cs typeface="Canva Sans Bold"/>
                          <a:sym typeface="Canva Sans Bold"/>
                        </a:rPr>
                        <a:t>Microsoft Teams Online call schedule </a:t>
                      </a:r>
                      <a:endParaRPr lang="en-US" sz="700" dirty="0">
                        <a:latin typeface="+mj-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271FF"/>
                    </a:solidFill>
                  </a:tcPr>
                </a:tc>
                <a:tc hMerge="1">
                  <a:txBody>
                    <a:bodyPr/>
                    <a:lstStyle/>
                    <a:p>
                      <a:pPr algn="ctr">
                        <a:lnSpc>
                          <a:spcPts val="3499"/>
                        </a:lnSpc>
                        <a:defRPr/>
                      </a:pPr>
                      <a:r>
                        <a:rPr lang="en-US" sz="2499" b="1">
                          <a:solidFill>
                            <a:srgbClr val="000000"/>
                          </a:solidFill>
                          <a:latin typeface="Canva Sans Bold"/>
                          <a:ea typeface="Canva Sans Bold"/>
                          <a:cs typeface="Canva Sans Bold"/>
                          <a:sym typeface="Canva Sans Bold"/>
                        </a:rPr>
                        <a:t>📅 Full-Day Structure (Online via Microsoft Teams)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271FF"/>
                    </a:solidFill>
                  </a:tcPr>
                </a:tc>
                <a:tc hMerge="1">
                  <a:txBody>
                    <a:bodyPr/>
                    <a:lstStyle/>
                    <a:p>
                      <a:pPr algn="ctr">
                        <a:lnSpc>
                          <a:spcPts val="3499"/>
                        </a:lnSpc>
                        <a:defRPr/>
                      </a:pPr>
                      <a:r>
                        <a:rPr lang="en-US" sz="2499" b="1">
                          <a:solidFill>
                            <a:srgbClr val="000000"/>
                          </a:solidFill>
                          <a:latin typeface="Canva Sans Bold"/>
                          <a:ea typeface="Canva Sans Bold"/>
                          <a:cs typeface="Canva Sans Bold"/>
                          <a:sym typeface="Canva Sans Bold"/>
                        </a:rPr>
                        <a:t>📅 Full-Day Structure (Online via Microsoft Teams)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5271FF"/>
                    </a:solidFill>
                  </a:tcPr>
                </a:tc>
                <a:extLst>
                  <a:ext uri="{0D108BD9-81ED-4DB2-BD59-A6C34878D82A}">
                    <a16:rowId xmlns:a16="http://schemas.microsoft.com/office/drawing/2014/main" val="10000"/>
                  </a:ext>
                </a:extLst>
              </a:tr>
              <a:tr h="586311">
                <a:tc>
                  <a:txBody>
                    <a:bodyPr/>
                    <a:lstStyle/>
                    <a:p>
                      <a:pPr algn="ctr">
                        <a:lnSpc>
                          <a:spcPts val="2800"/>
                        </a:lnSpc>
                        <a:defRPr/>
                      </a:pPr>
                      <a:r>
                        <a:rPr lang="en-US" sz="2000" b="1" dirty="0">
                          <a:solidFill>
                            <a:srgbClr val="000000"/>
                          </a:solidFill>
                          <a:latin typeface="+mn-lt"/>
                          <a:ea typeface="Canva Sans Bold"/>
                          <a:cs typeface="Canva Sans Bold"/>
                          <a:sym typeface="Canva Sans Bold"/>
                        </a:rPr>
                        <a:t>Time</a:t>
                      </a:r>
                      <a:endParaRPr lang="en-US" sz="105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4D96A"/>
                    </a:solidFill>
                  </a:tcPr>
                </a:tc>
                <a:tc>
                  <a:txBody>
                    <a:bodyPr/>
                    <a:lstStyle/>
                    <a:p>
                      <a:pPr marL="0" algn="ctr" defTabSz="609630" rtl="0" eaLnBrk="1" latinLnBrk="0" hangingPunct="1">
                        <a:lnSpc>
                          <a:spcPts val="2800"/>
                        </a:lnSpc>
                        <a:defRPr/>
                      </a:pPr>
                      <a:r>
                        <a:rPr lang="en-US" sz="2000" b="1" kern="1200" dirty="0">
                          <a:solidFill>
                            <a:srgbClr val="000000"/>
                          </a:solidFill>
                          <a:latin typeface="+mn-lt"/>
                          <a:ea typeface="Canva Sans Bold"/>
                          <a:cs typeface="Canva Sans Bold"/>
                          <a:sym typeface="Canva Sans Bold"/>
                        </a:rPr>
                        <a:t>Session</a:t>
                      </a:r>
                      <a:endParaRPr lang="en-US" sz="2000" b="1" kern="1200" dirty="0">
                        <a:solidFill>
                          <a:srgbClr val="000000"/>
                        </a:solidFill>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4D96A"/>
                    </a:solidFill>
                  </a:tcPr>
                </a:tc>
                <a:tc>
                  <a:txBody>
                    <a:bodyPr/>
                    <a:lstStyle/>
                    <a:p>
                      <a:pPr marL="0" algn="ctr" defTabSz="609630" rtl="0" eaLnBrk="1" latinLnBrk="0" hangingPunct="1">
                        <a:lnSpc>
                          <a:spcPts val="2800"/>
                        </a:lnSpc>
                        <a:defRPr/>
                      </a:pPr>
                      <a:r>
                        <a:rPr lang="en-US" sz="2000" b="1" kern="1200" dirty="0">
                          <a:solidFill>
                            <a:srgbClr val="000000"/>
                          </a:solidFill>
                          <a:latin typeface="+mn-lt"/>
                          <a:ea typeface="Canva Sans Bold"/>
                          <a:cs typeface="Canva Sans Bold"/>
                          <a:sym typeface="Canva Sans Bold"/>
                        </a:rPr>
                        <a:t>Description</a:t>
                      </a:r>
                      <a:endParaRPr lang="en-US" sz="2000" b="1" kern="1200" dirty="0">
                        <a:solidFill>
                          <a:srgbClr val="000000"/>
                        </a:solidFill>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F4D96A"/>
                    </a:solidFill>
                  </a:tcPr>
                </a:tc>
                <a:extLst>
                  <a:ext uri="{0D108BD9-81ED-4DB2-BD59-A6C34878D82A}">
                    <a16:rowId xmlns:a16="http://schemas.microsoft.com/office/drawing/2014/main" val="10001"/>
                  </a:ext>
                </a:extLst>
              </a:tr>
              <a:tr h="722663">
                <a:tc>
                  <a:txBody>
                    <a:bodyPr/>
                    <a:lstStyle/>
                    <a:p>
                      <a:pPr algn="ctr">
                        <a:lnSpc>
                          <a:spcPts val="2240"/>
                        </a:lnSpc>
                        <a:defRPr/>
                      </a:pPr>
                      <a:r>
                        <a:rPr lang="en-US" sz="1100" dirty="0">
                          <a:solidFill>
                            <a:srgbClr val="000000"/>
                          </a:solidFill>
                          <a:latin typeface="+mn-lt"/>
                          <a:ea typeface="Canva Sans"/>
                          <a:cs typeface="Canva Sans"/>
                          <a:sym typeface="Canva Sans"/>
                        </a:rPr>
                        <a:t>09:00 – 10:00</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240"/>
                        </a:lnSpc>
                        <a:defRPr/>
                      </a:pPr>
                      <a:r>
                        <a:rPr lang="en-US" sz="1100" dirty="0">
                          <a:solidFill>
                            <a:srgbClr val="000000"/>
                          </a:solidFill>
                          <a:latin typeface="+mn-lt"/>
                          <a:ea typeface="Canva Sans"/>
                          <a:cs typeface="Canva Sans"/>
                          <a:sym typeface="Canva Sans"/>
                        </a:rPr>
                        <a:t>Progress Tutorial</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240"/>
                        </a:lnSpc>
                        <a:defRPr/>
                      </a:pPr>
                      <a:r>
                        <a:rPr lang="en-US" sz="1100" dirty="0">
                          <a:solidFill>
                            <a:srgbClr val="000000"/>
                          </a:solidFill>
                          <a:latin typeface="+mn-lt"/>
                          <a:ea typeface="Canva Sans"/>
                          <a:cs typeface="Canva Sans"/>
                          <a:sym typeface="Canva Sans"/>
                        </a:rPr>
                        <a:t>Group tutorials for OneFile, Progress, PRMs, support, and catch-up</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718928">
                <a:tc>
                  <a:txBody>
                    <a:bodyPr/>
                    <a:lstStyle/>
                    <a:p>
                      <a:pPr algn="ctr">
                        <a:lnSpc>
                          <a:spcPts val="2240"/>
                        </a:lnSpc>
                        <a:defRPr/>
                      </a:pPr>
                      <a:r>
                        <a:rPr lang="en-US" sz="1100" dirty="0">
                          <a:solidFill>
                            <a:srgbClr val="000000"/>
                          </a:solidFill>
                          <a:latin typeface="+mn-lt"/>
                          <a:ea typeface="Canva Sans"/>
                          <a:cs typeface="Canva Sans"/>
                          <a:sym typeface="Canva Sans"/>
                        </a:rPr>
                        <a:t>10:00 – 13:00</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240"/>
                        </a:lnSpc>
                        <a:defRPr/>
                      </a:pPr>
                      <a:r>
                        <a:rPr lang="en-US" sz="1100">
                          <a:solidFill>
                            <a:srgbClr val="000000"/>
                          </a:solidFill>
                          <a:latin typeface="+mn-lt"/>
                          <a:ea typeface="Canva Sans"/>
                          <a:cs typeface="Canva Sans"/>
                          <a:sym typeface="Canva Sans"/>
                        </a:rPr>
                        <a:t>Module One</a:t>
                      </a:r>
                      <a:endParaRPr lang="en-US" sz="70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tc>
                  <a:txBody>
                    <a:bodyPr/>
                    <a:lstStyle/>
                    <a:p>
                      <a:pPr algn="ctr">
                        <a:lnSpc>
                          <a:spcPts val="2240"/>
                        </a:lnSpc>
                        <a:defRPr/>
                      </a:pPr>
                      <a:r>
                        <a:rPr lang="en-US" sz="1100" dirty="0">
                          <a:solidFill>
                            <a:srgbClr val="000000"/>
                          </a:solidFill>
                          <a:latin typeface="+mn-lt"/>
                          <a:ea typeface="Canva Sans"/>
                          <a:cs typeface="Canva Sans"/>
                          <a:sym typeface="Canva Sans"/>
                        </a:rPr>
                        <a:t>Tutor-led delivery, Q&amp;A, and Independent study</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solidFill>
                      <a:srgbClr val="D9D9D9"/>
                    </a:solidFill>
                  </a:tcPr>
                </a:tc>
                <a:extLst>
                  <a:ext uri="{0D108BD9-81ED-4DB2-BD59-A6C34878D82A}">
                    <a16:rowId xmlns:a16="http://schemas.microsoft.com/office/drawing/2014/main" val="10003"/>
                  </a:ext>
                </a:extLst>
              </a:tr>
              <a:tr h="722663">
                <a:tc>
                  <a:txBody>
                    <a:bodyPr/>
                    <a:lstStyle/>
                    <a:p>
                      <a:pPr algn="ctr">
                        <a:lnSpc>
                          <a:spcPts val="2240"/>
                        </a:lnSpc>
                        <a:defRPr/>
                      </a:pPr>
                      <a:r>
                        <a:rPr lang="en-US" sz="1100">
                          <a:solidFill>
                            <a:srgbClr val="000000"/>
                          </a:solidFill>
                          <a:latin typeface="+mn-lt"/>
                          <a:ea typeface="Canva Sans"/>
                          <a:cs typeface="Canva Sans"/>
                          <a:sym typeface="Canva Sans"/>
                        </a:rPr>
                        <a:t>13:00 – 14:00</a:t>
                      </a:r>
                      <a:endParaRPr lang="en-US" sz="70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240"/>
                        </a:lnSpc>
                        <a:defRPr/>
                      </a:pPr>
                      <a:r>
                        <a:rPr lang="en-US" sz="1100">
                          <a:solidFill>
                            <a:srgbClr val="000000"/>
                          </a:solidFill>
                          <a:latin typeface="+mn-lt"/>
                          <a:ea typeface="Canva Sans"/>
                          <a:cs typeface="Canva Sans"/>
                          <a:sym typeface="Canva Sans"/>
                        </a:rPr>
                        <a:t>Lunch</a:t>
                      </a:r>
                      <a:endParaRPr lang="en-US" sz="70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240"/>
                        </a:lnSpc>
                        <a:defRPr/>
                      </a:pPr>
                      <a:r>
                        <a:rPr lang="en-US" sz="1100" dirty="0">
                          <a:solidFill>
                            <a:srgbClr val="000000"/>
                          </a:solidFill>
                          <a:latin typeface="+mn-lt"/>
                          <a:ea typeface="Canva Sans"/>
                          <a:cs typeface="Canva Sans"/>
                          <a:sym typeface="Canva Sans"/>
                        </a:rPr>
                        <a:t>Time away from screen – please use this break</a:t>
                      </a:r>
                      <a:endParaRPr lang="en-US" sz="700" dirty="0">
                        <a:latin typeface="+mn-lt"/>
                      </a:endParaRPr>
                    </a:p>
                  </a:txBody>
                  <a:tcPr marL="127000" marR="127000" marT="127000" marB="1270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33" name="TextBox 33"/>
          <p:cNvSpPr txBox="1"/>
          <p:nvPr/>
        </p:nvSpPr>
        <p:spPr>
          <a:xfrm>
            <a:off x="2385753" y="5490150"/>
            <a:ext cx="5031085" cy="214674"/>
          </a:xfrm>
          <a:prstGeom prst="rect">
            <a:avLst/>
          </a:prstGeom>
        </p:spPr>
        <p:txBody>
          <a:bodyPr lIns="0" tIns="0" rIns="0" bIns="0" rtlCol="0" anchor="t">
            <a:spAutoFit/>
          </a:bodyPr>
          <a:lstStyle/>
          <a:p>
            <a:pPr algn="ctr" defTabSz="609630">
              <a:lnSpc>
                <a:spcPts val="1773"/>
              </a:lnSpc>
              <a:spcBef>
                <a:spcPct val="0"/>
              </a:spcBef>
            </a:pPr>
            <a:r>
              <a:rPr lang="en-US" sz="1266" b="1" dirty="0">
                <a:solidFill>
                  <a:srgbClr val="000000"/>
                </a:solidFill>
                <a:ea typeface="Canva Sans Bold"/>
                <a:cs typeface="Canva Sans Bold"/>
                <a:sym typeface="Canva Sans Bold"/>
              </a:rPr>
              <a:t>🧭 You’ll receive Teams invites for all sessions via your calendar.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B720-628A-4E1F-4891-1974B29F83DB}"/>
              </a:ext>
            </a:extLst>
          </p:cNvPr>
          <p:cNvSpPr>
            <a:spLocks noGrp="1"/>
          </p:cNvSpPr>
          <p:nvPr>
            <p:ph type="title"/>
          </p:nvPr>
        </p:nvSpPr>
        <p:spPr>
          <a:xfrm>
            <a:off x="0" y="-3599"/>
            <a:ext cx="12192000" cy="1325563"/>
          </a:xfrm>
          <a:solidFill>
            <a:srgbClr val="482E91"/>
          </a:solidFill>
          <a:ln>
            <a:solidFill>
              <a:srgbClr val="482E91"/>
            </a:solidFill>
          </a:ln>
        </p:spPr>
        <p:txBody>
          <a:bodyPr>
            <a:normAutofit/>
          </a:bodyPr>
          <a:lstStyle/>
          <a:p>
            <a:pPr algn="ctr"/>
            <a:r>
              <a:rPr lang="en-GB" sz="4000" b="1">
                <a:solidFill>
                  <a:schemeClr val="bg1"/>
                </a:solidFill>
              </a:rPr>
              <a:t>English and Math's </a:t>
            </a:r>
          </a:p>
        </p:txBody>
      </p:sp>
      <p:sp>
        <p:nvSpPr>
          <p:cNvPr id="4" name="TextBox 3">
            <a:extLst>
              <a:ext uri="{FF2B5EF4-FFF2-40B4-BE49-F238E27FC236}">
                <a16:creationId xmlns:a16="http://schemas.microsoft.com/office/drawing/2014/main" id="{6B6F65ED-BA0B-A94D-F080-96E68645C50E}"/>
              </a:ext>
            </a:extLst>
          </p:cNvPr>
          <p:cNvSpPr txBox="1"/>
          <p:nvPr/>
        </p:nvSpPr>
        <p:spPr>
          <a:xfrm>
            <a:off x="1173335" y="1847245"/>
            <a:ext cx="10154824" cy="3046988"/>
          </a:xfrm>
          <a:prstGeom prst="rect">
            <a:avLst/>
          </a:prstGeom>
          <a:noFill/>
        </p:spPr>
        <p:txBody>
          <a:bodyPr wrap="square">
            <a:spAutoFit/>
          </a:bodyPr>
          <a:lstStyle/>
          <a:p>
            <a:r>
              <a:rPr lang="en-GB" sz="2400"/>
              <a:t>Apprentices without level 2 English and maths will need to achieve this level prior to taking the End-Point Assessment. </a:t>
            </a:r>
          </a:p>
          <a:p>
            <a:endParaRPr lang="en-GB" sz="2400"/>
          </a:p>
          <a:p>
            <a:r>
              <a:rPr lang="en-GB" sz="2400"/>
              <a:t>For those with an education, health and care plan or a legacy statement, the apprenticeship’s English and maths minimum requirement is Entry Level 3.</a:t>
            </a:r>
          </a:p>
          <a:p>
            <a:endParaRPr lang="en-GB" sz="2400"/>
          </a:p>
          <a:p>
            <a:r>
              <a:rPr lang="en-GB" sz="2400"/>
              <a:t>A British Sign Language (BSL) qualification is an alternative to the English qualification for those whose primary language is BSL.</a:t>
            </a:r>
          </a:p>
        </p:txBody>
      </p:sp>
      <p:pic>
        <p:nvPicPr>
          <p:cNvPr id="6" name="Picture 5">
            <a:extLst>
              <a:ext uri="{FF2B5EF4-FFF2-40B4-BE49-F238E27FC236}">
                <a16:creationId xmlns:a16="http://schemas.microsoft.com/office/drawing/2014/main" id="{8B3908C9-4F29-99E4-874E-A78F938368C7}"/>
              </a:ext>
            </a:extLst>
          </p:cNvPr>
          <p:cNvPicPr>
            <a:picLocks noChangeAspect="1"/>
          </p:cNvPicPr>
          <p:nvPr/>
        </p:nvPicPr>
        <p:blipFill>
          <a:blip r:embed="rId2"/>
          <a:stretch>
            <a:fillRect/>
          </a:stretch>
        </p:blipFill>
        <p:spPr>
          <a:xfrm>
            <a:off x="10648477" y="5419514"/>
            <a:ext cx="1359364" cy="1355418"/>
          </a:xfrm>
          <a:prstGeom prst="rect">
            <a:avLst/>
          </a:prstGeom>
        </p:spPr>
      </p:pic>
    </p:spTree>
    <p:extLst>
      <p:ext uri="{BB962C8B-B14F-4D97-AF65-F5344CB8AC3E}">
        <p14:creationId xmlns:p14="http://schemas.microsoft.com/office/powerpoint/2010/main" val="34974664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510970" y="349398"/>
            <a:ext cx="7938047" cy="1325563"/>
          </a:xfrm>
        </p:spPr>
        <p:txBody>
          <a:bodyPr/>
          <a:lstStyle/>
          <a:p>
            <a:r>
              <a:rPr lang="en-US" dirty="0"/>
              <a:t>Scheme of Work - Cyber Pathway </a:t>
            </a:r>
            <a:endParaRPr lang="en-GB" dirty="0"/>
          </a:p>
        </p:txBody>
      </p:sp>
      <p:sp>
        <p:nvSpPr>
          <p:cNvPr id="3" name="Content Placeholder 2">
            <a:extLst>
              <a:ext uri="{FF2B5EF4-FFF2-40B4-BE49-F238E27FC236}">
                <a16:creationId xmlns:a16="http://schemas.microsoft.com/office/drawing/2014/main" id="{428C0E3E-25B1-DF3C-CAA3-1BF37AC59CDD}"/>
              </a:ext>
            </a:extLst>
          </p:cNvPr>
          <p:cNvSpPr>
            <a:spLocks noGrp="1"/>
          </p:cNvSpPr>
          <p:nvPr>
            <p:ph idx="1"/>
          </p:nvPr>
        </p:nvSpPr>
        <p:spPr>
          <a:xfrm>
            <a:off x="2510970" y="1811111"/>
            <a:ext cx="9390744" cy="4351338"/>
          </a:xfrm>
        </p:spPr>
        <p:txBody>
          <a:bodyPr vert="horz" lIns="91440" tIns="45720" rIns="91440" bIns="45720" rtlCol="0" anchor="t">
            <a:normAutofit/>
          </a:bodyPr>
          <a:lstStyle/>
          <a:p>
            <a:pPr marL="0" indent="0">
              <a:buNone/>
            </a:pPr>
            <a:r>
              <a:rPr lang="en-US" sz="2400" b="1" dirty="0"/>
              <a:t>Module 1:</a:t>
            </a:r>
            <a:r>
              <a:rPr lang="en-US" sz="2400" dirty="0"/>
              <a:t> Cyber Security Foundations and Compliance</a:t>
            </a:r>
          </a:p>
          <a:p>
            <a:pPr marL="0" indent="0">
              <a:buNone/>
            </a:pPr>
            <a:r>
              <a:rPr lang="en-US" sz="2400" b="1" dirty="0"/>
              <a:t>Module 2:</a:t>
            </a:r>
            <a:r>
              <a:rPr lang="en-US" sz="2400" dirty="0"/>
              <a:t> Cyber Security Operations and Helpdesk</a:t>
            </a:r>
          </a:p>
          <a:p>
            <a:pPr marL="0" indent="0">
              <a:buNone/>
            </a:pPr>
            <a:r>
              <a:rPr lang="en-US" sz="2400" b="1" dirty="0"/>
              <a:t>Module 3: </a:t>
            </a:r>
            <a:r>
              <a:rPr lang="en-US" sz="2400" dirty="0"/>
              <a:t>Security Policy and Risk Management</a:t>
            </a:r>
          </a:p>
          <a:p>
            <a:pPr marL="0" indent="0">
              <a:buNone/>
            </a:pPr>
            <a:r>
              <a:rPr lang="en-US" sz="2400" b="1" dirty="0"/>
              <a:t>Module 4:</a:t>
            </a:r>
            <a:r>
              <a:rPr lang="en-US" sz="2400" dirty="0"/>
              <a:t> Technical Security Controls and Asset Management</a:t>
            </a:r>
          </a:p>
          <a:p>
            <a:pPr marL="0" indent="0">
              <a:buNone/>
            </a:pPr>
            <a:r>
              <a:rPr lang="en-US" sz="2400" b="1" dirty="0"/>
              <a:t>Module 5:</a:t>
            </a:r>
            <a:r>
              <a:rPr lang="en-US" sz="2400" dirty="0"/>
              <a:t> Advanced Security Monitoring and Threat Management</a:t>
            </a:r>
          </a:p>
          <a:p>
            <a:pPr marL="0" indent="0">
              <a:buNone/>
            </a:pPr>
            <a:r>
              <a:rPr lang="en-US" sz="2400" b="1" dirty="0"/>
              <a:t>Module 6:</a:t>
            </a:r>
            <a:r>
              <a:rPr lang="en-US" sz="2400" dirty="0"/>
              <a:t> Professional Development and Continuous Learning</a:t>
            </a:r>
          </a:p>
          <a:p>
            <a:pPr marL="0" indent="0">
              <a:buNone/>
            </a:pPr>
            <a:endParaRPr lang="en-GB" sz="2400" dirty="0"/>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AA5942C7-3575-0ADD-E6CC-5FD12161EC53}"/>
              </a:ext>
            </a:extLst>
          </p:cNvPr>
          <p:cNvPicPr>
            <a:picLocks noChangeAspect="1"/>
          </p:cNvPicPr>
          <p:nvPr/>
        </p:nvPicPr>
        <p:blipFill>
          <a:blip r:embed="rId3"/>
          <a:stretch>
            <a:fillRect/>
          </a:stretch>
        </p:blipFill>
        <p:spPr>
          <a:xfrm>
            <a:off x="10120697" y="4908884"/>
            <a:ext cx="1867910" cy="1862488"/>
          </a:xfrm>
          <a:prstGeom prst="rect">
            <a:avLst/>
          </a:prstGeom>
        </p:spPr>
      </p:pic>
    </p:spTree>
    <p:extLst>
      <p:ext uri="{BB962C8B-B14F-4D97-AF65-F5344CB8AC3E}">
        <p14:creationId xmlns:p14="http://schemas.microsoft.com/office/powerpoint/2010/main" val="29582045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E0749C8C-96DB-F8B5-1545-15C947DC459C}"/>
              </a:ext>
            </a:extLst>
          </p:cNvPr>
          <p:cNvGraphicFramePr/>
          <p:nvPr>
            <p:extLst>
              <p:ext uri="{D42A27DB-BD31-4B8C-83A1-F6EECF244321}">
                <p14:modId xmlns:p14="http://schemas.microsoft.com/office/powerpoint/2010/main" val="3153353053"/>
              </p:ext>
            </p:extLst>
          </p:nvPr>
        </p:nvGraphicFramePr>
        <p:xfrm>
          <a:off x="216352" y="145413"/>
          <a:ext cx="11625581" cy="2191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rrow: Down 5">
            <a:extLst>
              <a:ext uri="{FF2B5EF4-FFF2-40B4-BE49-F238E27FC236}">
                <a16:creationId xmlns:a16="http://schemas.microsoft.com/office/drawing/2014/main" id="{74713DAE-3DD0-C3E1-4829-8E1F3C197A06}"/>
              </a:ext>
            </a:extLst>
          </p:cNvPr>
          <p:cNvSpPr/>
          <p:nvPr/>
        </p:nvSpPr>
        <p:spPr>
          <a:xfrm>
            <a:off x="5768275" y="3338331"/>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sp>
        <p:nvSpPr>
          <p:cNvPr id="8" name="Rectangle: Rounded Corners 7">
            <a:extLst>
              <a:ext uri="{FF2B5EF4-FFF2-40B4-BE49-F238E27FC236}">
                <a16:creationId xmlns:a16="http://schemas.microsoft.com/office/drawing/2014/main" id="{2BB9EECF-BD65-E9BD-B9F3-ACC99058B94A}"/>
              </a:ext>
            </a:extLst>
          </p:cNvPr>
          <p:cNvSpPr/>
          <p:nvPr/>
        </p:nvSpPr>
        <p:spPr>
          <a:xfrm>
            <a:off x="181068" y="3905679"/>
            <a:ext cx="11660865" cy="479834"/>
          </a:xfrm>
          <a:prstGeom prst="round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Gateway </a:t>
            </a:r>
            <a:r>
              <a:rPr lang="en-US" b="1"/>
              <a:t>(15 months) </a:t>
            </a:r>
            <a:endParaRPr lang="en-GB" b="1"/>
          </a:p>
        </p:txBody>
      </p:sp>
      <p:sp>
        <p:nvSpPr>
          <p:cNvPr id="9" name="Rectangle: Rounded Corners 8">
            <a:extLst>
              <a:ext uri="{FF2B5EF4-FFF2-40B4-BE49-F238E27FC236}">
                <a16:creationId xmlns:a16="http://schemas.microsoft.com/office/drawing/2014/main" id="{C53BADFE-B147-52A8-C09B-CDAED5911A1B}"/>
              </a:ext>
            </a:extLst>
          </p:cNvPr>
          <p:cNvSpPr/>
          <p:nvPr/>
        </p:nvSpPr>
        <p:spPr>
          <a:xfrm>
            <a:off x="3864254" y="4970354"/>
            <a:ext cx="1643127" cy="1629622"/>
          </a:xfrm>
          <a:prstGeom prst="roundRect">
            <a:avLst/>
          </a:prstGeom>
          <a:solidFill>
            <a:srgbClr val="909EE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chemeClr val="bg1"/>
                </a:solidFill>
              </a:rPr>
              <a:t>Assessment method 1: Scenario Demonstrations with questioning</a:t>
            </a:r>
            <a:endParaRPr lang="en-US" sz="1400" dirty="0">
              <a:solidFill>
                <a:schemeClr val="bg1"/>
              </a:solidFill>
              <a:latin typeface="Aptos"/>
              <a:cs typeface="Arial"/>
            </a:endParaRPr>
          </a:p>
        </p:txBody>
      </p:sp>
      <p:sp>
        <p:nvSpPr>
          <p:cNvPr id="11" name="Rectangle: Rounded Corners 10">
            <a:extLst>
              <a:ext uri="{FF2B5EF4-FFF2-40B4-BE49-F238E27FC236}">
                <a16:creationId xmlns:a16="http://schemas.microsoft.com/office/drawing/2014/main" id="{2BFAC290-F9E4-6B54-4512-9790C215F61D}"/>
              </a:ext>
            </a:extLst>
          </p:cNvPr>
          <p:cNvSpPr/>
          <p:nvPr/>
        </p:nvSpPr>
        <p:spPr>
          <a:xfrm>
            <a:off x="6408880" y="4970354"/>
            <a:ext cx="1542106" cy="1629622"/>
          </a:xfrm>
          <a:prstGeom prst="roundRect">
            <a:avLst/>
          </a:prstGeom>
          <a:solidFill>
            <a:srgbClr val="482E91"/>
          </a:solidFill>
          <a:ln w="19050" cap="flat" cmpd="sng" algn="ctr">
            <a:solidFill>
              <a:prstClr val="black">
                <a:shade val="80000"/>
                <a:hueOff val="0"/>
                <a:satOff val="0"/>
                <a:lumOff val="0"/>
                <a:alphaOff val="0"/>
              </a:prstClr>
            </a:solidFill>
            <a:prstDash val="solid"/>
            <a:miter lim="800000"/>
          </a:ln>
          <a:effectLst/>
        </p:spPr>
        <p:txBody>
          <a:bodyPr spcFirstLastPara="0" vert="horz" wrap="square" lIns="60960" tIns="60960" rIns="60960" bIns="60960" numCol="1" spcCol="1270" anchor="ctr" anchorCtr="0">
            <a:noAutofit/>
          </a:bodyPr>
          <a:lstStyle/>
          <a:p>
            <a:pPr algn="ctr" defTabSz="711200">
              <a:lnSpc>
                <a:spcPct val="90000"/>
              </a:lnSpc>
              <a:spcBef>
                <a:spcPct val="0"/>
              </a:spcBef>
              <a:spcAft>
                <a:spcPct val="35000"/>
              </a:spcAft>
            </a:pPr>
            <a:r>
              <a:rPr lang="en-US" sz="1400" dirty="0">
                <a:solidFill>
                  <a:schemeClr val="bg1"/>
                </a:solidFill>
                <a:latin typeface="Aptos" panose="02110004020202020204"/>
              </a:rPr>
              <a:t>Assessment method 2: Professional Discussion underpinned by Portfolio </a:t>
            </a:r>
            <a:endParaRPr lang="en-GB" sz="1400" dirty="0">
              <a:solidFill>
                <a:schemeClr val="bg1"/>
              </a:solidFill>
              <a:latin typeface="Aptos" panose="02110004020202020204"/>
            </a:endParaRPr>
          </a:p>
        </p:txBody>
      </p:sp>
      <p:pic>
        <p:nvPicPr>
          <p:cNvPr id="12" name="Picture 2" descr="British Computer Society BCS Logo PNG Vector (AI) Free Download">
            <a:extLst>
              <a:ext uri="{FF2B5EF4-FFF2-40B4-BE49-F238E27FC236}">
                <a16:creationId xmlns:a16="http://schemas.microsoft.com/office/drawing/2014/main" id="{597D2F85-586E-4170-BB29-917F3678CBDA}"/>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0209" y="5306783"/>
            <a:ext cx="867435" cy="110267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Rounded Corners 12">
            <a:extLst>
              <a:ext uri="{FF2B5EF4-FFF2-40B4-BE49-F238E27FC236}">
                <a16:creationId xmlns:a16="http://schemas.microsoft.com/office/drawing/2014/main" id="{E2476455-723D-B994-96E3-A5BB3F99D169}"/>
              </a:ext>
            </a:extLst>
          </p:cNvPr>
          <p:cNvSpPr/>
          <p:nvPr/>
        </p:nvSpPr>
        <p:spPr>
          <a:xfrm>
            <a:off x="181068" y="2609632"/>
            <a:ext cx="11625581" cy="663832"/>
          </a:xfrm>
          <a:prstGeom prst="round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Portfolio Development Collation and mock EPA (8 Pieces of evidence)</a:t>
            </a:r>
          </a:p>
          <a:p>
            <a:pPr algn="ctr"/>
            <a:r>
              <a:rPr lang="en-US" b="1" dirty="0"/>
              <a:t>(3 Months)  </a:t>
            </a:r>
            <a:endParaRPr lang="en-GB" b="1" dirty="0"/>
          </a:p>
        </p:txBody>
      </p:sp>
      <p:sp>
        <p:nvSpPr>
          <p:cNvPr id="14" name="Arrow: Down 13">
            <a:extLst>
              <a:ext uri="{FF2B5EF4-FFF2-40B4-BE49-F238E27FC236}">
                <a16:creationId xmlns:a16="http://schemas.microsoft.com/office/drawing/2014/main" id="{4C1D5681-D9CF-259F-18A7-4B95581CC3D5}"/>
              </a:ext>
            </a:extLst>
          </p:cNvPr>
          <p:cNvSpPr/>
          <p:nvPr/>
        </p:nvSpPr>
        <p:spPr>
          <a:xfrm>
            <a:off x="5768275" y="4454603"/>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pic>
        <p:nvPicPr>
          <p:cNvPr id="1603" name="Picture 1602" descr="Logo, company name">
            <a:extLst>
              <a:ext uri="{FF2B5EF4-FFF2-40B4-BE49-F238E27FC236}">
                <a16:creationId xmlns:a16="http://schemas.microsoft.com/office/drawing/2014/main" id="{4417B763-C5CC-1B09-5DFA-135AE340EABA}"/>
              </a:ext>
            </a:extLst>
          </p:cNvPr>
          <p:cNvPicPr>
            <a:picLocks noChangeAspect="1"/>
          </p:cNvPicPr>
          <p:nvPr/>
        </p:nvPicPr>
        <p:blipFill>
          <a:blip r:embed="rId8"/>
          <a:stretch>
            <a:fillRect/>
          </a:stretch>
        </p:blipFill>
        <p:spPr>
          <a:xfrm>
            <a:off x="331749" y="5262676"/>
            <a:ext cx="1991850" cy="956612"/>
          </a:xfrm>
          <a:prstGeom prst="rect">
            <a:avLst/>
          </a:prstGeom>
        </p:spPr>
      </p:pic>
      <p:sp>
        <p:nvSpPr>
          <p:cNvPr id="2" name="Rectangle: Rounded Corners 1">
            <a:extLst>
              <a:ext uri="{FF2B5EF4-FFF2-40B4-BE49-F238E27FC236}">
                <a16:creationId xmlns:a16="http://schemas.microsoft.com/office/drawing/2014/main" id="{241B2EDD-51A0-50BB-2B92-29E258472929}"/>
              </a:ext>
            </a:extLst>
          </p:cNvPr>
          <p:cNvSpPr/>
          <p:nvPr/>
        </p:nvSpPr>
        <p:spPr>
          <a:xfrm>
            <a:off x="8639219" y="4970354"/>
            <a:ext cx="1542106" cy="1629622"/>
          </a:xfrm>
          <a:prstGeom prst="roundRect">
            <a:avLst/>
          </a:prstGeom>
          <a:solidFill>
            <a:srgbClr val="909EE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400" dirty="0">
                <a:solidFill>
                  <a:schemeClr val="bg1"/>
                </a:solidFill>
              </a:rPr>
              <a:t>Assessment method 3: Knowledge Test </a:t>
            </a:r>
          </a:p>
        </p:txBody>
      </p:sp>
      <p:sp>
        <p:nvSpPr>
          <p:cNvPr id="3" name="Arrow: Down 2">
            <a:extLst>
              <a:ext uri="{FF2B5EF4-FFF2-40B4-BE49-F238E27FC236}">
                <a16:creationId xmlns:a16="http://schemas.microsoft.com/office/drawing/2014/main" id="{F5C389AB-2531-5FC6-F736-F3FEAE8C1D0D}"/>
              </a:ext>
            </a:extLst>
          </p:cNvPr>
          <p:cNvSpPr/>
          <p:nvPr/>
        </p:nvSpPr>
        <p:spPr>
          <a:xfrm rot="16200000">
            <a:off x="5782609" y="5545246"/>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sp>
        <p:nvSpPr>
          <p:cNvPr id="4" name="Arrow: Down 3">
            <a:extLst>
              <a:ext uri="{FF2B5EF4-FFF2-40B4-BE49-F238E27FC236}">
                <a16:creationId xmlns:a16="http://schemas.microsoft.com/office/drawing/2014/main" id="{34C7FEC2-E3EE-0937-44D5-B32DA1349249}"/>
              </a:ext>
            </a:extLst>
          </p:cNvPr>
          <p:cNvSpPr/>
          <p:nvPr/>
        </p:nvSpPr>
        <p:spPr>
          <a:xfrm rot="16200000">
            <a:off x="8041314" y="5618202"/>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pic>
        <p:nvPicPr>
          <p:cNvPr id="7" name="Picture 6">
            <a:extLst>
              <a:ext uri="{FF2B5EF4-FFF2-40B4-BE49-F238E27FC236}">
                <a16:creationId xmlns:a16="http://schemas.microsoft.com/office/drawing/2014/main" id="{3BC39C34-A954-3E98-5543-10155345EE7E}"/>
              </a:ext>
            </a:extLst>
          </p:cNvPr>
          <p:cNvPicPr>
            <a:picLocks noChangeAspect="1"/>
          </p:cNvPicPr>
          <p:nvPr/>
        </p:nvPicPr>
        <p:blipFill>
          <a:blip r:embed="rId9"/>
          <a:stretch>
            <a:fillRect/>
          </a:stretch>
        </p:blipFill>
        <p:spPr>
          <a:xfrm>
            <a:off x="10776695" y="5225129"/>
            <a:ext cx="1269663" cy="1265978"/>
          </a:xfrm>
          <a:prstGeom prst="rect">
            <a:avLst/>
          </a:prstGeom>
        </p:spPr>
      </p:pic>
    </p:spTree>
    <p:extLst>
      <p:ext uri="{BB962C8B-B14F-4D97-AF65-F5344CB8AC3E}">
        <p14:creationId xmlns:p14="http://schemas.microsoft.com/office/powerpoint/2010/main" val="2913395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6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510970" y="367505"/>
            <a:ext cx="10515600" cy="1325563"/>
          </a:xfrm>
        </p:spPr>
        <p:txBody>
          <a:bodyPr/>
          <a:lstStyle/>
          <a:p>
            <a:r>
              <a:rPr lang="en-US" dirty="0"/>
              <a:t>Scheme of Work - Software pathway</a:t>
            </a:r>
            <a:endParaRPr lang="en-GB" dirty="0"/>
          </a:p>
        </p:txBody>
      </p:sp>
      <p:sp>
        <p:nvSpPr>
          <p:cNvPr id="3" name="Content Placeholder 2">
            <a:extLst>
              <a:ext uri="{FF2B5EF4-FFF2-40B4-BE49-F238E27FC236}">
                <a16:creationId xmlns:a16="http://schemas.microsoft.com/office/drawing/2014/main" id="{428C0E3E-25B1-DF3C-CAA3-1BF37AC59CDD}"/>
              </a:ext>
            </a:extLst>
          </p:cNvPr>
          <p:cNvSpPr>
            <a:spLocks noGrp="1"/>
          </p:cNvSpPr>
          <p:nvPr>
            <p:ph idx="1"/>
          </p:nvPr>
        </p:nvSpPr>
        <p:spPr>
          <a:xfrm>
            <a:off x="2510970" y="1811111"/>
            <a:ext cx="9390744" cy="4351338"/>
          </a:xfrm>
        </p:spPr>
        <p:txBody>
          <a:bodyPr vert="horz" lIns="91440" tIns="45720" rIns="91440" bIns="45720" rtlCol="0" anchor="t">
            <a:normAutofit/>
          </a:bodyPr>
          <a:lstStyle/>
          <a:p>
            <a:pPr marL="0" indent="0">
              <a:buNone/>
            </a:pPr>
            <a:r>
              <a:rPr lang="en-US" sz="2400" b="1" dirty="0"/>
              <a:t>Module 1:</a:t>
            </a:r>
            <a:r>
              <a:rPr lang="en-US" sz="2400" dirty="0"/>
              <a:t> Introduction to Software Development and Stakeholder Engagement</a:t>
            </a:r>
          </a:p>
          <a:p>
            <a:pPr marL="0" indent="0">
              <a:buNone/>
            </a:pPr>
            <a:r>
              <a:rPr lang="en-US" sz="2400" b="1" dirty="0"/>
              <a:t>Module 2: </a:t>
            </a:r>
            <a:r>
              <a:rPr lang="en-US" sz="2400" dirty="0"/>
              <a:t>Algorithms and Programming Fundamentals</a:t>
            </a:r>
          </a:p>
          <a:p>
            <a:pPr marL="0" indent="0">
              <a:buNone/>
            </a:pPr>
            <a:r>
              <a:rPr lang="en-US" sz="2400" b="1" dirty="0"/>
              <a:t>Module 3: </a:t>
            </a:r>
            <a:r>
              <a:rPr lang="en-US" sz="2400" dirty="0"/>
              <a:t>Documentation and Project Management</a:t>
            </a:r>
          </a:p>
          <a:p>
            <a:pPr marL="0" indent="0">
              <a:buNone/>
            </a:pPr>
            <a:r>
              <a:rPr lang="en-US" sz="2400" b="1" dirty="0"/>
              <a:t>Module 4: </a:t>
            </a:r>
            <a:r>
              <a:rPr lang="en-US" sz="2400" dirty="0"/>
              <a:t>Secure Development Practices</a:t>
            </a:r>
          </a:p>
          <a:p>
            <a:pPr marL="0" indent="0">
              <a:buNone/>
            </a:pPr>
            <a:r>
              <a:rPr lang="en-US" sz="2400" b="1" dirty="0"/>
              <a:t>Module 5: </a:t>
            </a:r>
            <a:r>
              <a:rPr lang="en-US" sz="2400" dirty="0"/>
              <a:t>Software Testing and Quality Assurance</a:t>
            </a:r>
          </a:p>
          <a:p>
            <a:pPr marL="0" indent="0">
              <a:buNone/>
            </a:pPr>
            <a:r>
              <a:rPr lang="en-US" sz="2400" b="1" dirty="0"/>
              <a:t>Module 6: </a:t>
            </a:r>
            <a:r>
              <a:rPr lang="en-US" sz="2400" dirty="0"/>
              <a:t>Professional Development and Continuous Learning</a:t>
            </a:r>
          </a:p>
          <a:p>
            <a:pPr marL="0" indent="0">
              <a:buNone/>
            </a:pPr>
            <a:endParaRPr lang="en-US" sz="2400" b="1" dirty="0"/>
          </a:p>
          <a:p>
            <a:pPr marL="0" indent="0">
              <a:buNone/>
            </a:pPr>
            <a:endParaRPr lang="en-GB" sz="2400" dirty="0"/>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7" name="Picture 6">
            <a:extLst>
              <a:ext uri="{FF2B5EF4-FFF2-40B4-BE49-F238E27FC236}">
                <a16:creationId xmlns:a16="http://schemas.microsoft.com/office/drawing/2014/main" id="{9EE8831A-97C5-5734-CA9C-C4854E03395F}"/>
              </a:ext>
            </a:extLst>
          </p:cNvPr>
          <p:cNvPicPr>
            <a:picLocks noChangeAspect="1"/>
          </p:cNvPicPr>
          <p:nvPr/>
        </p:nvPicPr>
        <p:blipFill>
          <a:blip r:embed="rId3"/>
          <a:stretch>
            <a:fillRect/>
          </a:stretch>
        </p:blipFill>
        <p:spPr>
          <a:xfrm>
            <a:off x="10349942" y="5303520"/>
            <a:ext cx="1417284" cy="1413170"/>
          </a:xfrm>
          <a:prstGeom prst="rect">
            <a:avLst/>
          </a:prstGeom>
        </p:spPr>
      </p:pic>
    </p:spTree>
    <p:extLst>
      <p:ext uri="{BB962C8B-B14F-4D97-AF65-F5344CB8AC3E}">
        <p14:creationId xmlns:p14="http://schemas.microsoft.com/office/powerpoint/2010/main" val="4068395736"/>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37DE9-B737-2AA2-AC70-8082E278254A}"/>
            </a:ext>
          </a:extLst>
        </p:cNvPr>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E6562089-341B-02B6-B2C1-9AFB9A922C35}"/>
              </a:ext>
            </a:extLst>
          </p:cNvPr>
          <p:cNvGraphicFramePr/>
          <p:nvPr>
            <p:extLst>
              <p:ext uri="{D42A27DB-BD31-4B8C-83A1-F6EECF244321}">
                <p14:modId xmlns:p14="http://schemas.microsoft.com/office/powerpoint/2010/main" val="1848340837"/>
              </p:ext>
            </p:extLst>
          </p:nvPr>
        </p:nvGraphicFramePr>
        <p:xfrm>
          <a:off x="216352" y="145413"/>
          <a:ext cx="11625581" cy="219102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Arrow: Down 5">
            <a:extLst>
              <a:ext uri="{FF2B5EF4-FFF2-40B4-BE49-F238E27FC236}">
                <a16:creationId xmlns:a16="http://schemas.microsoft.com/office/drawing/2014/main" id="{A42A08EE-B112-D2BD-8638-F7A49D0C5327}"/>
              </a:ext>
            </a:extLst>
          </p:cNvPr>
          <p:cNvSpPr/>
          <p:nvPr/>
        </p:nvSpPr>
        <p:spPr>
          <a:xfrm>
            <a:off x="5768275" y="3338331"/>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sp>
        <p:nvSpPr>
          <p:cNvPr id="8" name="Rectangle: Rounded Corners 7">
            <a:extLst>
              <a:ext uri="{FF2B5EF4-FFF2-40B4-BE49-F238E27FC236}">
                <a16:creationId xmlns:a16="http://schemas.microsoft.com/office/drawing/2014/main" id="{F09BE088-9E74-3630-F101-789FCF2E19E7}"/>
              </a:ext>
            </a:extLst>
          </p:cNvPr>
          <p:cNvSpPr/>
          <p:nvPr/>
        </p:nvSpPr>
        <p:spPr>
          <a:xfrm>
            <a:off x="181068" y="3905679"/>
            <a:ext cx="11660865" cy="479834"/>
          </a:xfrm>
          <a:prstGeom prst="round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t>Gateway </a:t>
            </a:r>
            <a:r>
              <a:rPr lang="en-US" b="1"/>
              <a:t>(15 months) </a:t>
            </a:r>
            <a:endParaRPr lang="en-GB" b="1"/>
          </a:p>
        </p:txBody>
      </p:sp>
      <p:sp>
        <p:nvSpPr>
          <p:cNvPr id="9" name="Rectangle: Rounded Corners 8">
            <a:extLst>
              <a:ext uri="{FF2B5EF4-FFF2-40B4-BE49-F238E27FC236}">
                <a16:creationId xmlns:a16="http://schemas.microsoft.com/office/drawing/2014/main" id="{C1C36F81-05F0-30B4-81F1-EF4EB552291B}"/>
              </a:ext>
            </a:extLst>
          </p:cNvPr>
          <p:cNvSpPr/>
          <p:nvPr/>
        </p:nvSpPr>
        <p:spPr>
          <a:xfrm>
            <a:off x="3864254" y="4970354"/>
            <a:ext cx="1643127" cy="1629622"/>
          </a:xfrm>
          <a:prstGeom prst="roundRect">
            <a:avLst/>
          </a:prstGeom>
          <a:solidFill>
            <a:srgbClr val="909EE6"/>
          </a:solidFill>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sz="1400" dirty="0">
                <a:solidFill>
                  <a:schemeClr val="bg1"/>
                </a:solidFill>
              </a:rPr>
              <a:t>Assessment method 1: Scenario Demonstrations with questioning</a:t>
            </a:r>
            <a:endParaRPr lang="en-US" sz="1400" dirty="0">
              <a:solidFill>
                <a:schemeClr val="bg1"/>
              </a:solidFill>
              <a:latin typeface="Aptos"/>
              <a:cs typeface="Arial"/>
            </a:endParaRPr>
          </a:p>
        </p:txBody>
      </p:sp>
      <p:sp>
        <p:nvSpPr>
          <p:cNvPr id="11" name="Rectangle: Rounded Corners 10">
            <a:extLst>
              <a:ext uri="{FF2B5EF4-FFF2-40B4-BE49-F238E27FC236}">
                <a16:creationId xmlns:a16="http://schemas.microsoft.com/office/drawing/2014/main" id="{4FD8A52E-43BD-FB15-62C9-309741648BE0}"/>
              </a:ext>
            </a:extLst>
          </p:cNvPr>
          <p:cNvSpPr/>
          <p:nvPr/>
        </p:nvSpPr>
        <p:spPr>
          <a:xfrm>
            <a:off x="6809643" y="4970351"/>
            <a:ext cx="1542106" cy="1629622"/>
          </a:xfrm>
          <a:prstGeom prst="roundRect">
            <a:avLst/>
          </a:prstGeom>
          <a:solidFill>
            <a:srgbClr val="482E91"/>
          </a:solidFill>
          <a:ln w="19050" cap="flat" cmpd="sng" algn="ctr">
            <a:solidFill>
              <a:prstClr val="black">
                <a:shade val="80000"/>
                <a:hueOff val="0"/>
                <a:satOff val="0"/>
                <a:lumOff val="0"/>
                <a:alphaOff val="0"/>
              </a:prstClr>
            </a:solidFill>
            <a:prstDash val="solid"/>
            <a:miter lim="800000"/>
          </a:ln>
          <a:effectLst/>
        </p:spPr>
        <p:txBody>
          <a:bodyPr spcFirstLastPara="0" vert="horz" wrap="square" lIns="60960" tIns="60960" rIns="60960" bIns="60960" numCol="1" spcCol="1270" anchor="ctr" anchorCtr="0">
            <a:noAutofit/>
          </a:bodyPr>
          <a:lstStyle/>
          <a:p>
            <a:pPr algn="ctr" defTabSz="711200">
              <a:lnSpc>
                <a:spcPct val="90000"/>
              </a:lnSpc>
              <a:spcBef>
                <a:spcPct val="0"/>
              </a:spcBef>
              <a:spcAft>
                <a:spcPct val="35000"/>
              </a:spcAft>
            </a:pPr>
            <a:r>
              <a:rPr lang="en-US" sz="1400" dirty="0">
                <a:solidFill>
                  <a:schemeClr val="bg1"/>
                </a:solidFill>
                <a:latin typeface="Aptos" panose="02110004020202020204"/>
              </a:rPr>
              <a:t>Assessment method 2: Professional Discussion underpinned by Portfolio </a:t>
            </a:r>
            <a:endParaRPr lang="en-GB" sz="1400" dirty="0">
              <a:solidFill>
                <a:schemeClr val="bg1"/>
              </a:solidFill>
              <a:latin typeface="Aptos" panose="02110004020202020204"/>
            </a:endParaRPr>
          </a:p>
        </p:txBody>
      </p:sp>
      <p:pic>
        <p:nvPicPr>
          <p:cNvPr id="12" name="Picture 2" descr="British Computer Society BCS Logo PNG Vector (AI) Free Download">
            <a:extLst>
              <a:ext uri="{FF2B5EF4-FFF2-40B4-BE49-F238E27FC236}">
                <a16:creationId xmlns:a16="http://schemas.microsoft.com/office/drawing/2014/main" id="{A44DBD18-8F01-6CDD-CBC4-8CB7CA60AF09}"/>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60209" y="5306783"/>
            <a:ext cx="867435" cy="1102672"/>
          </a:xfrm>
          <a:prstGeom prst="rect">
            <a:avLst/>
          </a:prstGeom>
          <a:noFill/>
          <a:extLst>
            <a:ext uri="{909E8E84-426E-40DD-AFC4-6F175D3DCCD1}">
              <a14:hiddenFill xmlns:a14="http://schemas.microsoft.com/office/drawing/2010/main">
                <a:solidFill>
                  <a:srgbClr val="FFFFFF"/>
                </a:solidFill>
              </a14:hiddenFill>
            </a:ext>
          </a:extLst>
        </p:spPr>
      </p:pic>
      <p:sp>
        <p:nvSpPr>
          <p:cNvPr id="13" name="Rectangle: Rounded Corners 12">
            <a:extLst>
              <a:ext uri="{FF2B5EF4-FFF2-40B4-BE49-F238E27FC236}">
                <a16:creationId xmlns:a16="http://schemas.microsoft.com/office/drawing/2014/main" id="{7C00D908-E4FA-101C-074D-29FA502E2466}"/>
              </a:ext>
            </a:extLst>
          </p:cNvPr>
          <p:cNvSpPr/>
          <p:nvPr/>
        </p:nvSpPr>
        <p:spPr>
          <a:xfrm>
            <a:off x="181068" y="2609632"/>
            <a:ext cx="11625581" cy="663832"/>
          </a:xfrm>
          <a:prstGeom prst="round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Portfolio Development Collation and mock EPA (8 Pieces of evidence)</a:t>
            </a:r>
          </a:p>
          <a:p>
            <a:pPr algn="ctr"/>
            <a:r>
              <a:rPr lang="en-US" b="1" dirty="0"/>
              <a:t>(3 Months)  </a:t>
            </a:r>
            <a:endParaRPr lang="en-GB" b="1" dirty="0"/>
          </a:p>
        </p:txBody>
      </p:sp>
      <p:sp>
        <p:nvSpPr>
          <p:cNvPr id="14" name="Arrow: Down 13">
            <a:extLst>
              <a:ext uri="{FF2B5EF4-FFF2-40B4-BE49-F238E27FC236}">
                <a16:creationId xmlns:a16="http://schemas.microsoft.com/office/drawing/2014/main" id="{84C2B725-4C2E-4B87-EDB4-9277FCF49B59}"/>
              </a:ext>
            </a:extLst>
          </p:cNvPr>
          <p:cNvSpPr/>
          <p:nvPr/>
        </p:nvSpPr>
        <p:spPr>
          <a:xfrm>
            <a:off x="5768275" y="4454603"/>
            <a:ext cx="451166" cy="479834"/>
          </a:xfrm>
          <a:prstGeom prst="downArrow">
            <a:avLst/>
          </a:prstGeom>
          <a:solidFill>
            <a:srgbClr val="482E91"/>
          </a:solidFill>
          <a:ln>
            <a:solidFill>
              <a:srgbClr val="482E91"/>
            </a:solidFill>
          </a:ln>
          <a:effectLst/>
        </p:spPr>
        <p:txBody>
          <a:bodyPr spcFirstLastPara="0" vert="horz" wrap="square" lIns="0" tIns="0" rIns="0" bIns="0" numCol="1" spcCol="1270" anchor="ctr" anchorCtr="0">
            <a:noAutofit/>
          </a:bodyPr>
          <a:lstStyle/>
          <a:p>
            <a:endParaRPr lang="en-GB"/>
          </a:p>
        </p:txBody>
      </p:sp>
      <p:pic>
        <p:nvPicPr>
          <p:cNvPr id="1603" name="Picture 1602" descr="Logo, company name">
            <a:extLst>
              <a:ext uri="{FF2B5EF4-FFF2-40B4-BE49-F238E27FC236}">
                <a16:creationId xmlns:a16="http://schemas.microsoft.com/office/drawing/2014/main" id="{3137DB65-0CFF-EF09-B025-7A02F78547C5}"/>
              </a:ext>
            </a:extLst>
          </p:cNvPr>
          <p:cNvPicPr>
            <a:picLocks noChangeAspect="1"/>
          </p:cNvPicPr>
          <p:nvPr/>
        </p:nvPicPr>
        <p:blipFill>
          <a:blip r:embed="rId8"/>
          <a:stretch>
            <a:fillRect/>
          </a:stretch>
        </p:blipFill>
        <p:spPr>
          <a:xfrm>
            <a:off x="331749" y="5262676"/>
            <a:ext cx="1991850" cy="956612"/>
          </a:xfrm>
          <a:prstGeom prst="rect">
            <a:avLst/>
          </a:prstGeom>
        </p:spPr>
      </p:pic>
      <p:pic>
        <p:nvPicPr>
          <p:cNvPr id="10" name="Picture 9">
            <a:extLst>
              <a:ext uri="{FF2B5EF4-FFF2-40B4-BE49-F238E27FC236}">
                <a16:creationId xmlns:a16="http://schemas.microsoft.com/office/drawing/2014/main" id="{7F30611E-46CE-05E5-F112-EF4F9E9BD381}"/>
              </a:ext>
            </a:extLst>
          </p:cNvPr>
          <p:cNvPicPr>
            <a:picLocks noChangeAspect="1"/>
          </p:cNvPicPr>
          <p:nvPr/>
        </p:nvPicPr>
        <p:blipFill>
          <a:blip r:embed="rId9"/>
          <a:stretch>
            <a:fillRect/>
          </a:stretch>
        </p:blipFill>
        <p:spPr>
          <a:xfrm>
            <a:off x="10260952" y="5087528"/>
            <a:ext cx="1458708" cy="1454474"/>
          </a:xfrm>
          <a:prstGeom prst="rect">
            <a:avLst/>
          </a:prstGeom>
        </p:spPr>
      </p:pic>
    </p:spTree>
    <p:extLst>
      <p:ext uri="{BB962C8B-B14F-4D97-AF65-F5344CB8AC3E}">
        <p14:creationId xmlns:p14="http://schemas.microsoft.com/office/powerpoint/2010/main" val="34932289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xit" presetSubtype="0" fill="hold" nodeType="withEffect">
                                  <p:stCondLst>
                                    <p:cond delay="0"/>
                                  </p:stCondLst>
                                  <p:childTnLst>
                                    <p:set>
                                      <p:cBhvr>
                                        <p:cTn id="6" dur="1" fill="hold">
                                          <p:stCondLst>
                                            <p:cond delay="0"/>
                                          </p:stCondLst>
                                        </p:cTn>
                                        <p:tgtEl>
                                          <p:spTgt spid="16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735201" y="249802"/>
            <a:ext cx="9034304" cy="1200329"/>
          </a:xfrm>
        </p:spPr>
        <p:txBody>
          <a:bodyPr/>
          <a:lstStyle/>
          <a:p>
            <a:pPr algn="ctr"/>
            <a:r>
              <a:rPr lang="en-US" dirty="0"/>
              <a:t>OneFile &amp; Progress Meetings</a:t>
            </a:r>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30F844FF-FCD4-A005-27E6-B0E457ACC6A4}"/>
              </a:ext>
            </a:extLst>
          </p:cNvPr>
          <p:cNvSpPr txBox="1"/>
          <p:nvPr/>
        </p:nvSpPr>
        <p:spPr>
          <a:xfrm>
            <a:off x="2735201" y="2916891"/>
            <a:ext cx="736223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We can update your </a:t>
            </a:r>
            <a:r>
              <a:rPr lang="en-GB" b="1" dirty="0"/>
              <a:t>progress</a:t>
            </a:r>
            <a:r>
              <a:rPr lang="en-GB" dirty="0"/>
              <a:t> on OneFile by signing off </a:t>
            </a:r>
            <a:r>
              <a:rPr lang="en-GB" b="1" dirty="0"/>
              <a:t>modules and assessments</a:t>
            </a:r>
            <a:r>
              <a:rPr lang="en-GB" dirty="0"/>
              <a:t> you have completed; this provides a clear picture to </a:t>
            </a:r>
            <a:r>
              <a:rPr lang="en-GB" b="1" dirty="0"/>
              <a:t>Blackpool &amp; The Fylde College</a:t>
            </a:r>
            <a:r>
              <a:rPr lang="en-GB" dirty="0"/>
              <a:t> and </a:t>
            </a:r>
            <a:r>
              <a:rPr lang="en-GB" b="1" dirty="0"/>
              <a:t>your employer</a:t>
            </a:r>
            <a:r>
              <a:rPr lang="en-GB" dirty="0"/>
              <a:t> regarding </a:t>
            </a:r>
            <a:r>
              <a:rPr lang="en-GB" b="1" dirty="0"/>
              <a:t>your progress</a:t>
            </a:r>
            <a:r>
              <a:rPr lang="en-GB" dirty="0"/>
              <a:t>.</a:t>
            </a:r>
            <a:r>
              <a:rPr lang="en-GB" dirty="0">
                <a:ea typeface="Calibri"/>
                <a:cs typeface="Calibri"/>
              </a:rPr>
              <a:t>​</a:t>
            </a:r>
            <a:endParaRPr lang="en-GB" dirty="0"/>
          </a:p>
        </p:txBody>
      </p:sp>
      <p:sp>
        <p:nvSpPr>
          <p:cNvPr id="11" name="TextBox 10">
            <a:extLst>
              <a:ext uri="{FF2B5EF4-FFF2-40B4-BE49-F238E27FC236}">
                <a16:creationId xmlns:a16="http://schemas.microsoft.com/office/drawing/2014/main" id="{6AB7E149-488D-CB4A-6623-F2F0FDA53B43}"/>
              </a:ext>
            </a:extLst>
          </p:cNvPr>
          <p:cNvSpPr txBox="1"/>
          <p:nvPr/>
        </p:nvSpPr>
        <p:spPr>
          <a:xfrm>
            <a:off x="2735201" y="4325380"/>
            <a:ext cx="7362235"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Progress Review Meetings</a:t>
            </a:r>
            <a:r>
              <a:rPr lang="en-GB" dirty="0"/>
              <a:t> are conducted </a:t>
            </a:r>
            <a:r>
              <a:rPr lang="en-GB" b="1" dirty="0"/>
              <a:t>every 8 weeks</a:t>
            </a:r>
            <a:r>
              <a:rPr lang="en-GB" dirty="0"/>
              <a:t>. They consist of a </a:t>
            </a:r>
            <a:r>
              <a:rPr lang="en-GB" b="1" dirty="0"/>
              <a:t>30-minute chat</a:t>
            </a:r>
            <a:r>
              <a:rPr lang="en-GB" dirty="0"/>
              <a:t> with a Skills Coach regarding </a:t>
            </a:r>
            <a:r>
              <a:rPr lang="en-GB" b="1" dirty="0"/>
              <a:t>your progress</a:t>
            </a:r>
            <a:r>
              <a:rPr lang="en-GB" dirty="0"/>
              <a:t>. It allows </a:t>
            </a:r>
            <a:r>
              <a:rPr lang="en-GB" b="1" dirty="0"/>
              <a:t>your employer</a:t>
            </a:r>
            <a:r>
              <a:rPr lang="en-GB" dirty="0"/>
              <a:t> and the </a:t>
            </a:r>
            <a:r>
              <a:rPr lang="en-GB" b="1" dirty="0"/>
              <a:t>training provider</a:t>
            </a:r>
            <a:r>
              <a:rPr lang="en-GB" dirty="0"/>
              <a:t> to touch base on </a:t>
            </a:r>
            <a:r>
              <a:rPr lang="en-GB" b="1" dirty="0"/>
              <a:t>your development</a:t>
            </a:r>
            <a:r>
              <a:rPr lang="en-GB" dirty="0"/>
              <a:t> at university and in the workplace. It fulfils the </a:t>
            </a:r>
            <a:r>
              <a:rPr lang="en-GB" b="1" dirty="0"/>
              <a:t>tripartite agreement</a:t>
            </a:r>
            <a:r>
              <a:rPr lang="en-GB" dirty="0"/>
              <a:t> between the three parties.</a:t>
            </a:r>
            <a:r>
              <a:rPr lang="en-GB" dirty="0">
                <a:ea typeface="Calibri"/>
                <a:cs typeface="Calibri"/>
              </a:rPr>
              <a:t>​</a:t>
            </a:r>
            <a:endParaRPr lang="en-GB" dirty="0"/>
          </a:p>
        </p:txBody>
      </p:sp>
      <p:sp>
        <p:nvSpPr>
          <p:cNvPr id="12" name="TextBox 11">
            <a:extLst>
              <a:ext uri="{FF2B5EF4-FFF2-40B4-BE49-F238E27FC236}">
                <a16:creationId xmlns:a16="http://schemas.microsoft.com/office/drawing/2014/main" id="{0206122F-3B6C-69F2-90A4-A2843EA6E917}"/>
              </a:ext>
            </a:extLst>
          </p:cNvPr>
          <p:cNvSpPr txBox="1"/>
          <p:nvPr/>
        </p:nvSpPr>
        <p:spPr>
          <a:xfrm>
            <a:off x="2735202" y="1575365"/>
            <a:ext cx="736223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b="1" dirty="0"/>
              <a:t>OneFile</a:t>
            </a:r>
            <a:r>
              <a:rPr lang="en-GB" dirty="0"/>
              <a:t> is an e-portfolio platform utilised to document your </a:t>
            </a:r>
            <a:r>
              <a:rPr lang="en-GB" b="1" dirty="0"/>
              <a:t>off-the-job hours</a:t>
            </a:r>
            <a:r>
              <a:rPr lang="en-GB" dirty="0"/>
              <a:t> in the </a:t>
            </a:r>
            <a:r>
              <a:rPr lang="en-GB" b="1" dirty="0"/>
              <a:t>Learning Journal</a:t>
            </a:r>
            <a:r>
              <a:rPr lang="en-GB" dirty="0"/>
              <a:t>, complete </a:t>
            </a:r>
            <a:r>
              <a:rPr lang="en-GB" b="1" dirty="0"/>
              <a:t>Scorecards</a:t>
            </a:r>
            <a:r>
              <a:rPr lang="en-GB" dirty="0"/>
              <a:t>, attend </a:t>
            </a:r>
            <a:r>
              <a:rPr lang="en-GB" b="1" dirty="0"/>
              <a:t>Progress Review Meetings</a:t>
            </a:r>
            <a:r>
              <a:rPr lang="en-GB" dirty="0"/>
              <a:t>, and a place for tutors/faculty staff to add </a:t>
            </a:r>
            <a:r>
              <a:rPr lang="en-GB" b="1" dirty="0"/>
              <a:t>notes</a:t>
            </a:r>
            <a:r>
              <a:rPr lang="en-GB" dirty="0"/>
              <a:t>.</a:t>
            </a:r>
            <a:r>
              <a:rPr lang="en-GB" dirty="0">
                <a:ea typeface="Calibri"/>
                <a:cs typeface="Calibri"/>
              </a:rPr>
              <a:t>​</a:t>
            </a:r>
            <a:endParaRPr lang="en-GB" dirty="0"/>
          </a:p>
        </p:txBody>
      </p:sp>
      <p:pic>
        <p:nvPicPr>
          <p:cNvPr id="7" name="Picture 6">
            <a:extLst>
              <a:ext uri="{FF2B5EF4-FFF2-40B4-BE49-F238E27FC236}">
                <a16:creationId xmlns:a16="http://schemas.microsoft.com/office/drawing/2014/main" id="{D24F6054-95CB-2AC4-9AB8-E1D4FAC93382}"/>
              </a:ext>
            </a:extLst>
          </p:cNvPr>
          <p:cNvPicPr>
            <a:picLocks noChangeAspect="1"/>
          </p:cNvPicPr>
          <p:nvPr/>
        </p:nvPicPr>
        <p:blipFill>
          <a:blip r:embed="rId3"/>
          <a:stretch>
            <a:fillRect/>
          </a:stretch>
        </p:blipFill>
        <p:spPr>
          <a:xfrm>
            <a:off x="10581004" y="5313144"/>
            <a:ext cx="1397977" cy="1393919"/>
          </a:xfrm>
          <a:prstGeom prst="rect">
            <a:avLst/>
          </a:prstGeom>
        </p:spPr>
      </p:pic>
    </p:spTree>
    <p:extLst>
      <p:ext uri="{BB962C8B-B14F-4D97-AF65-F5344CB8AC3E}">
        <p14:creationId xmlns:p14="http://schemas.microsoft.com/office/powerpoint/2010/main" val="1286868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510970" y="367505"/>
            <a:ext cx="10515600" cy="1325563"/>
          </a:xfrm>
        </p:spPr>
        <p:txBody>
          <a:bodyPr/>
          <a:lstStyle/>
          <a:p>
            <a:r>
              <a:rPr lang="en-US"/>
              <a:t>Learning Journal </a:t>
            </a:r>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A647B65-B463-BD25-0912-E9DB9A0B9EC1}"/>
              </a:ext>
            </a:extLst>
          </p:cNvPr>
          <p:cNvSpPr txBox="1"/>
          <p:nvPr/>
        </p:nvSpPr>
        <p:spPr>
          <a:xfrm>
            <a:off x="2565519" y="1519640"/>
            <a:ext cx="8381027"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a:cs typeface="Segoe UI"/>
              </a:rPr>
              <a:t>The </a:t>
            </a:r>
            <a:r>
              <a:rPr lang="en-GB" b="1">
                <a:cs typeface="Segoe UI"/>
              </a:rPr>
              <a:t>Learning Journal</a:t>
            </a:r>
            <a:r>
              <a:rPr lang="en-GB">
                <a:cs typeface="Segoe UI"/>
              </a:rPr>
              <a:t> is utilised to document your </a:t>
            </a:r>
            <a:r>
              <a:rPr lang="en-GB" b="1">
                <a:cs typeface="Segoe UI"/>
              </a:rPr>
              <a:t>OTJ hours</a:t>
            </a:r>
            <a:r>
              <a:rPr lang="en-GB">
                <a:cs typeface="Segoe UI"/>
              </a:rPr>
              <a:t>.</a:t>
            </a:r>
            <a:r>
              <a:rPr lang="en-US">
                <a:cs typeface="Segoe UI"/>
              </a:rPr>
              <a:t>​</a:t>
            </a:r>
          </a:p>
          <a:p>
            <a:r>
              <a:rPr lang="en-GB">
                <a:cs typeface="Segoe UI"/>
              </a:rPr>
              <a:t>​</a:t>
            </a:r>
          </a:p>
          <a:p>
            <a:r>
              <a:rPr lang="en-GB">
                <a:cs typeface="Segoe UI"/>
              </a:rPr>
              <a:t>It </a:t>
            </a:r>
            <a:r>
              <a:rPr lang="en-GB" b="1">
                <a:cs typeface="Segoe UI"/>
              </a:rPr>
              <a:t>must</a:t>
            </a:r>
            <a:r>
              <a:rPr lang="en-GB">
                <a:cs typeface="Segoe UI"/>
              </a:rPr>
              <a:t> be completed at the end of each OTJ day. For example, if your university day is a Tuesday, you would complete a </a:t>
            </a:r>
            <a:r>
              <a:rPr lang="en-GB" b="1">
                <a:cs typeface="Segoe UI"/>
              </a:rPr>
              <a:t>Learning Journal</a:t>
            </a:r>
            <a:r>
              <a:rPr lang="en-GB">
                <a:cs typeface="Segoe UI"/>
              </a:rPr>
              <a:t> at the end of that day.</a:t>
            </a:r>
            <a:r>
              <a:rPr lang="en-US">
                <a:cs typeface="Segoe UI"/>
              </a:rPr>
              <a:t>​</a:t>
            </a:r>
          </a:p>
          <a:p>
            <a:r>
              <a:rPr lang="en-GB">
                <a:cs typeface="Segoe UI"/>
              </a:rPr>
              <a:t>​</a:t>
            </a:r>
          </a:p>
          <a:p>
            <a:r>
              <a:rPr lang="en-GB">
                <a:cs typeface="Segoe UI"/>
              </a:rPr>
              <a:t>Learning Journals </a:t>
            </a:r>
            <a:r>
              <a:rPr lang="en-GB" b="1">
                <a:cs typeface="Segoe UI"/>
              </a:rPr>
              <a:t>must</a:t>
            </a:r>
            <a:r>
              <a:rPr lang="en-GB">
                <a:cs typeface="Segoe UI"/>
              </a:rPr>
              <a:t> be completed at least </a:t>
            </a:r>
            <a:r>
              <a:rPr lang="en-GB" b="1">
                <a:cs typeface="Segoe UI"/>
              </a:rPr>
              <a:t>every 20 days</a:t>
            </a:r>
            <a:r>
              <a:rPr lang="en-GB">
                <a:cs typeface="Segoe UI"/>
              </a:rPr>
              <a:t> or else you put </a:t>
            </a:r>
            <a:r>
              <a:rPr lang="en-GB" b="1">
                <a:cs typeface="Segoe UI"/>
              </a:rPr>
              <a:t>yourself</a:t>
            </a:r>
            <a:r>
              <a:rPr lang="en-GB">
                <a:cs typeface="Segoe UI"/>
              </a:rPr>
              <a:t> and the </a:t>
            </a:r>
            <a:r>
              <a:rPr lang="en-GB" b="1">
                <a:cs typeface="Segoe UI"/>
              </a:rPr>
              <a:t>university</a:t>
            </a:r>
            <a:r>
              <a:rPr lang="en-GB">
                <a:cs typeface="Segoe UI"/>
              </a:rPr>
              <a:t> in</a:t>
            </a:r>
            <a:r>
              <a:rPr lang="en-GB" b="1">
                <a:cs typeface="Segoe UI"/>
              </a:rPr>
              <a:t> breach</a:t>
            </a:r>
            <a:r>
              <a:rPr lang="en-GB">
                <a:cs typeface="Segoe UI"/>
              </a:rPr>
              <a:t> of the</a:t>
            </a:r>
            <a:r>
              <a:rPr lang="en-GB" b="1">
                <a:cs typeface="Segoe UI"/>
              </a:rPr>
              <a:t> funding rules</a:t>
            </a:r>
            <a:r>
              <a:rPr lang="en-GB">
                <a:cs typeface="Segoe UI"/>
              </a:rPr>
              <a:t>.</a:t>
            </a:r>
            <a:r>
              <a:rPr lang="en-US">
                <a:cs typeface="Segoe UI"/>
              </a:rPr>
              <a:t>​</a:t>
            </a:r>
          </a:p>
          <a:p>
            <a:r>
              <a:rPr lang="en-GB">
                <a:cs typeface="Segoe UI"/>
              </a:rPr>
              <a:t>​</a:t>
            </a:r>
          </a:p>
          <a:p>
            <a:r>
              <a:rPr lang="en-GB">
                <a:cs typeface="Segoe UI"/>
              </a:rPr>
              <a:t>Learning Journals </a:t>
            </a:r>
            <a:r>
              <a:rPr lang="en-GB" b="1">
                <a:cs typeface="Segoe UI"/>
              </a:rPr>
              <a:t>must</a:t>
            </a:r>
            <a:r>
              <a:rPr lang="en-GB">
                <a:cs typeface="Segoe UI"/>
              </a:rPr>
              <a:t> be </a:t>
            </a:r>
            <a:r>
              <a:rPr lang="en-GB" b="1">
                <a:cs typeface="Segoe UI"/>
              </a:rPr>
              <a:t>reflective</a:t>
            </a:r>
            <a:r>
              <a:rPr lang="en-GB">
                <a:cs typeface="Segoe UI"/>
              </a:rPr>
              <a:t>. A sentence stating you attended university will </a:t>
            </a:r>
            <a:r>
              <a:rPr lang="en-GB" b="1">
                <a:cs typeface="Segoe UI"/>
              </a:rPr>
              <a:t>not</a:t>
            </a:r>
            <a:r>
              <a:rPr lang="en-GB">
                <a:cs typeface="Segoe UI"/>
              </a:rPr>
              <a:t> be accepted. A third party should be able to read your Learning Journals and understand what you </a:t>
            </a:r>
            <a:r>
              <a:rPr lang="en-GB" b="1">
                <a:cs typeface="Segoe UI"/>
              </a:rPr>
              <a:t>learnt</a:t>
            </a:r>
            <a:r>
              <a:rPr lang="en-GB">
                <a:cs typeface="Segoe UI"/>
              </a:rPr>
              <a:t> during your </a:t>
            </a:r>
            <a:r>
              <a:rPr lang="en-GB" b="1">
                <a:cs typeface="Segoe UI"/>
              </a:rPr>
              <a:t>OTJ hours</a:t>
            </a:r>
            <a:r>
              <a:rPr lang="en-GB">
                <a:cs typeface="Segoe UI"/>
              </a:rPr>
              <a:t>.</a:t>
            </a:r>
            <a:r>
              <a:rPr lang="en-US">
                <a:cs typeface="Segoe UI"/>
              </a:rPr>
              <a:t>​</a:t>
            </a:r>
          </a:p>
        </p:txBody>
      </p:sp>
      <p:pic>
        <p:nvPicPr>
          <p:cNvPr id="6" name="Picture 5">
            <a:extLst>
              <a:ext uri="{FF2B5EF4-FFF2-40B4-BE49-F238E27FC236}">
                <a16:creationId xmlns:a16="http://schemas.microsoft.com/office/drawing/2014/main" id="{93297B05-0488-537B-8233-B953AB32042C}"/>
              </a:ext>
            </a:extLst>
          </p:cNvPr>
          <p:cNvPicPr>
            <a:picLocks noChangeAspect="1"/>
          </p:cNvPicPr>
          <p:nvPr/>
        </p:nvPicPr>
        <p:blipFill>
          <a:blip r:embed="rId3"/>
          <a:stretch>
            <a:fillRect/>
          </a:stretch>
        </p:blipFill>
        <p:spPr>
          <a:xfrm>
            <a:off x="10437805" y="5338360"/>
            <a:ext cx="1329422" cy="1325563"/>
          </a:xfrm>
          <a:prstGeom prst="rect">
            <a:avLst/>
          </a:prstGeom>
        </p:spPr>
      </p:pic>
    </p:spTree>
    <p:extLst>
      <p:ext uri="{BB962C8B-B14F-4D97-AF65-F5344CB8AC3E}">
        <p14:creationId xmlns:p14="http://schemas.microsoft.com/office/powerpoint/2010/main" val="912699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510970" y="367505"/>
            <a:ext cx="10515600" cy="1325563"/>
          </a:xfrm>
        </p:spPr>
        <p:txBody>
          <a:bodyPr/>
          <a:lstStyle/>
          <a:p>
            <a:r>
              <a:rPr lang="en-US"/>
              <a:t>Developing your character…. </a:t>
            </a:r>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A647B65-B463-BD25-0912-E9DB9A0B9EC1}"/>
              </a:ext>
            </a:extLst>
          </p:cNvPr>
          <p:cNvSpPr txBox="1"/>
          <p:nvPr/>
        </p:nvSpPr>
        <p:spPr>
          <a:xfrm>
            <a:off x="2565519" y="1519640"/>
            <a:ext cx="905581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400"/>
              <a:t>During your </a:t>
            </a:r>
            <a:r>
              <a:rPr lang="en-US" sz="1400" b="1"/>
              <a:t>Progress Review Meetings</a:t>
            </a:r>
            <a:r>
              <a:rPr lang="en-US" sz="1400"/>
              <a:t>, we will discuss a range of hot topics, guide on </a:t>
            </a:r>
            <a:r>
              <a:rPr lang="en-US" sz="1400" b="1"/>
              <a:t>enrichment opportunities</a:t>
            </a:r>
            <a:r>
              <a:rPr lang="en-US" sz="1400"/>
              <a:t>, and ensure we can </a:t>
            </a:r>
            <a:r>
              <a:rPr lang="en-US" sz="1400" b="1"/>
              <a:t>keep you safe</a:t>
            </a:r>
            <a:r>
              <a:rPr lang="en-US" sz="1400"/>
              <a:t> through discussions, activities and B&amp;FC events.</a:t>
            </a:r>
            <a:endParaRPr lang="en-US" sz="1400">
              <a:ea typeface="Calibri"/>
              <a:cs typeface="Calibri"/>
            </a:endParaRPr>
          </a:p>
          <a:p>
            <a:endParaRPr lang="en-US" sz="1400"/>
          </a:p>
          <a:p>
            <a:r>
              <a:rPr lang="en-US" sz="1400"/>
              <a:t>Your</a:t>
            </a:r>
            <a:r>
              <a:rPr lang="en-US" sz="1400" b="1"/>
              <a:t> PPD curriculum </a:t>
            </a:r>
            <a:r>
              <a:rPr lang="en-US" sz="1400"/>
              <a:t>is your opportunity to further </a:t>
            </a:r>
            <a:r>
              <a:rPr lang="en-US" sz="1400" b="1"/>
              <a:t>develop</a:t>
            </a:r>
            <a:r>
              <a:rPr lang="en-US" sz="1400"/>
              <a:t> your own </a:t>
            </a:r>
            <a:r>
              <a:rPr lang="en-US" sz="1400" b="1"/>
              <a:t>unique character</a:t>
            </a:r>
            <a:r>
              <a:rPr lang="en-US" sz="1400"/>
              <a:t> during your time here with us at </a:t>
            </a:r>
            <a:r>
              <a:rPr lang="en-US" sz="1400" b="1"/>
              <a:t>B&amp;FC</a:t>
            </a:r>
            <a:r>
              <a:rPr lang="en-US" sz="1400"/>
              <a:t>. </a:t>
            </a:r>
            <a:endParaRPr lang="en-US" sz="1400">
              <a:ea typeface="Calibri" panose="020F0502020204030204"/>
              <a:cs typeface="Calibri" panose="020F0502020204030204"/>
            </a:endParaRPr>
          </a:p>
          <a:p>
            <a:endParaRPr lang="en-US" sz="1400"/>
          </a:p>
          <a:p>
            <a:r>
              <a:rPr lang="en-US" sz="1400"/>
              <a:t>Here are the </a:t>
            </a:r>
            <a:r>
              <a:rPr lang="en-US" sz="1400" b="1"/>
              <a:t>British Value Stamp Logos</a:t>
            </a:r>
            <a:r>
              <a:rPr lang="en-US" sz="1400"/>
              <a:t> to watch out for at </a:t>
            </a:r>
            <a:r>
              <a:rPr lang="en-US" sz="1400" b="1"/>
              <a:t>B&amp;FC</a:t>
            </a:r>
            <a:r>
              <a:rPr lang="en-US" sz="1400"/>
              <a:t>...</a:t>
            </a:r>
            <a:endParaRPr lang="en-US" sz="1400">
              <a:ea typeface="Calibri" panose="020F0502020204030204"/>
              <a:cs typeface="Calibri" panose="020F0502020204030204"/>
            </a:endParaRPr>
          </a:p>
          <a:p>
            <a:endParaRPr lang="en-US" sz="1400"/>
          </a:p>
          <a:p>
            <a:endParaRPr lang="en-US" sz="1400">
              <a:ea typeface="Calibri"/>
              <a:cs typeface="Segoe UI"/>
            </a:endParaRPr>
          </a:p>
        </p:txBody>
      </p:sp>
      <p:pic>
        <p:nvPicPr>
          <p:cNvPr id="7" name="Picture 6" descr="A logo of handshake in a circle">
            <a:extLst>
              <a:ext uri="{FF2B5EF4-FFF2-40B4-BE49-F238E27FC236}">
                <a16:creationId xmlns:a16="http://schemas.microsoft.com/office/drawing/2014/main" id="{A7939C45-34A6-AEAC-9A3B-A16388D5A7C9}"/>
              </a:ext>
            </a:extLst>
          </p:cNvPr>
          <p:cNvPicPr>
            <a:picLocks noChangeAspect="1"/>
          </p:cNvPicPr>
          <p:nvPr/>
        </p:nvPicPr>
        <p:blipFill>
          <a:blip r:embed="rId3"/>
          <a:stretch>
            <a:fillRect/>
          </a:stretch>
        </p:blipFill>
        <p:spPr>
          <a:xfrm>
            <a:off x="2170308" y="3147306"/>
            <a:ext cx="2743200" cy="2743200"/>
          </a:xfrm>
          <a:prstGeom prst="rect">
            <a:avLst/>
          </a:prstGeom>
        </p:spPr>
      </p:pic>
      <p:pic>
        <p:nvPicPr>
          <p:cNvPr id="8" name="Picture 7" descr="A green and white logo&#10;&#10;Description automatically generated">
            <a:extLst>
              <a:ext uri="{FF2B5EF4-FFF2-40B4-BE49-F238E27FC236}">
                <a16:creationId xmlns:a16="http://schemas.microsoft.com/office/drawing/2014/main" id="{0D55400B-7E6A-7DFC-F2C6-5588A440726A}"/>
              </a:ext>
            </a:extLst>
          </p:cNvPr>
          <p:cNvPicPr>
            <a:picLocks noChangeAspect="1"/>
          </p:cNvPicPr>
          <p:nvPr/>
        </p:nvPicPr>
        <p:blipFill>
          <a:blip r:embed="rId4"/>
          <a:stretch>
            <a:fillRect/>
          </a:stretch>
        </p:blipFill>
        <p:spPr>
          <a:xfrm>
            <a:off x="9352911" y="3226974"/>
            <a:ext cx="2398145" cy="2398145"/>
          </a:xfrm>
          <a:prstGeom prst="rect">
            <a:avLst/>
          </a:prstGeom>
        </p:spPr>
      </p:pic>
      <p:pic>
        <p:nvPicPr>
          <p:cNvPr id="9" name="Picture 8" descr="A purple circle with a person in a tie and a speech bubble&#10;&#10;Description automatically generated">
            <a:extLst>
              <a:ext uri="{FF2B5EF4-FFF2-40B4-BE49-F238E27FC236}">
                <a16:creationId xmlns:a16="http://schemas.microsoft.com/office/drawing/2014/main" id="{7C41F26A-D918-59A2-0BFA-19CDCB508797}"/>
              </a:ext>
            </a:extLst>
          </p:cNvPr>
          <p:cNvPicPr>
            <a:picLocks noChangeAspect="1"/>
          </p:cNvPicPr>
          <p:nvPr/>
        </p:nvPicPr>
        <p:blipFill>
          <a:blip r:embed="rId5"/>
          <a:stretch>
            <a:fillRect/>
          </a:stretch>
        </p:blipFill>
        <p:spPr>
          <a:xfrm>
            <a:off x="6940711" y="3162179"/>
            <a:ext cx="2541917" cy="2570671"/>
          </a:xfrm>
          <a:prstGeom prst="rect">
            <a:avLst/>
          </a:prstGeom>
        </p:spPr>
      </p:pic>
      <p:pic>
        <p:nvPicPr>
          <p:cNvPr id="10" name="Picture 9" descr="A logo of a judge gavel&#10;&#10;Description automatically generated">
            <a:extLst>
              <a:ext uri="{FF2B5EF4-FFF2-40B4-BE49-F238E27FC236}">
                <a16:creationId xmlns:a16="http://schemas.microsoft.com/office/drawing/2014/main" id="{609D0050-E08A-B0A5-9983-0A32AF432977}"/>
              </a:ext>
            </a:extLst>
          </p:cNvPr>
          <p:cNvPicPr>
            <a:picLocks noChangeAspect="1"/>
          </p:cNvPicPr>
          <p:nvPr/>
        </p:nvPicPr>
        <p:blipFill>
          <a:blip r:embed="rId6"/>
          <a:stretch>
            <a:fillRect/>
          </a:stretch>
        </p:blipFill>
        <p:spPr>
          <a:xfrm>
            <a:off x="4542566" y="3233570"/>
            <a:ext cx="2541917" cy="2570672"/>
          </a:xfrm>
          <a:prstGeom prst="rect">
            <a:avLst/>
          </a:prstGeom>
        </p:spPr>
      </p:pic>
      <p:pic>
        <p:nvPicPr>
          <p:cNvPr id="11" name="Picture 10" descr="Logo, company name">
            <a:extLst>
              <a:ext uri="{FF2B5EF4-FFF2-40B4-BE49-F238E27FC236}">
                <a16:creationId xmlns:a16="http://schemas.microsoft.com/office/drawing/2014/main" id="{597F926C-438C-95C9-C7D3-18CEA69CFCB5}"/>
              </a:ext>
            </a:extLst>
          </p:cNvPr>
          <p:cNvPicPr>
            <a:picLocks noChangeAspect="1"/>
          </p:cNvPicPr>
          <p:nvPr/>
        </p:nvPicPr>
        <p:blipFill rotWithShape="1">
          <a:blip r:embed="rId7"/>
          <a:srcRect l="78959"/>
          <a:stretch/>
        </p:blipFill>
        <p:spPr>
          <a:xfrm rot="16200000">
            <a:off x="665907" y="5457221"/>
            <a:ext cx="801788" cy="1830088"/>
          </a:xfrm>
          <a:prstGeom prst="rect">
            <a:avLst/>
          </a:prstGeom>
        </p:spPr>
      </p:pic>
    </p:spTree>
    <p:extLst>
      <p:ext uri="{BB962C8B-B14F-4D97-AF65-F5344CB8AC3E}">
        <p14:creationId xmlns:p14="http://schemas.microsoft.com/office/powerpoint/2010/main" val="1940089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C9E6B-9BE0-3D4D-EB0A-48FA6D34A052}"/>
              </a:ext>
            </a:extLst>
          </p:cNvPr>
          <p:cNvSpPr>
            <a:spLocks noGrp="1"/>
          </p:cNvSpPr>
          <p:nvPr>
            <p:ph type="title"/>
          </p:nvPr>
        </p:nvSpPr>
        <p:spPr>
          <a:xfrm>
            <a:off x="2510970" y="367505"/>
            <a:ext cx="10515600" cy="1325563"/>
          </a:xfrm>
        </p:spPr>
        <p:txBody>
          <a:bodyPr/>
          <a:lstStyle/>
          <a:p>
            <a:r>
              <a:rPr lang="en-US"/>
              <a:t>Off The Job Training</a:t>
            </a:r>
          </a:p>
        </p:txBody>
      </p:sp>
      <p:pic>
        <p:nvPicPr>
          <p:cNvPr id="4" name="Picture 2" descr="Blackpool and The Fylde College">
            <a:extLst>
              <a:ext uri="{FF2B5EF4-FFF2-40B4-BE49-F238E27FC236}">
                <a16:creationId xmlns:a16="http://schemas.microsoft.com/office/drawing/2014/main" id="{5FDD5D62-6AE7-24DF-C8AD-1A191F17EC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41275"/>
            <a:ext cx="2143126" cy="2143125"/>
          </a:xfrm>
          <a:prstGeom prst="rect">
            <a:avLst/>
          </a:prstGeom>
          <a:solidFill>
            <a:srgbClr val="482E91"/>
          </a:solidFill>
        </p:spPr>
      </p:pic>
      <p:sp>
        <p:nvSpPr>
          <p:cNvPr id="5" name="Rectangle 4">
            <a:extLst>
              <a:ext uri="{FF2B5EF4-FFF2-40B4-BE49-F238E27FC236}">
                <a16:creationId xmlns:a16="http://schemas.microsoft.com/office/drawing/2014/main" id="{1414EB6C-8920-E11F-1D65-FA2DCAD22B83}"/>
              </a:ext>
            </a:extLst>
          </p:cNvPr>
          <p:cNvSpPr/>
          <p:nvPr/>
        </p:nvSpPr>
        <p:spPr>
          <a:xfrm>
            <a:off x="1" y="2037030"/>
            <a:ext cx="2133600" cy="4820970"/>
          </a:xfrm>
          <a:prstGeom prst="rect">
            <a:avLst/>
          </a:prstGeom>
          <a:solidFill>
            <a:srgbClr val="482E91"/>
          </a:solidFill>
          <a:ln>
            <a:solidFill>
              <a:srgbClr val="482E9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extBox 2">
            <a:extLst>
              <a:ext uri="{FF2B5EF4-FFF2-40B4-BE49-F238E27FC236}">
                <a16:creationId xmlns:a16="http://schemas.microsoft.com/office/drawing/2014/main" id="{2A647B65-B463-BD25-0912-E9DB9A0B9EC1}"/>
              </a:ext>
            </a:extLst>
          </p:cNvPr>
          <p:cNvSpPr txBox="1"/>
          <p:nvPr/>
        </p:nvSpPr>
        <p:spPr>
          <a:xfrm>
            <a:off x="2582854" y="1432967"/>
            <a:ext cx="9055819" cy="387798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cs typeface="Segoe UI"/>
              </a:rPr>
              <a:t>Off-the-job (OTJ) hours</a:t>
            </a:r>
            <a:r>
              <a:rPr lang="en-GB" sz="1400">
                <a:cs typeface="Segoe UI"/>
              </a:rPr>
              <a:t> is defined as </a:t>
            </a:r>
            <a:r>
              <a:rPr lang="en-GB" sz="1400" b="1">
                <a:cs typeface="Segoe UI"/>
              </a:rPr>
              <a:t>learning</a:t>
            </a:r>
            <a:r>
              <a:rPr lang="en-GB" sz="1400">
                <a:cs typeface="Segoe UI"/>
              </a:rPr>
              <a:t> which is undertaken outside of day-to-day work duties and leads towards the </a:t>
            </a:r>
            <a:r>
              <a:rPr lang="en-GB" sz="1400" b="1">
                <a:cs typeface="Segoe UI"/>
              </a:rPr>
              <a:t>achievement</a:t>
            </a:r>
            <a:r>
              <a:rPr lang="en-GB" sz="1400">
                <a:cs typeface="Segoe UI"/>
              </a:rPr>
              <a:t> of your apprenticeship. This training takes place with your </a:t>
            </a:r>
            <a:r>
              <a:rPr lang="en-GB" sz="1400" b="1">
                <a:cs typeface="Segoe UI"/>
              </a:rPr>
              <a:t>normal (contracted) working hours</a:t>
            </a:r>
            <a:r>
              <a:rPr lang="en-GB" sz="1400">
                <a:cs typeface="Segoe UI"/>
              </a:rPr>
              <a:t>.</a:t>
            </a:r>
            <a:r>
              <a:rPr lang="en-US" sz="1400">
                <a:cs typeface="Segoe UI"/>
              </a:rPr>
              <a:t>​</a:t>
            </a:r>
          </a:p>
          <a:p>
            <a:r>
              <a:rPr lang="en-GB" sz="1400">
                <a:cs typeface="Segoe UI"/>
              </a:rPr>
              <a:t>​</a:t>
            </a:r>
          </a:p>
          <a:p>
            <a:r>
              <a:rPr lang="en-GB" sz="1400">
                <a:cs typeface="Segoe UI"/>
              </a:rPr>
              <a:t>The OTJ training </a:t>
            </a:r>
            <a:r>
              <a:rPr lang="en-GB" sz="1400" b="1">
                <a:cs typeface="Segoe UI"/>
              </a:rPr>
              <a:t>must</a:t>
            </a:r>
            <a:r>
              <a:rPr lang="en-GB" sz="1400">
                <a:cs typeface="Segoe UI"/>
              </a:rPr>
              <a:t> be directly </a:t>
            </a:r>
            <a:r>
              <a:rPr lang="en-GB" sz="1400" b="1">
                <a:cs typeface="Segoe UI"/>
              </a:rPr>
              <a:t>relevant</a:t>
            </a:r>
            <a:r>
              <a:rPr lang="en-GB" sz="1400">
                <a:cs typeface="Segoe UI"/>
              </a:rPr>
              <a:t> to the </a:t>
            </a:r>
            <a:r>
              <a:rPr lang="en-GB" sz="1400" b="1">
                <a:cs typeface="Segoe UI"/>
              </a:rPr>
              <a:t>apprenticeship </a:t>
            </a:r>
            <a:r>
              <a:rPr lang="en-GB" sz="1400">
                <a:cs typeface="Segoe UI"/>
              </a:rPr>
              <a:t>and the </a:t>
            </a:r>
            <a:r>
              <a:rPr lang="en-GB" sz="1400" b="1">
                <a:cs typeface="Segoe UI"/>
              </a:rPr>
              <a:t>minimum</a:t>
            </a:r>
            <a:r>
              <a:rPr lang="en-GB" sz="1400">
                <a:cs typeface="Segoe UI"/>
              </a:rPr>
              <a:t> number of hours is </a:t>
            </a:r>
            <a:r>
              <a:rPr lang="en-GB" sz="1400" b="1">
                <a:cs typeface="Segoe UI"/>
              </a:rPr>
              <a:t>6 hours per week</a:t>
            </a:r>
            <a:r>
              <a:rPr lang="en-GB" sz="1400">
                <a:cs typeface="Segoe UI"/>
              </a:rPr>
              <a:t>. OTJ hours allow for the </a:t>
            </a:r>
            <a:r>
              <a:rPr lang="en-GB" sz="1400" b="1">
                <a:cs typeface="Segoe UI"/>
              </a:rPr>
              <a:t>development</a:t>
            </a:r>
            <a:r>
              <a:rPr lang="en-GB" sz="1400">
                <a:cs typeface="Segoe UI"/>
              </a:rPr>
              <a:t> of the required </a:t>
            </a:r>
            <a:r>
              <a:rPr lang="en-GB" sz="1400" b="1">
                <a:cs typeface="Segoe UI"/>
              </a:rPr>
              <a:t>knowledge</a:t>
            </a:r>
            <a:r>
              <a:rPr lang="en-GB" sz="1400">
                <a:cs typeface="Segoe UI"/>
              </a:rPr>
              <a:t>, </a:t>
            </a:r>
            <a:r>
              <a:rPr lang="en-GB" sz="1400" b="1">
                <a:cs typeface="Segoe UI"/>
              </a:rPr>
              <a:t>skills</a:t>
            </a:r>
            <a:r>
              <a:rPr lang="en-GB" sz="1400">
                <a:cs typeface="Segoe UI"/>
              </a:rPr>
              <a:t>, and </a:t>
            </a:r>
            <a:r>
              <a:rPr lang="en-GB" sz="1400" b="1">
                <a:cs typeface="Segoe UI"/>
              </a:rPr>
              <a:t>behaviours (KSBs)</a:t>
            </a:r>
            <a:r>
              <a:rPr lang="en-GB" sz="1400">
                <a:cs typeface="Segoe UI"/>
              </a:rPr>
              <a:t>.</a:t>
            </a:r>
            <a:r>
              <a:rPr lang="en-US" sz="1400">
                <a:cs typeface="Segoe UI"/>
              </a:rPr>
              <a:t>​</a:t>
            </a:r>
          </a:p>
          <a:p>
            <a:r>
              <a:rPr lang="en-GB" sz="1400">
                <a:cs typeface="Segoe UI"/>
              </a:rPr>
              <a:t>​</a:t>
            </a:r>
          </a:p>
          <a:p>
            <a:r>
              <a:rPr lang="en-GB" sz="1400" b="1">
                <a:cs typeface="Segoe UI"/>
              </a:rPr>
              <a:t>Knowledge</a:t>
            </a:r>
            <a:r>
              <a:rPr lang="en-GB" sz="1400">
                <a:cs typeface="Segoe UI"/>
              </a:rPr>
              <a:t> - the information, technical detail someone needs to have and understand. Some knowledge will be occupation-specific, whereas some may be more generic.</a:t>
            </a:r>
            <a:r>
              <a:rPr lang="en-US" sz="1400">
                <a:cs typeface="Segoe UI"/>
              </a:rPr>
              <a:t>​</a:t>
            </a:r>
          </a:p>
          <a:p>
            <a:r>
              <a:rPr lang="en-GB" sz="1400">
                <a:cs typeface="Segoe UI"/>
              </a:rPr>
              <a:t>​</a:t>
            </a:r>
          </a:p>
          <a:p>
            <a:r>
              <a:rPr lang="en-GB" sz="1400" b="1">
                <a:cs typeface="Segoe UI"/>
              </a:rPr>
              <a:t>Skills</a:t>
            </a:r>
            <a:r>
              <a:rPr lang="en-GB" sz="1400">
                <a:cs typeface="Segoe UI"/>
              </a:rPr>
              <a:t> - the practical application of knowledge needed to successfully do their duties. They are learnt through on- and/or off-the-job training or experience.</a:t>
            </a:r>
            <a:r>
              <a:rPr lang="en-US" sz="1400">
                <a:cs typeface="Segoe UI"/>
              </a:rPr>
              <a:t>​</a:t>
            </a:r>
          </a:p>
          <a:p>
            <a:r>
              <a:rPr lang="en-GB" sz="1400">
                <a:cs typeface="Segoe UI"/>
              </a:rPr>
              <a:t>​</a:t>
            </a:r>
          </a:p>
          <a:p>
            <a:r>
              <a:rPr lang="en-GB" sz="1400" b="1">
                <a:cs typeface="Segoe UI"/>
              </a:rPr>
              <a:t>Behaviours </a:t>
            </a:r>
            <a:r>
              <a:rPr lang="en-GB" sz="1400">
                <a:cs typeface="Segoe UI"/>
              </a:rPr>
              <a:t>- mindsets, attitudes or approaches needed. Whilst these can be innate or instinctive, they can also be learnt. Behaviours tend to be very transferable. They may be more similar across apprenticeships than knowledge and skills. For example, team worker, adaptable and professional.​</a:t>
            </a:r>
          </a:p>
          <a:p>
            <a:r>
              <a:rPr lang="en-GB">
                <a:cs typeface="Segoe UI"/>
              </a:rPr>
              <a:t>​</a:t>
            </a:r>
          </a:p>
        </p:txBody>
      </p:sp>
      <p:sp>
        <p:nvSpPr>
          <p:cNvPr id="6" name="TextBox 5">
            <a:extLst>
              <a:ext uri="{FF2B5EF4-FFF2-40B4-BE49-F238E27FC236}">
                <a16:creationId xmlns:a16="http://schemas.microsoft.com/office/drawing/2014/main" id="{AB2716A1-9A73-4406-4CB9-00D0EED3BB23}"/>
              </a:ext>
            </a:extLst>
          </p:cNvPr>
          <p:cNvSpPr txBox="1"/>
          <p:nvPr/>
        </p:nvSpPr>
        <p:spPr>
          <a:xfrm>
            <a:off x="2582854" y="5241532"/>
            <a:ext cx="5295400" cy="1169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1400" b="1">
                <a:cs typeface="Arial"/>
              </a:rPr>
              <a:t>A List of OTJ Activities</a:t>
            </a:r>
            <a:r>
              <a:rPr lang="en-US" sz="1400">
                <a:cs typeface="Arial"/>
              </a:rPr>
              <a:t>​</a:t>
            </a:r>
          </a:p>
          <a:p>
            <a:pPr lvl="1">
              <a:buAutoNum type="arabicPeriod"/>
            </a:pPr>
            <a:r>
              <a:rPr lang="en-GB" sz="1400">
                <a:cs typeface="Arial"/>
              </a:rPr>
              <a:t> Completing course assignments</a:t>
            </a:r>
            <a:r>
              <a:rPr lang="en-US" sz="1400">
                <a:cs typeface="Arial"/>
              </a:rPr>
              <a:t>​</a:t>
            </a:r>
            <a:endParaRPr lang="en-US" sz="1400">
              <a:ea typeface="Calibri"/>
              <a:cs typeface="Arial"/>
            </a:endParaRPr>
          </a:p>
          <a:p>
            <a:pPr lvl="1">
              <a:buAutoNum type="arabicPeriod"/>
            </a:pPr>
            <a:r>
              <a:rPr lang="en-GB" sz="1400">
                <a:cs typeface="Arial"/>
              </a:rPr>
              <a:t> In-house training</a:t>
            </a:r>
            <a:r>
              <a:rPr lang="en-US" sz="1400">
                <a:cs typeface="Arial"/>
              </a:rPr>
              <a:t>​</a:t>
            </a:r>
            <a:endParaRPr lang="en-US" sz="1400">
              <a:ea typeface="Calibri"/>
              <a:cs typeface="Arial"/>
            </a:endParaRPr>
          </a:p>
          <a:p>
            <a:pPr lvl="1">
              <a:buAutoNum type="arabicPeriod"/>
            </a:pPr>
            <a:r>
              <a:rPr lang="en-GB" sz="1400">
                <a:cs typeface="Arial"/>
              </a:rPr>
              <a:t> Working through a relevant course or qualification</a:t>
            </a:r>
            <a:r>
              <a:rPr lang="en-US" sz="1400">
                <a:cs typeface="Arial"/>
              </a:rPr>
              <a:t>​</a:t>
            </a:r>
            <a:endParaRPr lang="en-US" sz="1400">
              <a:ea typeface="Calibri"/>
              <a:cs typeface="Arial"/>
            </a:endParaRPr>
          </a:p>
          <a:p>
            <a:pPr lvl="1">
              <a:buAutoNum type="arabicPeriod"/>
            </a:pPr>
            <a:r>
              <a:rPr lang="en-GB" sz="1400">
                <a:cs typeface="Arial"/>
              </a:rPr>
              <a:t> Shadowing</a:t>
            </a:r>
            <a:r>
              <a:rPr lang="en-US" sz="1400">
                <a:cs typeface="Arial"/>
              </a:rPr>
              <a:t>​</a:t>
            </a:r>
            <a:endParaRPr lang="en-US" sz="1400">
              <a:ea typeface="Calibri"/>
              <a:cs typeface="Arial"/>
            </a:endParaRPr>
          </a:p>
        </p:txBody>
      </p:sp>
      <p:pic>
        <p:nvPicPr>
          <p:cNvPr id="8" name="Picture 7">
            <a:extLst>
              <a:ext uri="{FF2B5EF4-FFF2-40B4-BE49-F238E27FC236}">
                <a16:creationId xmlns:a16="http://schemas.microsoft.com/office/drawing/2014/main" id="{FB099B06-F309-1C58-9EB9-C50892FF4A9F}"/>
              </a:ext>
            </a:extLst>
          </p:cNvPr>
          <p:cNvPicPr>
            <a:picLocks noChangeAspect="1"/>
          </p:cNvPicPr>
          <p:nvPr/>
        </p:nvPicPr>
        <p:blipFill>
          <a:blip r:embed="rId3"/>
          <a:stretch>
            <a:fillRect/>
          </a:stretch>
        </p:blipFill>
        <p:spPr>
          <a:xfrm>
            <a:off x="10260531" y="5278355"/>
            <a:ext cx="1320061" cy="1316229"/>
          </a:xfrm>
          <a:prstGeom prst="rect">
            <a:avLst/>
          </a:prstGeom>
        </p:spPr>
      </p:pic>
    </p:spTree>
    <p:extLst>
      <p:ext uri="{BB962C8B-B14F-4D97-AF65-F5344CB8AC3E}">
        <p14:creationId xmlns:p14="http://schemas.microsoft.com/office/powerpoint/2010/main" val="28028005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4E47D-D795-EFAF-4535-7ED3E8019CE4}"/>
              </a:ext>
            </a:extLst>
          </p:cNvPr>
          <p:cNvSpPr>
            <a:spLocks noGrp="1"/>
          </p:cNvSpPr>
          <p:nvPr>
            <p:ph type="title"/>
          </p:nvPr>
        </p:nvSpPr>
        <p:spPr>
          <a:xfrm>
            <a:off x="200891" y="124980"/>
            <a:ext cx="4251036" cy="641639"/>
          </a:xfrm>
        </p:spPr>
        <p:txBody>
          <a:bodyPr>
            <a:normAutofit fontScale="90000"/>
          </a:bodyPr>
          <a:lstStyle/>
          <a:p>
            <a:r>
              <a:rPr lang="en-GB"/>
              <a:t>Off The-job Training</a:t>
            </a:r>
          </a:p>
        </p:txBody>
      </p:sp>
      <p:pic>
        <p:nvPicPr>
          <p:cNvPr id="7" name="Picture 6">
            <a:extLst>
              <a:ext uri="{FF2B5EF4-FFF2-40B4-BE49-F238E27FC236}">
                <a16:creationId xmlns:a16="http://schemas.microsoft.com/office/drawing/2014/main" id="{6D1E23EA-DCE9-B78C-72A5-D8B719D08E72}"/>
              </a:ext>
            </a:extLst>
          </p:cNvPr>
          <p:cNvPicPr>
            <a:picLocks noChangeAspect="1"/>
          </p:cNvPicPr>
          <p:nvPr/>
        </p:nvPicPr>
        <p:blipFill rotWithShape="1">
          <a:blip r:embed="rId2"/>
          <a:srcRect b="39119"/>
          <a:stretch/>
        </p:blipFill>
        <p:spPr>
          <a:xfrm>
            <a:off x="608559" y="1004935"/>
            <a:ext cx="10974881" cy="5377758"/>
          </a:xfrm>
          <a:prstGeom prst="rect">
            <a:avLst/>
          </a:prstGeom>
        </p:spPr>
      </p:pic>
      <p:pic>
        <p:nvPicPr>
          <p:cNvPr id="3" name="Picture 2">
            <a:extLst>
              <a:ext uri="{FF2B5EF4-FFF2-40B4-BE49-F238E27FC236}">
                <a16:creationId xmlns:a16="http://schemas.microsoft.com/office/drawing/2014/main" id="{F8C5FD5A-065A-8D27-0670-373EC6FE8D53}"/>
              </a:ext>
            </a:extLst>
          </p:cNvPr>
          <p:cNvPicPr>
            <a:picLocks noChangeAspect="1"/>
          </p:cNvPicPr>
          <p:nvPr/>
        </p:nvPicPr>
        <p:blipFill>
          <a:blip r:embed="rId3"/>
          <a:stretch>
            <a:fillRect/>
          </a:stretch>
        </p:blipFill>
        <p:spPr>
          <a:xfrm>
            <a:off x="10844118" y="124980"/>
            <a:ext cx="1146991" cy="1143662"/>
          </a:xfrm>
          <a:prstGeom prst="rect">
            <a:avLst/>
          </a:prstGeom>
        </p:spPr>
      </p:pic>
    </p:spTree>
    <p:extLst>
      <p:ext uri="{BB962C8B-B14F-4D97-AF65-F5344CB8AC3E}">
        <p14:creationId xmlns:p14="http://schemas.microsoft.com/office/powerpoint/2010/main" val="13939071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0FA3806-D961-29C5-4A79-2A49AB980703}"/>
              </a:ext>
            </a:extLst>
          </p:cNvPr>
          <p:cNvGraphicFramePr>
            <a:graphicFrameLocks noGrp="1"/>
          </p:cNvGraphicFramePr>
          <p:nvPr>
            <p:extLst>
              <p:ext uri="{D42A27DB-BD31-4B8C-83A1-F6EECF244321}">
                <p14:modId xmlns:p14="http://schemas.microsoft.com/office/powerpoint/2010/main" val="2617234966"/>
              </p:ext>
            </p:extLst>
          </p:nvPr>
        </p:nvGraphicFramePr>
        <p:xfrm>
          <a:off x="390616" y="621438"/>
          <a:ext cx="11594238" cy="6097982"/>
        </p:xfrm>
        <a:graphic>
          <a:graphicData uri="http://schemas.openxmlformats.org/drawingml/2006/table">
            <a:tbl>
              <a:tblPr firstRow="1" firstCol="1" bandRow="1">
                <a:tableStyleId>{22838BEF-8BB2-4498-84A7-C5851F593DF1}</a:tableStyleId>
              </a:tblPr>
              <a:tblGrid>
                <a:gridCol w="3675357">
                  <a:extLst>
                    <a:ext uri="{9D8B030D-6E8A-4147-A177-3AD203B41FA5}">
                      <a16:colId xmlns:a16="http://schemas.microsoft.com/office/drawing/2014/main" val="975642425"/>
                    </a:ext>
                  </a:extLst>
                </a:gridCol>
                <a:gridCol w="7918881">
                  <a:extLst>
                    <a:ext uri="{9D8B030D-6E8A-4147-A177-3AD203B41FA5}">
                      <a16:colId xmlns:a16="http://schemas.microsoft.com/office/drawing/2014/main" val="2820215923"/>
                    </a:ext>
                  </a:extLst>
                </a:gridCol>
              </a:tblGrid>
              <a:tr h="234606">
                <a:tc>
                  <a:txBody>
                    <a:bodyPr/>
                    <a:lstStyle/>
                    <a:p>
                      <a:pPr>
                        <a:lnSpc>
                          <a:spcPct val="107000"/>
                        </a:lnSpc>
                        <a:spcBef>
                          <a:spcPts val="1800"/>
                        </a:spcBef>
                        <a:spcAft>
                          <a:spcPts val="1800"/>
                        </a:spcAft>
                      </a:pPr>
                      <a:r>
                        <a:rPr lang="en-GB" sz="1600" b="1">
                          <a:solidFill>
                            <a:srgbClr val="3A343A"/>
                          </a:solidFill>
                          <a:effectLst/>
                        </a:rPr>
                        <a:t>Activity</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0" marB="45962" anchor="ctr"/>
                </a:tc>
                <a:tc>
                  <a:txBody>
                    <a:bodyPr/>
                    <a:lstStyle/>
                    <a:p>
                      <a:pPr>
                        <a:lnSpc>
                          <a:spcPct val="107000"/>
                        </a:lnSpc>
                        <a:spcBef>
                          <a:spcPts val="1800"/>
                        </a:spcBef>
                        <a:spcAft>
                          <a:spcPts val="1800"/>
                        </a:spcAft>
                      </a:pPr>
                      <a:r>
                        <a:rPr lang="en-GB" sz="1600" b="1">
                          <a:solidFill>
                            <a:srgbClr val="3A343A"/>
                          </a:solidFill>
                          <a:effectLst/>
                        </a:rPr>
                        <a:t>Description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0" marB="45962" anchor="ctr"/>
                </a:tc>
                <a:extLst>
                  <a:ext uri="{0D108BD9-81ED-4DB2-BD59-A6C34878D82A}">
                    <a16:rowId xmlns:a16="http://schemas.microsoft.com/office/drawing/2014/main" val="2541074025"/>
                  </a:ext>
                </a:extLst>
              </a:tr>
              <a:tr h="978592">
                <a:tc>
                  <a:txBody>
                    <a:bodyPr/>
                    <a:lstStyle/>
                    <a:p>
                      <a:pPr>
                        <a:lnSpc>
                          <a:spcPct val="107000"/>
                        </a:lnSpc>
                        <a:spcBef>
                          <a:spcPts val="1800"/>
                        </a:spcBef>
                        <a:spcAft>
                          <a:spcPts val="1800"/>
                        </a:spcAft>
                      </a:pPr>
                      <a:r>
                        <a:rPr lang="en-GB" sz="1600">
                          <a:solidFill>
                            <a:srgbClr val="3A343A"/>
                          </a:solidFill>
                          <a:effectLst/>
                        </a:rPr>
                        <a:t>Working through a relevant course or qualification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Completing online learning modules or attending classes, conducting research, and seeking advice from a tutor or teacher</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2915600519"/>
                  </a:ext>
                </a:extLst>
              </a:tr>
              <a:tr h="610133">
                <a:tc>
                  <a:txBody>
                    <a:bodyPr/>
                    <a:lstStyle/>
                    <a:p>
                      <a:pPr>
                        <a:lnSpc>
                          <a:spcPct val="107000"/>
                        </a:lnSpc>
                        <a:spcBef>
                          <a:spcPts val="1800"/>
                        </a:spcBef>
                        <a:spcAft>
                          <a:spcPts val="1800"/>
                        </a:spcAft>
                      </a:pPr>
                      <a:r>
                        <a:rPr lang="en-GB" sz="1600">
                          <a:solidFill>
                            <a:srgbClr val="3A343A"/>
                          </a:solidFill>
                          <a:effectLst/>
                        </a:rPr>
                        <a:t>Completing course assignments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Working on assignments, including practice/formative assessments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1068400210"/>
                  </a:ext>
                </a:extLst>
              </a:tr>
              <a:tr h="610133">
                <a:tc>
                  <a:txBody>
                    <a:bodyPr/>
                    <a:lstStyle/>
                    <a:p>
                      <a:pPr>
                        <a:lnSpc>
                          <a:spcPct val="107000"/>
                        </a:lnSpc>
                        <a:spcBef>
                          <a:spcPts val="1800"/>
                        </a:spcBef>
                        <a:spcAft>
                          <a:spcPts val="1800"/>
                        </a:spcAft>
                      </a:pPr>
                      <a:r>
                        <a:rPr lang="en-GB" sz="1600">
                          <a:solidFill>
                            <a:srgbClr val="3A343A"/>
                          </a:solidFill>
                          <a:effectLst/>
                        </a:rPr>
                        <a:t>Guided mentor/coach visits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Sessions with a mentor/coach in which learning is taking place</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606924973"/>
                  </a:ext>
                </a:extLst>
              </a:tr>
              <a:tr h="794362">
                <a:tc>
                  <a:txBody>
                    <a:bodyPr/>
                    <a:lstStyle/>
                    <a:p>
                      <a:pPr>
                        <a:lnSpc>
                          <a:spcPct val="107000"/>
                        </a:lnSpc>
                        <a:spcBef>
                          <a:spcPts val="1800"/>
                        </a:spcBef>
                        <a:spcAft>
                          <a:spcPts val="1800"/>
                        </a:spcAft>
                      </a:pPr>
                      <a:r>
                        <a:rPr lang="en-GB" sz="1600">
                          <a:solidFill>
                            <a:srgbClr val="3A343A"/>
                          </a:solidFill>
                          <a:effectLst/>
                        </a:rPr>
                        <a:t>In-house training</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Training provided by your organisation to develop skills that are related to the apprenticeship</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1899804820"/>
                  </a:ext>
                </a:extLst>
              </a:tr>
              <a:tr h="610133">
                <a:tc>
                  <a:txBody>
                    <a:bodyPr/>
                    <a:lstStyle/>
                    <a:p>
                      <a:pPr>
                        <a:lnSpc>
                          <a:spcPct val="107000"/>
                        </a:lnSpc>
                        <a:spcBef>
                          <a:spcPts val="1800"/>
                        </a:spcBef>
                        <a:spcAft>
                          <a:spcPts val="1800"/>
                        </a:spcAft>
                      </a:pPr>
                      <a:r>
                        <a:rPr lang="en-GB" sz="1600">
                          <a:solidFill>
                            <a:srgbClr val="3A343A"/>
                          </a:solidFill>
                          <a:effectLst/>
                        </a:rPr>
                        <a:t>Shadowing</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Being assigned to shadow a colleague to observe them perform their job role</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2930337417"/>
                  </a:ext>
                </a:extLst>
              </a:tr>
              <a:tr h="610133">
                <a:tc>
                  <a:txBody>
                    <a:bodyPr/>
                    <a:lstStyle/>
                    <a:p>
                      <a:pPr>
                        <a:lnSpc>
                          <a:spcPct val="107000"/>
                        </a:lnSpc>
                        <a:spcBef>
                          <a:spcPts val="1800"/>
                        </a:spcBef>
                        <a:spcAft>
                          <a:spcPts val="1800"/>
                        </a:spcAft>
                      </a:pPr>
                      <a:r>
                        <a:rPr lang="en-GB" sz="1600">
                          <a:solidFill>
                            <a:srgbClr val="3A343A"/>
                          </a:solidFill>
                          <a:effectLst/>
                        </a:rPr>
                        <a:t>Mentoring</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Using skills/knowledge to provide colleagues with developmental advice</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1356926819"/>
                  </a:ext>
                </a:extLst>
              </a:tr>
              <a:tr h="978592">
                <a:tc>
                  <a:txBody>
                    <a:bodyPr/>
                    <a:lstStyle/>
                    <a:p>
                      <a:pPr>
                        <a:lnSpc>
                          <a:spcPct val="107000"/>
                        </a:lnSpc>
                        <a:spcBef>
                          <a:spcPts val="1800"/>
                        </a:spcBef>
                        <a:spcAft>
                          <a:spcPts val="1800"/>
                        </a:spcAft>
                      </a:pPr>
                      <a:r>
                        <a:rPr lang="en-GB" sz="1600">
                          <a:solidFill>
                            <a:srgbClr val="3A343A"/>
                          </a:solidFill>
                          <a:effectLst/>
                        </a:rPr>
                        <a:t>Workshops/masterclasses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Meetings where training and/or discussions have taken place around topics or skills related to the apprenticeship</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2753341235"/>
                  </a:ext>
                </a:extLst>
              </a:tr>
              <a:tr h="610133">
                <a:tc>
                  <a:txBody>
                    <a:bodyPr/>
                    <a:lstStyle/>
                    <a:p>
                      <a:pPr>
                        <a:lnSpc>
                          <a:spcPct val="107000"/>
                        </a:lnSpc>
                        <a:spcBef>
                          <a:spcPts val="1800"/>
                        </a:spcBef>
                        <a:spcAft>
                          <a:spcPts val="1800"/>
                        </a:spcAft>
                      </a:pPr>
                      <a:r>
                        <a:rPr lang="en-GB" sz="1600">
                          <a:solidFill>
                            <a:srgbClr val="3A343A"/>
                          </a:solidFill>
                          <a:effectLst/>
                        </a:rPr>
                        <a:t>Industry visits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91925" marT="91925" marB="91925" anchor="ctr"/>
                </a:tc>
                <a:tc>
                  <a:txBody>
                    <a:bodyPr/>
                    <a:lstStyle/>
                    <a:p>
                      <a:pPr>
                        <a:lnSpc>
                          <a:spcPct val="107000"/>
                        </a:lnSpc>
                        <a:spcBef>
                          <a:spcPts val="1800"/>
                        </a:spcBef>
                        <a:spcAft>
                          <a:spcPts val="1800"/>
                        </a:spcAft>
                      </a:pPr>
                      <a:r>
                        <a:rPr lang="en-GB" sz="1600">
                          <a:solidFill>
                            <a:srgbClr val="3A343A"/>
                          </a:solidFill>
                          <a:effectLst/>
                        </a:rPr>
                        <a:t>Visits to external organisations or departments within your organisation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91925" marR="0" marT="91925" marB="91925" anchor="ctr"/>
                </a:tc>
                <a:extLst>
                  <a:ext uri="{0D108BD9-81ED-4DB2-BD59-A6C34878D82A}">
                    <a16:rowId xmlns:a16="http://schemas.microsoft.com/office/drawing/2014/main" val="1596840095"/>
                  </a:ext>
                </a:extLst>
              </a:tr>
            </a:tbl>
          </a:graphicData>
        </a:graphic>
      </p:graphicFrame>
    </p:spTree>
    <p:extLst>
      <p:ext uri="{BB962C8B-B14F-4D97-AF65-F5344CB8AC3E}">
        <p14:creationId xmlns:p14="http://schemas.microsoft.com/office/powerpoint/2010/main" val="28629292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14BEF72-9870-95B6-CDEC-616EBE30E0D7}"/>
              </a:ext>
            </a:extLst>
          </p:cNvPr>
          <p:cNvGraphicFramePr>
            <a:graphicFrameLocks noGrp="1"/>
          </p:cNvGraphicFramePr>
          <p:nvPr>
            <p:extLst>
              <p:ext uri="{D42A27DB-BD31-4B8C-83A1-F6EECF244321}">
                <p14:modId xmlns:p14="http://schemas.microsoft.com/office/powerpoint/2010/main" val="1757464625"/>
              </p:ext>
            </p:extLst>
          </p:nvPr>
        </p:nvGraphicFramePr>
        <p:xfrm>
          <a:off x="417250" y="372862"/>
          <a:ext cx="11354540" cy="6381154"/>
        </p:xfrm>
        <a:graphic>
          <a:graphicData uri="http://schemas.openxmlformats.org/drawingml/2006/table">
            <a:tbl>
              <a:tblPr firstRow="1" firstCol="1" bandRow="1">
                <a:tableStyleId>{22838BEF-8BB2-4498-84A7-C5851F593DF1}</a:tableStyleId>
              </a:tblPr>
              <a:tblGrid>
                <a:gridCol w="3204839">
                  <a:extLst>
                    <a:ext uri="{9D8B030D-6E8A-4147-A177-3AD203B41FA5}">
                      <a16:colId xmlns:a16="http://schemas.microsoft.com/office/drawing/2014/main" val="2359543835"/>
                    </a:ext>
                  </a:extLst>
                </a:gridCol>
                <a:gridCol w="8149701">
                  <a:extLst>
                    <a:ext uri="{9D8B030D-6E8A-4147-A177-3AD203B41FA5}">
                      <a16:colId xmlns:a16="http://schemas.microsoft.com/office/drawing/2014/main" val="4264275518"/>
                    </a:ext>
                  </a:extLst>
                </a:gridCol>
              </a:tblGrid>
              <a:tr h="777912">
                <a:tc>
                  <a:txBody>
                    <a:bodyPr/>
                    <a:lstStyle/>
                    <a:p>
                      <a:pPr>
                        <a:lnSpc>
                          <a:spcPct val="107000"/>
                        </a:lnSpc>
                        <a:spcBef>
                          <a:spcPts val="1800"/>
                        </a:spcBef>
                        <a:spcAft>
                          <a:spcPts val="1800"/>
                        </a:spcAft>
                      </a:pPr>
                      <a:r>
                        <a:rPr lang="en-GB" sz="1600">
                          <a:solidFill>
                            <a:srgbClr val="3A343A"/>
                          </a:solidFill>
                          <a:effectLst/>
                        </a:rPr>
                        <a:t>Learning support</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Support provided by your organisation related to professional development</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890542224"/>
                  </a:ext>
                </a:extLst>
              </a:tr>
              <a:tr h="596738">
                <a:tc>
                  <a:txBody>
                    <a:bodyPr/>
                    <a:lstStyle/>
                    <a:p>
                      <a:pPr>
                        <a:lnSpc>
                          <a:spcPct val="107000"/>
                        </a:lnSpc>
                        <a:spcBef>
                          <a:spcPts val="1800"/>
                        </a:spcBef>
                        <a:spcAft>
                          <a:spcPts val="1800"/>
                        </a:spcAft>
                      </a:pPr>
                      <a:r>
                        <a:rPr lang="en-GB" sz="1600">
                          <a:solidFill>
                            <a:srgbClr val="3A343A"/>
                          </a:solidFill>
                          <a:effectLst/>
                        </a:rPr>
                        <a:t>Completing workbooks/tasks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Completing written material which is linked directly to the apprenticeship</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301206790"/>
                  </a:ext>
                </a:extLst>
              </a:tr>
              <a:tr h="777912">
                <a:tc>
                  <a:txBody>
                    <a:bodyPr/>
                    <a:lstStyle/>
                    <a:p>
                      <a:pPr>
                        <a:lnSpc>
                          <a:spcPct val="107000"/>
                        </a:lnSpc>
                        <a:spcBef>
                          <a:spcPts val="1800"/>
                        </a:spcBef>
                        <a:spcAft>
                          <a:spcPts val="1800"/>
                        </a:spcAft>
                      </a:pPr>
                      <a:r>
                        <a:rPr lang="en-GB" sz="1600">
                          <a:solidFill>
                            <a:srgbClr val="3A343A"/>
                          </a:solidFill>
                          <a:effectLst/>
                        </a:rPr>
                        <a:t>Preparation for professional discussion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Any time spent preparing information or materials prior to a professional discussion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2136202864"/>
                  </a:ext>
                </a:extLst>
              </a:tr>
              <a:tr h="415565">
                <a:tc>
                  <a:txBody>
                    <a:bodyPr/>
                    <a:lstStyle/>
                    <a:p>
                      <a:pPr>
                        <a:lnSpc>
                          <a:spcPct val="107000"/>
                        </a:lnSpc>
                        <a:spcBef>
                          <a:spcPts val="1800"/>
                        </a:spcBef>
                        <a:spcAft>
                          <a:spcPts val="1800"/>
                        </a:spcAft>
                      </a:pPr>
                      <a:r>
                        <a:rPr lang="en-GB" sz="1600">
                          <a:solidFill>
                            <a:srgbClr val="3A343A"/>
                          </a:solidFill>
                          <a:effectLst/>
                        </a:rPr>
                        <a:t>Gathering evidence for e-portfolio</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Gathering content for the e-portfolio</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1814644809"/>
                  </a:ext>
                </a:extLst>
              </a:tr>
              <a:tr h="596738">
                <a:tc>
                  <a:txBody>
                    <a:bodyPr/>
                    <a:lstStyle/>
                    <a:p>
                      <a:pPr>
                        <a:lnSpc>
                          <a:spcPct val="107000"/>
                        </a:lnSpc>
                        <a:spcBef>
                          <a:spcPts val="1800"/>
                        </a:spcBef>
                        <a:spcAft>
                          <a:spcPts val="1800"/>
                        </a:spcAft>
                      </a:pPr>
                      <a:r>
                        <a:rPr lang="en-GB" sz="1600">
                          <a:solidFill>
                            <a:srgbClr val="3A343A"/>
                          </a:solidFill>
                          <a:effectLst/>
                        </a:rPr>
                        <a:t>Gathering evidence for reflective discussion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Preparing information or materials prior to a reflective discussion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312320759"/>
                  </a:ext>
                </a:extLst>
              </a:tr>
              <a:tr h="777912">
                <a:tc>
                  <a:txBody>
                    <a:bodyPr/>
                    <a:lstStyle/>
                    <a:p>
                      <a:pPr>
                        <a:lnSpc>
                          <a:spcPct val="107000"/>
                        </a:lnSpc>
                        <a:spcBef>
                          <a:spcPts val="1800"/>
                        </a:spcBef>
                        <a:spcAft>
                          <a:spcPts val="1800"/>
                        </a:spcAft>
                      </a:pPr>
                      <a:r>
                        <a:rPr lang="en-GB" sz="1600">
                          <a:solidFill>
                            <a:srgbClr val="3A343A"/>
                          </a:solidFill>
                          <a:effectLst/>
                        </a:rPr>
                        <a:t>Attendance at conferences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Attending conferences relevant to the apprentice’s job role, professional development, or apprenticeship</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3384880502"/>
                  </a:ext>
                </a:extLst>
              </a:tr>
              <a:tr h="596738">
                <a:tc>
                  <a:txBody>
                    <a:bodyPr/>
                    <a:lstStyle/>
                    <a:p>
                      <a:pPr>
                        <a:lnSpc>
                          <a:spcPct val="107000"/>
                        </a:lnSpc>
                        <a:spcBef>
                          <a:spcPts val="1800"/>
                        </a:spcBef>
                        <a:spcAft>
                          <a:spcPts val="1800"/>
                        </a:spcAft>
                      </a:pPr>
                      <a:r>
                        <a:rPr lang="en-GB" sz="1600">
                          <a:solidFill>
                            <a:srgbClr val="3A343A"/>
                          </a:solidFill>
                          <a:effectLst/>
                        </a:rPr>
                        <a:t>Simulation/role play exercises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Carrying out a controlled activity to practise for a real-life situation</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918519930"/>
                  </a:ext>
                </a:extLst>
              </a:tr>
              <a:tr h="959086">
                <a:tc>
                  <a:txBody>
                    <a:bodyPr/>
                    <a:lstStyle/>
                    <a:p>
                      <a:pPr>
                        <a:lnSpc>
                          <a:spcPct val="107000"/>
                        </a:lnSpc>
                        <a:spcBef>
                          <a:spcPts val="1800"/>
                        </a:spcBef>
                        <a:spcAft>
                          <a:spcPts val="1800"/>
                        </a:spcAft>
                      </a:pPr>
                      <a:r>
                        <a:rPr lang="en-GB" sz="1600">
                          <a:solidFill>
                            <a:srgbClr val="3A343A"/>
                          </a:solidFill>
                          <a:effectLst/>
                        </a:rPr>
                        <a:t>Additional support/accommodations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Revision classes, personal support, additional time or other accommodations for apprentices with additional learning needs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2981691319"/>
                  </a:ext>
                </a:extLst>
              </a:tr>
              <a:tr h="777912">
                <a:tc>
                  <a:txBody>
                    <a:bodyPr/>
                    <a:lstStyle/>
                    <a:p>
                      <a:pPr>
                        <a:lnSpc>
                          <a:spcPct val="107000"/>
                        </a:lnSpc>
                        <a:spcBef>
                          <a:spcPts val="1800"/>
                        </a:spcBef>
                        <a:spcAft>
                          <a:spcPts val="1800"/>
                        </a:spcAft>
                      </a:pPr>
                      <a:r>
                        <a:rPr lang="en-GB" sz="1600">
                          <a:solidFill>
                            <a:srgbClr val="3A343A"/>
                          </a:solidFill>
                          <a:effectLst/>
                        </a:rPr>
                        <a:t>Networking events</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0" marR="89101" marT="89101" marB="89101" anchor="ctr"/>
                </a:tc>
                <a:tc>
                  <a:txBody>
                    <a:bodyPr/>
                    <a:lstStyle/>
                    <a:p>
                      <a:pPr>
                        <a:lnSpc>
                          <a:spcPct val="107000"/>
                        </a:lnSpc>
                        <a:spcBef>
                          <a:spcPts val="1800"/>
                        </a:spcBef>
                        <a:spcAft>
                          <a:spcPts val="1800"/>
                        </a:spcAft>
                      </a:pPr>
                      <a:r>
                        <a:rPr lang="en-GB" sz="1600">
                          <a:solidFill>
                            <a:srgbClr val="3A343A"/>
                          </a:solidFill>
                          <a:effectLst/>
                        </a:rPr>
                        <a:t>Attending networking events related to professional development within the apprenticeship</a:t>
                      </a:r>
                      <a:endParaRPr lang="en-GB" sz="1400">
                        <a:effectLst/>
                        <a:latin typeface="Arial" panose="020B0604020202020204" pitchFamily="34" charset="0"/>
                        <a:ea typeface="Calibri" panose="020F0502020204030204" pitchFamily="34" charset="0"/>
                        <a:cs typeface="Times New Roman" panose="02020603050405020304" pitchFamily="18" charset="0"/>
                      </a:endParaRPr>
                    </a:p>
                  </a:txBody>
                  <a:tcPr marL="89101" marR="0" marT="89101" marB="89101" anchor="ctr"/>
                </a:tc>
                <a:extLst>
                  <a:ext uri="{0D108BD9-81ED-4DB2-BD59-A6C34878D82A}">
                    <a16:rowId xmlns:a16="http://schemas.microsoft.com/office/drawing/2014/main" val="1501457879"/>
                  </a:ext>
                </a:extLst>
              </a:tr>
            </a:tbl>
          </a:graphicData>
        </a:graphic>
      </p:graphicFrame>
    </p:spTree>
    <p:extLst>
      <p:ext uri="{BB962C8B-B14F-4D97-AF65-F5344CB8AC3E}">
        <p14:creationId xmlns:p14="http://schemas.microsoft.com/office/powerpoint/2010/main" val="17048006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CE5FA5CF-E86B-F550-F82B-484828982D8F}"/>
              </a:ext>
            </a:extLst>
          </p:cNvPr>
          <p:cNvGraphicFramePr>
            <a:graphicFrameLocks noGrp="1"/>
          </p:cNvGraphicFramePr>
          <p:nvPr>
            <p:extLst>
              <p:ext uri="{D42A27DB-BD31-4B8C-83A1-F6EECF244321}">
                <p14:modId xmlns:p14="http://schemas.microsoft.com/office/powerpoint/2010/main" val="2928483920"/>
              </p:ext>
            </p:extLst>
          </p:nvPr>
        </p:nvGraphicFramePr>
        <p:xfrm>
          <a:off x="435007" y="363984"/>
          <a:ext cx="11168108" cy="6098958"/>
        </p:xfrm>
        <a:graphic>
          <a:graphicData uri="http://schemas.openxmlformats.org/drawingml/2006/table">
            <a:tbl>
              <a:tblPr firstRow="1" firstCol="1" bandRow="1">
                <a:tableStyleId>{22838BEF-8BB2-4498-84A7-C5851F593DF1}</a:tableStyleId>
              </a:tblPr>
              <a:tblGrid>
                <a:gridCol w="4722919">
                  <a:extLst>
                    <a:ext uri="{9D8B030D-6E8A-4147-A177-3AD203B41FA5}">
                      <a16:colId xmlns:a16="http://schemas.microsoft.com/office/drawing/2014/main" val="3372883086"/>
                    </a:ext>
                  </a:extLst>
                </a:gridCol>
                <a:gridCol w="6445189">
                  <a:extLst>
                    <a:ext uri="{9D8B030D-6E8A-4147-A177-3AD203B41FA5}">
                      <a16:colId xmlns:a16="http://schemas.microsoft.com/office/drawing/2014/main" val="3378972591"/>
                    </a:ext>
                  </a:extLst>
                </a:gridCol>
              </a:tblGrid>
              <a:tr h="1109024">
                <a:tc>
                  <a:txBody>
                    <a:bodyPr/>
                    <a:lstStyle/>
                    <a:p>
                      <a:pPr>
                        <a:lnSpc>
                          <a:spcPct val="107000"/>
                        </a:lnSpc>
                        <a:spcBef>
                          <a:spcPts val="1800"/>
                        </a:spcBef>
                        <a:spcAft>
                          <a:spcPts val="1800"/>
                        </a:spcAft>
                      </a:pPr>
                      <a:r>
                        <a:rPr lang="en-GB" sz="2000">
                          <a:solidFill>
                            <a:srgbClr val="3A343A"/>
                          </a:solidFill>
                          <a:effectLst/>
                        </a:rPr>
                        <a:t>Numeracy and or literacy training required to perform the job</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0" marR="152400" marT="152400" marB="152400" anchor="ctr"/>
                </a:tc>
                <a:tc>
                  <a:txBody>
                    <a:bodyPr/>
                    <a:lstStyle/>
                    <a:p>
                      <a:pPr>
                        <a:lnSpc>
                          <a:spcPct val="107000"/>
                        </a:lnSpc>
                        <a:spcBef>
                          <a:spcPts val="1800"/>
                        </a:spcBef>
                        <a:spcAft>
                          <a:spcPts val="1800"/>
                        </a:spcAft>
                      </a:pPr>
                      <a:r>
                        <a:rPr lang="en-GB" sz="2000">
                          <a:solidFill>
                            <a:srgbClr val="3A343A"/>
                          </a:solidFill>
                          <a:effectLst/>
                        </a:rPr>
                        <a:t>English and maths related to the job</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152400" marR="0" marT="152400" marB="152400" anchor="ctr"/>
                </a:tc>
                <a:extLst>
                  <a:ext uri="{0D108BD9-81ED-4DB2-BD59-A6C34878D82A}">
                    <a16:rowId xmlns:a16="http://schemas.microsoft.com/office/drawing/2014/main" val="1421557457"/>
                  </a:ext>
                </a:extLst>
              </a:tr>
              <a:tr h="1109024">
                <a:tc>
                  <a:txBody>
                    <a:bodyPr/>
                    <a:lstStyle/>
                    <a:p>
                      <a:pPr>
                        <a:lnSpc>
                          <a:spcPct val="107000"/>
                        </a:lnSpc>
                        <a:spcBef>
                          <a:spcPts val="1800"/>
                        </a:spcBef>
                        <a:spcAft>
                          <a:spcPts val="1800"/>
                        </a:spcAft>
                      </a:pPr>
                      <a:r>
                        <a:rPr lang="en-GB" sz="2000">
                          <a:solidFill>
                            <a:srgbClr val="3A343A"/>
                          </a:solidFill>
                          <a:effectLst/>
                        </a:rPr>
                        <a:t>Peer-to </a:t>
                      </a:r>
                      <a:r>
                        <a:rPr lang="en-GB" sz="2000" kern="1200">
                          <a:solidFill>
                            <a:srgbClr val="3A343A"/>
                          </a:solidFill>
                          <a:effectLst/>
                        </a:rPr>
                        <a:t>peer-support</a:t>
                      </a:r>
                      <a:endParaRPr lang="en-GB" sz="2000" kern="1200">
                        <a:solidFill>
                          <a:srgbClr val="3A343A"/>
                        </a:solidFill>
                        <a:effectLst/>
                        <a:latin typeface="Arial" panose="020B0604020202020204" pitchFamily="34" charset="0"/>
                        <a:ea typeface="Calibri" panose="020F0502020204030204" pitchFamily="34" charset="0"/>
                        <a:cs typeface="Arial" panose="020B0604020202020204" pitchFamily="34" charset="0"/>
                      </a:endParaRPr>
                    </a:p>
                  </a:txBody>
                  <a:tcPr marL="0" marR="152400" marT="152400" marB="152400" anchor="ctr"/>
                </a:tc>
                <a:tc>
                  <a:txBody>
                    <a:bodyPr/>
                    <a:lstStyle/>
                    <a:p>
                      <a:pPr>
                        <a:lnSpc>
                          <a:spcPct val="107000"/>
                        </a:lnSpc>
                        <a:spcBef>
                          <a:spcPts val="1800"/>
                        </a:spcBef>
                        <a:spcAft>
                          <a:spcPts val="1800"/>
                        </a:spcAft>
                      </a:pPr>
                      <a:r>
                        <a:rPr lang="en-GB" sz="2000">
                          <a:solidFill>
                            <a:srgbClr val="3A343A"/>
                          </a:solidFill>
                          <a:effectLst/>
                        </a:rPr>
                        <a:t>Discussions/joint working with colleagues</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152400" marR="0" marT="152400" marB="152400" anchor="ctr"/>
                </a:tc>
                <a:extLst>
                  <a:ext uri="{0D108BD9-81ED-4DB2-BD59-A6C34878D82A}">
                    <a16:rowId xmlns:a16="http://schemas.microsoft.com/office/drawing/2014/main" val="1961904954"/>
                  </a:ext>
                </a:extLst>
              </a:tr>
              <a:tr h="1443896">
                <a:tc>
                  <a:txBody>
                    <a:bodyPr/>
                    <a:lstStyle/>
                    <a:p>
                      <a:pPr>
                        <a:lnSpc>
                          <a:spcPct val="107000"/>
                        </a:lnSpc>
                        <a:spcBef>
                          <a:spcPts val="1800"/>
                        </a:spcBef>
                        <a:spcAft>
                          <a:spcPts val="1800"/>
                        </a:spcAft>
                      </a:pPr>
                      <a:r>
                        <a:rPr lang="en-GB" sz="2000">
                          <a:solidFill>
                            <a:srgbClr val="3A343A"/>
                          </a:solidFill>
                          <a:effectLst/>
                        </a:rPr>
                        <a:t>Research</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0" marR="152400" marT="152400" marB="152400" anchor="ctr"/>
                </a:tc>
                <a:tc>
                  <a:txBody>
                    <a:bodyPr/>
                    <a:lstStyle/>
                    <a:p>
                      <a:pPr>
                        <a:lnSpc>
                          <a:spcPct val="107000"/>
                        </a:lnSpc>
                        <a:spcBef>
                          <a:spcPts val="1800"/>
                        </a:spcBef>
                        <a:spcAft>
                          <a:spcPts val="1800"/>
                        </a:spcAft>
                      </a:pPr>
                      <a:r>
                        <a:rPr lang="en-GB" sz="2000">
                          <a:solidFill>
                            <a:srgbClr val="3A343A"/>
                          </a:solidFill>
                          <a:effectLst/>
                        </a:rPr>
                        <a:t>Background working to improve knowledge; research tasks to gain new knowledge</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152400" marR="0" marT="152400" marB="152400" anchor="ctr"/>
                </a:tc>
                <a:extLst>
                  <a:ext uri="{0D108BD9-81ED-4DB2-BD59-A6C34878D82A}">
                    <a16:rowId xmlns:a16="http://schemas.microsoft.com/office/drawing/2014/main" val="86229318"/>
                  </a:ext>
                </a:extLst>
              </a:tr>
              <a:tr h="1109024">
                <a:tc>
                  <a:txBody>
                    <a:bodyPr/>
                    <a:lstStyle/>
                    <a:p>
                      <a:pPr>
                        <a:lnSpc>
                          <a:spcPct val="107000"/>
                        </a:lnSpc>
                        <a:spcBef>
                          <a:spcPts val="1800"/>
                        </a:spcBef>
                        <a:spcAft>
                          <a:spcPts val="1800"/>
                        </a:spcAft>
                      </a:pPr>
                      <a:r>
                        <a:rPr lang="en-GB" sz="2000">
                          <a:solidFill>
                            <a:srgbClr val="3A343A"/>
                          </a:solidFill>
                          <a:effectLst/>
                        </a:rPr>
                        <a:t>Revision for exams and end-point assessment</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0" marR="152400" marT="152400" marB="152400" anchor="ctr"/>
                </a:tc>
                <a:tc>
                  <a:txBody>
                    <a:bodyPr/>
                    <a:lstStyle/>
                    <a:p>
                      <a:pPr>
                        <a:lnSpc>
                          <a:spcPct val="107000"/>
                        </a:lnSpc>
                        <a:spcBef>
                          <a:spcPts val="1800"/>
                        </a:spcBef>
                        <a:spcAft>
                          <a:spcPts val="1800"/>
                        </a:spcAft>
                      </a:pPr>
                      <a:r>
                        <a:rPr lang="en-GB" sz="2000">
                          <a:solidFill>
                            <a:srgbClr val="3A343A"/>
                          </a:solidFill>
                          <a:effectLst/>
                        </a:rPr>
                        <a:t>Preparation for ongoing end-point assessment</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152400" marR="0" marT="152400" marB="152400" anchor="ctr"/>
                </a:tc>
                <a:extLst>
                  <a:ext uri="{0D108BD9-81ED-4DB2-BD59-A6C34878D82A}">
                    <a16:rowId xmlns:a16="http://schemas.microsoft.com/office/drawing/2014/main" val="34040299"/>
                  </a:ext>
                </a:extLst>
              </a:tr>
              <a:tr h="1327990">
                <a:tc>
                  <a:txBody>
                    <a:bodyPr/>
                    <a:lstStyle/>
                    <a:p>
                      <a:pPr>
                        <a:lnSpc>
                          <a:spcPct val="107000"/>
                        </a:lnSpc>
                        <a:spcBef>
                          <a:spcPts val="1800"/>
                        </a:spcBef>
                        <a:spcAft>
                          <a:spcPts val="1800"/>
                        </a:spcAft>
                      </a:pPr>
                      <a:r>
                        <a:rPr lang="en-GB" sz="2000">
                          <a:solidFill>
                            <a:srgbClr val="3A343A"/>
                          </a:solidFill>
                          <a:effectLst/>
                        </a:rPr>
                        <a:t>Workplace one-to-one performance reviews</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0" marR="152400" marT="152400" marB="76200" anchor="ctr"/>
                </a:tc>
                <a:tc>
                  <a:txBody>
                    <a:bodyPr/>
                    <a:lstStyle/>
                    <a:p>
                      <a:pPr>
                        <a:lnSpc>
                          <a:spcPct val="107000"/>
                        </a:lnSpc>
                        <a:spcBef>
                          <a:spcPts val="1800"/>
                        </a:spcBef>
                        <a:spcAft>
                          <a:spcPts val="1800"/>
                        </a:spcAft>
                      </a:pPr>
                      <a:r>
                        <a:rPr lang="en-GB" sz="2000">
                          <a:solidFill>
                            <a:srgbClr val="3A343A"/>
                          </a:solidFill>
                          <a:effectLst/>
                        </a:rPr>
                        <a:t>Staff review and development meetings; development meetings with line manager.</a:t>
                      </a:r>
                      <a:endParaRPr lang="en-GB" sz="2000">
                        <a:effectLst/>
                        <a:latin typeface="Arial" panose="020B0604020202020204" pitchFamily="34" charset="0"/>
                        <a:ea typeface="Calibri" panose="020F0502020204030204" pitchFamily="34" charset="0"/>
                        <a:cs typeface="Times New Roman" panose="02020603050405020304" pitchFamily="18" charset="0"/>
                      </a:endParaRPr>
                    </a:p>
                  </a:txBody>
                  <a:tcPr marL="152400" marR="0" marT="152400" marB="76200" anchor="ctr"/>
                </a:tc>
                <a:extLst>
                  <a:ext uri="{0D108BD9-81ED-4DB2-BD59-A6C34878D82A}">
                    <a16:rowId xmlns:a16="http://schemas.microsoft.com/office/drawing/2014/main" val="1533668175"/>
                  </a:ext>
                </a:extLst>
              </a:tr>
            </a:tbl>
          </a:graphicData>
        </a:graphic>
      </p:graphicFrame>
    </p:spTree>
    <p:extLst>
      <p:ext uri="{BB962C8B-B14F-4D97-AF65-F5344CB8AC3E}">
        <p14:creationId xmlns:p14="http://schemas.microsoft.com/office/powerpoint/2010/main" val="38151936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C0D71-E6EC-6B84-82DF-6A203784628C}"/>
              </a:ext>
            </a:extLst>
          </p:cNvPr>
          <p:cNvSpPr>
            <a:spLocks noGrp="1"/>
          </p:cNvSpPr>
          <p:nvPr>
            <p:ph type="title"/>
          </p:nvPr>
        </p:nvSpPr>
        <p:spPr/>
        <p:txBody>
          <a:bodyPr/>
          <a:lstStyle/>
          <a:p>
            <a:r>
              <a:rPr lang="en-GB"/>
              <a:t>Finally, it’s worth noting that off-the-job training does not include:</a:t>
            </a:r>
          </a:p>
        </p:txBody>
      </p:sp>
      <p:sp>
        <p:nvSpPr>
          <p:cNvPr id="3" name="Content Placeholder 2">
            <a:extLst>
              <a:ext uri="{FF2B5EF4-FFF2-40B4-BE49-F238E27FC236}">
                <a16:creationId xmlns:a16="http://schemas.microsoft.com/office/drawing/2014/main" id="{BA91C34E-6264-78C9-472F-EA1528EA6D2E}"/>
              </a:ext>
            </a:extLst>
          </p:cNvPr>
          <p:cNvSpPr>
            <a:spLocks noGrp="1"/>
          </p:cNvSpPr>
          <p:nvPr>
            <p:ph idx="1"/>
          </p:nvPr>
        </p:nvSpPr>
        <p:spPr>
          <a:xfrm>
            <a:off x="838200" y="2234153"/>
            <a:ext cx="10338786" cy="3942810"/>
          </a:xfrm>
        </p:spPr>
        <p:txBody>
          <a:bodyPr>
            <a:normAutofit/>
          </a:bodyPr>
          <a:lstStyle/>
          <a:p>
            <a:pPr>
              <a:buFont typeface="Wingdings" panose="05000000000000000000" pitchFamily="2" charset="2"/>
              <a:buChar char="Ø"/>
            </a:pPr>
            <a:r>
              <a:rPr lang="en-GB" sz="3200"/>
              <a:t>English and maths (up to Level 2) that is funded separately</a:t>
            </a:r>
          </a:p>
          <a:p>
            <a:pPr>
              <a:buFont typeface="Wingdings" panose="05000000000000000000" pitchFamily="2" charset="2"/>
              <a:buChar char="Ø"/>
            </a:pPr>
            <a:r>
              <a:rPr lang="en-GB" sz="3200"/>
              <a:t>progress reviews or on-programme assessment needed for an apprenticeship standard</a:t>
            </a:r>
          </a:p>
          <a:p>
            <a:pPr>
              <a:buFont typeface="Wingdings" panose="05000000000000000000" pitchFamily="2" charset="2"/>
              <a:buChar char="Ø"/>
            </a:pPr>
            <a:r>
              <a:rPr lang="en-GB" sz="3200"/>
              <a:t>Training that takes place outside the apprentice’s paid working hours.</a:t>
            </a:r>
          </a:p>
          <a:p>
            <a:endParaRPr lang="en-GB" sz="3200"/>
          </a:p>
        </p:txBody>
      </p:sp>
      <p:pic>
        <p:nvPicPr>
          <p:cNvPr id="4" name="Picture 3">
            <a:extLst>
              <a:ext uri="{FF2B5EF4-FFF2-40B4-BE49-F238E27FC236}">
                <a16:creationId xmlns:a16="http://schemas.microsoft.com/office/drawing/2014/main" id="{7F96DCE6-3A3B-CF27-69E3-7411EB666527}"/>
              </a:ext>
            </a:extLst>
          </p:cNvPr>
          <p:cNvPicPr>
            <a:picLocks noChangeAspect="1"/>
          </p:cNvPicPr>
          <p:nvPr/>
        </p:nvPicPr>
        <p:blipFill>
          <a:blip r:embed="rId2"/>
          <a:stretch>
            <a:fillRect/>
          </a:stretch>
        </p:blipFill>
        <p:spPr>
          <a:xfrm>
            <a:off x="1" y="5532437"/>
            <a:ext cx="1045722" cy="1325563"/>
          </a:xfrm>
          <a:prstGeom prst="rect">
            <a:avLst/>
          </a:prstGeom>
        </p:spPr>
      </p:pic>
      <p:pic>
        <p:nvPicPr>
          <p:cNvPr id="6" name="Picture 5">
            <a:extLst>
              <a:ext uri="{FF2B5EF4-FFF2-40B4-BE49-F238E27FC236}">
                <a16:creationId xmlns:a16="http://schemas.microsoft.com/office/drawing/2014/main" id="{7341F3EE-A2A9-D8E5-B95F-0FCC0A50CB95}"/>
              </a:ext>
            </a:extLst>
          </p:cNvPr>
          <p:cNvPicPr>
            <a:picLocks noChangeAspect="1"/>
          </p:cNvPicPr>
          <p:nvPr/>
        </p:nvPicPr>
        <p:blipFill>
          <a:blip r:embed="rId3"/>
          <a:stretch>
            <a:fillRect/>
          </a:stretch>
        </p:blipFill>
        <p:spPr>
          <a:xfrm>
            <a:off x="10506957" y="5384260"/>
            <a:ext cx="1340058" cy="1336168"/>
          </a:xfrm>
          <a:prstGeom prst="rect">
            <a:avLst/>
          </a:prstGeom>
        </p:spPr>
      </p:pic>
    </p:spTree>
    <p:extLst>
      <p:ext uri="{BB962C8B-B14F-4D97-AF65-F5344CB8AC3E}">
        <p14:creationId xmlns:p14="http://schemas.microsoft.com/office/powerpoint/2010/main" val="20878370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836BE58-90FF-7251-B13C-F4D1C0CA1F85}"/>
              </a:ext>
            </a:extLst>
          </p:cNvPr>
          <p:cNvSpPr>
            <a:spLocks noGrp="1"/>
          </p:cNvSpPr>
          <p:nvPr>
            <p:ph type="ctrTitle"/>
          </p:nvPr>
        </p:nvSpPr>
        <p:spPr/>
        <p:txBody>
          <a:bodyPr/>
          <a:lstStyle/>
          <a:p>
            <a:r>
              <a:rPr lang="en-US"/>
              <a:t>End Point Assessment </a:t>
            </a:r>
            <a:endParaRPr lang="en-GB"/>
          </a:p>
        </p:txBody>
      </p:sp>
      <p:sp>
        <p:nvSpPr>
          <p:cNvPr id="5" name="Subtitle 4">
            <a:extLst>
              <a:ext uri="{FF2B5EF4-FFF2-40B4-BE49-F238E27FC236}">
                <a16:creationId xmlns:a16="http://schemas.microsoft.com/office/drawing/2014/main" id="{8A42140A-FDBD-A250-CE0C-81B19E050D34}"/>
              </a:ext>
            </a:extLst>
          </p:cNvPr>
          <p:cNvSpPr>
            <a:spLocks noGrp="1"/>
          </p:cNvSpPr>
          <p:nvPr>
            <p:ph type="subTitle" idx="1"/>
          </p:nvPr>
        </p:nvSpPr>
        <p:spPr/>
        <p:txBody>
          <a:bodyPr/>
          <a:lstStyle/>
          <a:p>
            <a:r>
              <a:rPr lang="en-US"/>
              <a:t>Completed by the BCS </a:t>
            </a:r>
          </a:p>
          <a:p>
            <a:r>
              <a:rPr lang="en-US"/>
              <a:t>British Computer Society </a:t>
            </a:r>
            <a:endParaRPr lang="en-GB"/>
          </a:p>
        </p:txBody>
      </p:sp>
      <p:pic>
        <p:nvPicPr>
          <p:cNvPr id="6" name="Picture 2" descr="British Computer Society BCS Logo PNG Vector (AI) Free Download">
            <a:extLst>
              <a:ext uri="{FF2B5EF4-FFF2-40B4-BE49-F238E27FC236}">
                <a16:creationId xmlns:a16="http://schemas.microsoft.com/office/drawing/2014/main" id="{06A15D94-594E-5491-DE48-70A7ED83FA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82" y="414297"/>
            <a:ext cx="2004154" cy="254765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EF9609E1-46E1-AC78-2A90-71300D909236}"/>
              </a:ext>
            </a:extLst>
          </p:cNvPr>
          <p:cNvPicPr>
            <a:picLocks noChangeAspect="1"/>
          </p:cNvPicPr>
          <p:nvPr/>
        </p:nvPicPr>
        <p:blipFill>
          <a:blip r:embed="rId3"/>
          <a:stretch>
            <a:fillRect/>
          </a:stretch>
        </p:blipFill>
        <p:spPr>
          <a:xfrm>
            <a:off x="10377489" y="5349875"/>
            <a:ext cx="1264608" cy="1260937"/>
          </a:xfrm>
          <a:prstGeom prst="rect">
            <a:avLst/>
          </a:prstGeom>
        </p:spPr>
      </p:pic>
    </p:spTree>
    <p:extLst>
      <p:ext uri="{BB962C8B-B14F-4D97-AF65-F5344CB8AC3E}">
        <p14:creationId xmlns:p14="http://schemas.microsoft.com/office/powerpoint/2010/main" val="3791534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3D63B-3F7D-117D-F7F0-FC68461FE03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30E176-A636-A29B-41D7-8BEEA72086CE}"/>
              </a:ext>
            </a:extLst>
          </p:cNvPr>
          <p:cNvSpPr>
            <a:spLocks noGrp="1"/>
          </p:cNvSpPr>
          <p:nvPr>
            <p:ph type="ctrTitle"/>
          </p:nvPr>
        </p:nvSpPr>
        <p:spPr>
          <a:xfrm>
            <a:off x="2474614" y="2530097"/>
            <a:ext cx="9144000" cy="1136557"/>
          </a:xfrm>
        </p:spPr>
        <p:txBody>
          <a:bodyPr/>
          <a:lstStyle/>
          <a:p>
            <a:r>
              <a:rPr lang="en-US" dirty="0"/>
              <a:t>Support  </a:t>
            </a:r>
            <a:endParaRPr lang="en-GB" dirty="0"/>
          </a:p>
        </p:txBody>
      </p:sp>
      <p:pic>
        <p:nvPicPr>
          <p:cNvPr id="6" name="Picture 2" descr="British Computer Society BCS Logo PNG Vector (AI) Free Download">
            <a:extLst>
              <a:ext uri="{FF2B5EF4-FFF2-40B4-BE49-F238E27FC236}">
                <a16:creationId xmlns:a16="http://schemas.microsoft.com/office/drawing/2014/main" id="{8A7D643E-6584-0E94-D5F1-11F5053222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8282" y="414297"/>
            <a:ext cx="2004154" cy="254765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2138940F-CAE6-D61F-D0DB-2790C56D828F}"/>
              </a:ext>
            </a:extLst>
          </p:cNvPr>
          <p:cNvPicPr>
            <a:picLocks noChangeAspect="1"/>
          </p:cNvPicPr>
          <p:nvPr/>
        </p:nvPicPr>
        <p:blipFill>
          <a:blip r:embed="rId3"/>
          <a:stretch>
            <a:fillRect/>
          </a:stretch>
        </p:blipFill>
        <p:spPr>
          <a:xfrm>
            <a:off x="8975363" y="3975234"/>
            <a:ext cx="2643251" cy="2635578"/>
          </a:xfrm>
          <a:prstGeom prst="rect">
            <a:avLst/>
          </a:prstGeom>
        </p:spPr>
      </p:pic>
    </p:spTree>
    <p:extLst>
      <p:ext uri="{BB962C8B-B14F-4D97-AF65-F5344CB8AC3E}">
        <p14:creationId xmlns:p14="http://schemas.microsoft.com/office/powerpoint/2010/main" val="16367120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12F1-FDBB-6DD9-FC2B-97EDB9672F84}"/>
              </a:ext>
            </a:extLst>
          </p:cNvPr>
          <p:cNvSpPr>
            <a:spLocks noGrp="1"/>
          </p:cNvSpPr>
          <p:nvPr>
            <p:ph type="title"/>
          </p:nvPr>
        </p:nvSpPr>
        <p:spPr>
          <a:xfrm>
            <a:off x="838200" y="365125"/>
            <a:ext cx="10515600" cy="689003"/>
          </a:xfrm>
        </p:spPr>
        <p:txBody>
          <a:bodyPr>
            <a:normAutofit fontScale="90000"/>
          </a:bodyPr>
          <a:lstStyle/>
          <a:p>
            <a:r>
              <a:rPr lang="en-GB" dirty="0"/>
              <a:t>Cyber Pathway</a:t>
            </a:r>
          </a:p>
        </p:txBody>
      </p:sp>
      <p:sp>
        <p:nvSpPr>
          <p:cNvPr id="3" name="Content Placeholder 2">
            <a:extLst>
              <a:ext uri="{FF2B5EF4-FFF2-40B4-BE49-F238E27FC236}">
                <a16:creationId xmlns:a16="http://schemas.microsoft.com/office/drawing/2014/main" id="{60095BEF-4B0D-3842-E471-32757497CD37}"/>
              </a:ext>
            </a:extLst>
          </p:cNvPr>
          <p:cNvSpPr>
            <a:spLocks noGrp="1"/>
          </p:cNvSpPr>
          <p:nvPr>
            <p:ph idx="1"/>
          </p:nvPr>
        </p:nvSpPr>
        <p:spPr/>
        <p:txBody>
          <a:bodyPr/>
          <a:lstStyle/>
          <a:p>
            <a:endParaRPr lang="en-GB"/>
          </a:p>
        </p:txBody>
      </p:sp>
      <p:pic>
        <p:nvPicPr>
          <p:cNvPr id="5" name="Picture 4">
            <a:extLst>
              <a:ext uri="{FF2B5EF4-FFF2-40B4-BE49-F238E27FC236}">
                <a16:creationId xmlns:a16="http://schemas.microsoft.com/office/drawing/2014/main" id="{1FB4A063-391A-594E-2BE1-CC3FE074874E}"/>
              </a:ext>
            </a:extLst>
          </p:cNvPr>
          <p:cNvPicPr>
            <a:picLocks noChangeAspect="1"/>
          </p:cNvPicPr>
          <p:nvPr/>
        </p:nvPicPr>
        <p:blipFill>
          <a:blip r:embed="rId2"/>
          <a:stretch>
            <a:fillRect/>
          </a:stretch>
        </p:blipFill>
        <p:spPr>
          <a:xfrm>
            <a:off x="657225" y="1216241"/>
            <a:ext cx="10877550" cy="5346483"/>
          </a:xfrm>
          <a:prstGeom prst="rect">
            <a:avLst/>
          </a:prstGeom>
        </p:spPr>
      </p:pic>
      <p:pic>
        <p:nvPicPr>
          <p:cNvPr id="7" name="Picture 6">
            <a:extLst>
              <a:ext uri="{FF2B5EF4-FFF2-40B4-BE49-F238E27FC236}">
                <a16:creationId xmlns:a16="http://schemas.microsoft.com/office/drawing/2014/main" id="{BC83F0F5-EE84-4F58-B29B-A62D7382A8E3}"/>
              </a:ext>
            </a:extLst>
          </p:cNvPr>
          <p:cNvPicPr>
            <a:picLocks noChangeAspect="1"/>
          </p:cNvPicPr>
          <p:nvPr/>
        </p:nvPicPr>
        <p:blipFill>
          <a:blip r:embed="rId3"/>
          <a:stretch>
            <a:fillRect/>
          </a:stretch>
        </p:blipFill>
        <p:spPr>
          <a:xfrm>
            <a:off x="10346733" y="4811920"/>
            <a:ext cx="1369017" cy="1365043"/>
          </a:xfrm>
          <a:prstGeom prst="rect">
            <a:avLst/>
          </a:prstGeom>
        </p:spPr>
      </p:pic>
    </p:spTree>
    <p:extLst>
      <p:ext uri="{BB962C8B-B14F-4D97-AF65-F5344CB8AC3E}">
        <p14:creationId xmlns:p14="http://schemas.microsoft.com/office/powerpoint/2010/main" val="27365336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D12F1-FDBB-6DD9-FC2B-97EDB9672F84}"/>
              </a:ext>
            </a:extLst>
          </p:cNvPr>
          <p:cNvSpPr>
            <a:spLocks noGrp="1"/>
          </p:cNvSpPr>
          <p:nvPr>
            <p:ph type="title"/>
          </p:nvPr>
        </p:nvSpPr>
        <p:spPr>
          <a:xfrm>
            <a:off x="838200" y="365125"/>
            <a:ext cx="10515600" cy="689003"/>
          </a:xfrm>
        </p:spPr>
        <p:txBody>
          <a:bodyPr>
            <a:normAutofit fontScale="90000"/>
          </a:bodyPr>
          <a:lstStyle/>
          <a:p>
            <a:r>
              <a:rPr lang="en-GB"/>
              <a:t>Software Pathway</a:t>
            </a:r>
          </a:p>
        </p:txBody>
      </p:sp>
      <p:pic>
        <p:nvPicPr>
          <p:cNvPr id="6" name="Content Placeholder 5" descr="A diagram of a project&#10;&#10;Description automatically generated">
            <a:extLst>
              <a:ext uri="{FF2B5EF4-FFF2-40B4-BE49-F238E27FC236}">
                <a16:creationId xmlns:a16="http://schemas.microsoft.com/office/drawing/2014/main" id="{351D377B-E4D5-80CE-FAAB-087299B3711B}"/>
              </a:ext>
            </a:extLst>
          </p:cNvPr>
          <p:cNvPicPr>
            <a:picLocks noGrp="1" noChangeAspect="1"/>
          </p:cNvPicPr>
          <p:nvPr>
            <p:ph idx="1"/>
          </p:nvPr>
        </p:nvPicPr>
        <p:blipFill>
          <a:blip r:embed="rId2"/>
          <a:stretch>
            <a:fillRect/>
          </a:stretch>
        </p:blipFill>
        <p:spPr>
          <a:xfrm>
            <a:off x="839420" y="1156301"/>
            <a:ext cx="9792347" cy="5271659"/>
          </a:xfrm>
        </p:spPr>
      </p:pic>
      <p:pic>
        <p:nvPicPr>
          <p:cNvPr id="3" name="Picture 2">
            <a:extLst>
              <a:ext uri="{FF2B5EF4-FFF2-40B4-BE49-F238E27FC236}">
                <a16:creationId xmlns:a16="http://schemas.microsoft.com/office/drawing/2014/main" id="{217F968F-A226-D339-BE71-6B92DE00A6FD}"/>
              </a:ext>
            </a:extLst>
          </p:cNvPr>
          <p:cNvPicPr>
            <a:picLocks noChangeAspect="1"/>
          </p:cNvPicPr>
          <p:nvPr/>
        </p:nvPicPr>
        <p:blipFill>
          <a:blip r:embed="rId3"/>
          <a:stretch>
            <a:fillRect/>
          </a:stretch>
        </p:blipFill>
        <p:spPr>
          <a:xfrm>
            <a:off x="9855552" y="430040"/>
            <a:ext cx="1552429" cy="1547923"/>
          </a:xfrm>
          <a:prstGeom prst="rect">
            <a:avLst/>
          </a:prstGeom>
        </p:spPr>
      </p:pic>
    </p:spTree>
    <p:extLst>
      <p:ext uri="{BB962C8B-B14F-4D97-AF65-F5344CB8AC3E}">
        <p14:creationId xmlns:p14="http://schemas.microsoft.com/office/powerpoint/2010/main" val="3452212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descr="A green and white logo&#10;&#10;Description automatically generated">
            <a:extLst>
              <a:ext uri="{FF2B5EF4-FFF2-40B4-BE49-F238E27FC236}">
                <a16:creationId xmlns:a16="http://schemas.microsoft.com/office/drawing/2014/main" id="{B81C3A89-41A9-DFD9-463F-F8EFDB2D70FD}"/>
              </a:ext>
            </a:extLst>
          </p:cNvPr>
          <p:cNvPicPr>
            <a:picLocks noChangeAspect="1"/>
          </p:cNvPicPr>
          <p:nvPr/>
        </p:nvPicPr>
        <p:blipFill>
          <a:blip r:embed="rId2"/>
          <a:stretch>
            <a:fillRect/>
          </a:stretch>
        </p:blipFill>
        <p:spPr>
          <a:xfrm>
            <a:off x="0" y="5441083"/>
            <a:ext cx="1115229" cy="1416917"/>
          </a:xfrm>
          <a:prstGeom prst="rect">
            <a:avLst/>
          </a:prstGeom>
        </p:spPr>
      </p:pic>
      <p:sp>
        <p:nvSpPr>
          <p:cNvPr id="15" name="TextBox 14">
            <a:extLst>
              <a:ext uri="{FF2B5EF4-FFF2-40B4-BE49-F238E27FC236}">
                <a16:creationId xmlns:a16="http://schemas.microsoft.com/office/drawing/2014/main" id="{EE71584C-48C4-AE70-B205-EC6621179A09}"/>
              </a:ext>
            </a:extLst>
          </p:cNvPr>
          <p:cNvSpPr txBox="1"/>
          <p:nvPr/>
        </p:nvSpPr>
        <p:spPr>
          <a:xfrm>
            <a:off x="932735" y="2949601"/>
            <a:ext cx="3566770" cy="646331"/>
          </a:xfrm>
          <a:prstGeom prst="rect">
            <a:avLst/>
          </a:prstGeom>
          <a:noFill/>
        </p:spPr>
        <p:txBody>
          <a:bodyPr wrap="square" rtlCol="0">
            <a:spAutoFit/>
          </a:bodyPr>
          <a:lstStyle/>
          <a:p>
            <a:pPr algn="ctr"/>
            <a:r>
              <a:rPr lang="en-GB" sz="3600" dirty="0"/>
              <a:t>Cyber Pathway </a:t>
            </a:r>
          </a:p>
        </p:txBody>
      </p:sp>
      <p:sp>
        <p:nvSpPr>
          <p:cNvPr id="16" name="TextBox 15">
            <a:extLst>
              <a:ext uri="{FF2B5EF4-FFF2-40B4-BE49-F238E27FC236}">
                <a16:creationId xmlns:a16="http://schemas.microsoft.com/office/drawing/2014/main" id="{ECB00B60-39EE-391B-3642-0D31BF96F987}"/>
              </a:ext>
            </a:extLst>
          </p:cNvPr>
          <p:cNvSpPr txBox="1"/>
          <p:nvPr/>
        </p:nvSpPr>
        <p:spPr>
          <a:xfrm>
            <a:off x="7389098" y="2949601"/>
            <a:ext cx="3870167" cy="646331"/>
          </a:xfrm>
          <a:prstGeom prst="rect">
            <a:avLst/>
          </a:prstGeom>
          <a:noFill/>
        </p:spPr>
        <p:txBody>
          <a:bodyPr wrap="square" rtlCol="0">
            <a:spAutoFit/>
          </a:bodyPr>
          <a:lstStyle/>
          <a:p>
            <a:pPr algn="ctr"/>
            <a:r>
              <a:rPr lang="en-GB" sz="3600" dirty="0"/>
              <a:t>Software pathway </a:t>
            </a:r>
          </a:p>
        </p:txBody>
      </p:sp>
      <p:sp>
        <p:nvSpPr>
          <p:cNvPr id="18" name="TextBox 17">
            <a:extLst>
              <a:ext uri="{FF2B5EF4-FFF2-40B4-BE49-F238E27FC236}">
                <a16:creationId xmlns:a16="http://schemas.microsoft.com/office/drawing/2014/main" id="{4846A80F-5C7B-E2C4-8028-D95020304E08}"/>
              </a:ext>
            </a:extLst>
          </p:cNvPr>
          <p:cNvSpPr txBox="1"/>
          <p:nvPr/>
        </p:nvSpPr>
        <p:spPr>
          <a:xfrm>
            <a:off x="1220750" y="1450760"/>
            <a:ext cx="9352147" cy="769441"/>
          </a:xfrm>
          <a:prstGeom prst="rect">
            <a:avLst/>
          </a:prstGeom>
          <a:noFill/>
        </p:spPr>
        <p:txBody>
          <a:bodyPr wrap="square">
            <a:spAutoFit/>
          </a:bodyPr>
          <a:lstStyle/>
          <a:p>
            <a:pPr algn="ctr"/>
            <a:r>
              <a:rPr lang="en-GB" sz="4400" dirty="0"/>
              <a:t>Pre Course - Assessment Task</a:t>
            </a:r>
          </a:p>
        </p:txBody>
      </p:sp>
      <p:pic>
        <p:nvPicPr>
          <p:cNvPr id="19" name="Picture 18">
            <a:extLst>
              <a:ext uri="{FF2B5EF4-FFF2-40B4-BE49-F238E27FC236}">
                <a16:creationId xmlns:a16="http://schemas.microsoft.com/office/drawing/2014/main" id="{B64583E1-EB4A-1664-66F4-025073C2D27E}"/>
              </a:ext>
            </a:extLst>
          </p:cNvPr>
          <p:cNvPicPr>
            <a:picLocks noChangeAspect="1"/>
          </p:cNvPicPr>
          <p:nvPr/>
        </p:nvPicPr>
        <p:blipFill>
          <a:blip r:embed="rId3"/>
          <a:stretch>
            <a:fillRect/>
          </a:stretch>
        </p:blipFill>
        <p:spPr>
          <a:xfrm>
            <a:off x="0" y="0"/>
            <a:ext cx="12192000" cy="1101077"/>
          </a:xfrm>
          <a:prstGeom prst="rect">
            <a:avLst/>
          </a:prstGeom>
        </p:spPr>
      </p:pic>
      <p:cxnSp>
        <p:nvCxnSpPr>
          <p:cNvPr id="21" name="Straight Connector 20">
            <a:extLst>
              <a:ext uri="{FF2B5EF4-FFF2-40B4-BE49-F238E27FC236}">
                <a16:creationId xmlns:a16="http://schemas.microsoft.com/office/drawing/2014/main" id="{308993D6-4920-A057-DB46-37E0739508CA}"/>
              </a:ext>
            </a:extLst>
          </p:cNvPr>
          <p:cNvCxnSpPr>
            <a:cxnSpLocks/>
          </p:cNvCxnSpPr>
          <p:nvPr/>
        </p:nvCxnSpPr>
        <p:spPr>
          <a:xfrm>
            <a:off x="5896823" y="3272766"/>
            <a:ext cx="0" cy="2168317"/>
          </a:xfrm>
          <a:prstGeom prst="line">
            <a:avLst/>
          </a:prstGeom>
          <a:ln w="19050" cap="flat" cmpd="sng" algn="ctr">
            <a:solidFill>
              <a:schemeClr val="accent4"/>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23" name="Graphic 22">
            <a:extLst>
              <a:ext uri="{FF2B5EF4-FFF2-40B4-BE49-F238E27FC236}">
                <a16:creationId xmlns:a16="http://schemas.microsoft.com/office/drawing/2014/main" id="{CD6C4E49-915E-9E1F-3057-4046C47F60C7}"/>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851424" y="4069212"/>
            <a:ext cx="1814048" cy="1687711"/>
          </a:xfrm>
          <a:prstGeom prst="rect">
            <a:avLst/>
          </a:prstGeom>
        </p:spPr>
      </p:pic>
      <p:pic>
        <p:nvPicPr>
          <p:cNvPr id="24" name="Graphic 23">
            <a:extLst>
              <a:ext uri="{FF2B5EF4-FFF2-40B4-BE49-F238E27FC236}">
                <a16:creationId xmlns:a16="http://schemas.microsoft.com/office/drawing/2014/main" id="{0DC91EFF-B380-135D-D20B-02685D1C3C8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163621" y="3971636"/>
            <a:ext cx="1813105" cy="1686834"/>
          </a:xfrm>
          <a:prstGeom prst="rect">
            <a:avLst/>
          </a:prstGeom>
        </p:spPr>
      </p:pic>
      <p:pic>
        <p:nvPicPr>
          <p:cNvPr id="25" name="Picture 24">
            <a:extLst>
              <a:ext uri="{FF2B5EF4-FFF2-40B4-BE49-F238E27FC236}">
                <a16:creationId xmlns:a16="http://schemas.microsoft.com/office/drawing/2014/main" id="{1A4FC3EC-5A5D-EFD6-35D8-522BC13140CA}"/>
              </a:ext>
            </a:extLst>
          </p:cNvPr>
          <p:cNvPicPr>
            <a:picLocks noChangeAspect="1"/>
          </p:cNvPicPr>
          <p:nvPr/>
        </p:nvPicPr>
        <p:blipFill>
          <a:blip r:embed="rId6"/>
          <a:stretch>
            <a:fillRect/>
          </a:stretch>
        </p:blipFill>
        <p:spPr>
          <a:xfrm>
            <a:off x="5331613" y="5550628"/>
            <a:ext cx="1201312" cy="1197825"/>
          </a:xfrm>
          <a:prstGeom prst="rect">
            <a:avLst/>
          </a:prstGeom>
        </p:spPr>
      </p:pic>
    </p:spTree>
    <p:extLst>
      <p:ext uri="{BB962C8B-B14F-4D97-AF65-F5344CB8AC3E}">
        <p14:creationId xmlns:p14="http://schemas.microsoft.com/office/powerpoint/2010/main" val="2165925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426E72-516A-388F-5EE4-7FC04B71D9FC}"/>
              </a:ext>
            </a:extLst>
          </p:cNvPr>
          <p:cNvSpPr>
            <a:spLocks noGrp="1"/>
          </p:cNvSpPr>
          <p:nvPr>
            <p:ph type="title"/>
          </p:nvPr>
        </p:nvSpPr>
        <p:spPr/>
        <p:txBody>
          <a:bodyPr/>
          <a:lstStyle/>
          <a:p>
            <a:r>
              <a:rPr lang="en-GB"/>
              <a:t>VLE (</a:t>
            </a:r>
            <a:r>
              <a:rPr lang="en-GB" b="0" i="0">
                <a:solidFill>
                  <a:srgbClr val="111111"/>
                </a:solidFill>
                <a:effectLst/>
                <a:latin typeface="Roboto" panose="02000000000000000000" pitchFamily="2" charset="0"/>
              </a:rPr>
              <a:t>Virtual Learning Environment)</a:t>
            </a:r>
            <a:r>
              <a:rPr lang="en-GB"/>
              <a:t> Tools </a:t>
            </a:r>
          </a:p>
        </p:txBody>
      </p:sp>
      <p:pic>
        <p:nvPicPr>
          <p:cNvPr id="4" name="Picture 3">
            <a:extLst>
              <a:ext uri="{FF2B5EF4-FFF2-40B4-BE49-F238E27FC236}">
                <a16:creationId xmlns:a16="http://schemas.microsoft.com/office/drawing/2014/main" id="{70E52041-5711-26DD-CB5F-5188F93AF12F}"/>
              </a:ext>
            </a:extLst>
          </p:cNvPr>
          <p:cNvPicPr>
            <a:picLocks noChangeAspect="1"/>
          </p:cNvPicPr>
          <p:nvPr/>
        </p:nvPicPr>
        <p:blipFill>
          <a:blip r:embed="rId2"/>
          <a:stretch>
            <a:fillRect/>
          </a:stretch>
        </p:blipFill>
        <p:spPr>
          <a:xfrm>
            <a:off x="0" y="5211937"/>
            <a:ext cx="1298561" cy="1646063"/>
          </a:xfrm>
          <a:prstGeom prst="rect">
            <a:avLst/>
          </a:prstGeom>
        </p:spPr>
      </p:pic>
      <p:pic>
        <p:nvPicPr>
          <p:cNvPr id="7" name="Picture 6">
            <a:extLst>
              <a:ext uri="{FF2B5EF4-FFF2-40B4-BE49-F238E27FC236}">
                <a16:creationId xmlns:a16="http://schemas.microsoft.com/office/drawing/2014/main" id="{F0E87E0D-98A5-03E4-7C26-6EB3E307B1BF}"/>
              </a:ext>
            </a:extLst>
          </p:cNvPr>
          <p:cNvPicPr>
            <a:picLocks noChangeAspect="1"/>
          </p:cNvPicPr>
          <p:nvPr/>
        </p:nvPicPr>
        <p:blipFill>
          <a:blip r:embed="rId3"/>
          <a:stretch>
            <a:fillRect/>
          </a:stretch>
        </p:blipFill>
        <p:spPr>
          <a:xfrm>
            <a:off x="3749540" y="1470905"/>
            <a:ext cx="4266035" cy="2581564"/>
          </a:xfrm>
          <a:prstGeom prst="rect">
            <a:avLst/>
          </a:prstGeom>
        </p:spPr>
      </p:pic>
      <p:pic>
        <p:nvPicPr>
          <p:cNvPr id="8" name="Picture 7">
            <a:extLst>
              <a:ext uri="{FF2B5EF4-FFF2-40B4-BE49-F238E27FC236}">
                <a16:creationId xmlns:a16="http://schemas.microsoft.com/office/drawing/2014/main" id="{5DCA466D-2DC9-1FEC-B7C0-ED0C371EF15A}"/>
              </a:ext>
            </a:extLst>
          </p:cNvPr>
          <p:cNvPicPr>
            <a:picLocks noChangeAspect="1"/>
          </p:cNvPicPr>
          <p:nvPr/>
        </p:nvPicPr>
        <p:blipFill rotWithShape="1">
          <a:blip r:embed="rId4"/>
          <a:srcRect t="33401" b="40135"/>
          <a:stretch/>
        </p:blipFill>
        <p:spPr>
          <a:xfrm>
            <a:off x="2667000" y="4220022"/>
            <a:ext cx="6858000" cy="1814946"/>
          </a:xfrm>
          <a:prstGeom prst="rect">
            <a:avLst/>
          </a:prstGeom>
        </p:spPr>
      </p:pic>
      <p:pic>
        <p:nvPicPr>
          <p:cNvPr id="3" name="Picture 2">
            <a:extLst>
              <a:ext uri="{FF2B5EF4-FFF2-40B4-BE49-F238E27FC236}">
                <a16:creationId xmlns:a16="http://schemas.microsoft.com/office/drawing/2014/main" id="{5A92E81A-0298-52F5-2D7F-1AC86FE3AA6C}"/>
              </a:ext>
            </a:extLst>
          </p:cNvPr>
          <p:cNvPicPr>
            <a:picLocks noChangeAspect="1"/>
          </p:cNvPicPr>
          <p:nvPr/>
        </p:nvPicPr>
        <p:blipFill>
          <a:blip r:embed="rId5"/>
          <a:stretch>
            <a:fillRect/>
          </a:stretch>
        </p:blipFill>
        <p:spPr>
          <a:xfrm>
            <a:off x="10732168" y="5369711"/>
            <a:ext cx="1173117" cy="1169712"/>
          </a:xfrm>
          <a:prstGeom prst="rect">
            <a:avLst/>
          </a:prstGeom>
        </p:spPr>
      </p:pic>
    </p:spTree>
    <p:extLst>
      <p:ext uri="{BB962C8B-B14F-4D97-AF65-F5344CB8AC3E}">
        <p14:creationId xmlns:p14="http://schemas.microsoft.com/office/powerpoint/2010/main" val="3650656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FF45-8C25-374B-1FA4-9825204FA6D2}"/>
              </a:ext>
            </a:extLst>
          </p:cNvPr>
          <p:cNvSpPr>
            <a:spLocks noGrp="1"/>
          </p:cNvSpPr>
          <p:nvPr>
            <p:ph type="title"/>
          </p:nvPr>
        </p:nvSpPr>
        <p:spPr/>
        <p:txBody>
          <a:bodyPr/>
          <a:lstStyle/>
          <a:p>
            <a:r>
              <a:rPr lang="en-GB"/>
              <a:t>Academic best practice </a:t>
            </a:r>
          </a:p>
        </p:txBody>
      </p:sp>
      <p:sp>
        <p:nvSpPr>
          <p:cNvPr id="3" name="Content Placeholder 2">
            <a:extLst>
              <a:ext uri="{FF2B5EF4-FFF2-40B4-BE49-F238E27FC236}">
                <a16:creationId xmlns:a16="http://schemas.microsoft.com/office/drawing/2014/main" id="{BC19E08E-2DFA-6BBD-BCA8-37E7C0FBBDB2}"/>
              </a:ext>
            </a:extLst>
          </p:cNvPr>
          <p:cNvSpPr>
            <a:spLocks noGrp="1"/>
          </p:cNvSpPr>
          <p:nvPr>
            <p:ph idx="1"/>
          </p:nvPr>
        </p:nvSpPr>
        <p:spPr/>
        <p:txBody>
          <a:bodyPr vert="horz" lIns="91440" tIns="45720" rIns="91440" bIns="45720" rtlCol="0" anchor="t">
            <a:normAutofit/>
          </a:bodyPr>
          <a:lstStyle/>
          <a:p>
            <a:r>
              <a:rPr lang="en-GB"/>
              <a:t>Research and Referencing </a:t>
            </a:r>
            <a:r>
              <a:rPr lang="en-GB" sz="2000">
                <a:solidFill>
                  <a:srgbClr val="FF0000"/>
                </a:solidFill>
              </a:rPr>
              <a:t>(Citations and Intext Citations)</a:t>
            </a:r>
          </a:p>
          <a:p>
            <a:r>
              <a:rPr lang="en-GB"/>
              <a:t>Journals and Books </a:t>
            </a:r>
            <a:r>
              <a:rPr lang="en-GB" sz="2000">
                <a:solidFill>
                  <a:srgbClr val="FF0000"/>
                </a:solidFill>
              </a:rPr>
              <a:t>(e.g., Google Scholar, </a:t>
            </a:r>
            <a:r>
              <a:rPr lang="en-GB" sz="2000" err="1">
                <a:solidFill>
                  <a:srgbClr val="FF0000"/>
                </a:solidFill>
              </a:rPr>
              <a:t>EduSearch</a:t>
            </a:r>
            <a:r>
              <a:rPr lang="en-GB" sz="2000">
                <a:solidFill>
                  <a:srgbClr val="FF0000"/>
                </a:solidFill>
              </a:rPr>
              <a:t>, IEEE Explore)</a:t>
            </a:r>
          </a:p>
          <a:p>
            <a:r>
              <a:rPr lang="en-GB"/>
              <a:t>Artificial Intelligence (AI) Tools </a:t>
            </a:r>
            <a:r>
              <a:rPr lang="en-GB" sz="2000">
                <a:solidFill>
                  <a:schemeClr val="accent6">
                    <a:lumMod val="76000"/>
                  </a:schemeClr>
                </a:solidFill>
              </a:rPr>
              <a:t> </a:t>
            </a:r>
            <a:r>
              <a:rPr lang="en-GB" sz="2000">
                <a:solidFill>
                  <a:srgbClr val="FF0000"/>
                </a:solidFill>
              </a:rPr>
              <a:t>(e.g., CoPilot / ChatGPT / Gemini)</a:t>
            </a:r>
          </a:p>
          <a:p>
            <a:r>
              <a:rPr lang="en-GB"/>
              <a:t>Time management </a:t>
            </a:r>
            <a:r>
              <a:rPr lang="en-GB" sz="2000">
                <a:solidFill>
                  <a:srgbClr val="FF0000"/>
                </a:solidFill>
              </a:rPr>
              <a:t>(e.g., Outlook Calendar, Trello, </a:t>
            </a:r>
            <a:r>
              <a:rPr lang="en-GB" sz="2000" err="1">
                <a:solidFill>
                  <a:srgbClr val="FF0000"/>
                </a:solidFill>
              </a:rPr>
              <a:t>ToDo</a:t>
            </a:r>
            <a:r>
              <a:rPr lang="en-GB" sz="2000">
                <a:solidFill>
                  <a:srgbClr val="FF0000"/>
                </a:solidFill>
              </a:rPr>
              <a:t> List)</a:t>
            </a:r>
          </a:p>
          <a:p>
            <a:r>
              <a:rPr lang="en-GB"/>
              <a:t>Task management </a:t>
            </a:r>
            <a:r>
              <a:rPr lang="en-GB" sz="2000">
                <a:solidFill>
                  <a:srgbClr val="FF0000"/>
                </a:solidFill>
              </a:rPr>
              <a:t>(as above)</a:t>
            </a:r>
          </a:p>
          <a:p>
            <a:pPr marL="0" indent="0">
              <a:buNone/>
            </a:pPr>
            <a:r>
              <a:rPr lang="en-GB"/>
              <a:t> </a:t>
            </a:r>
          </a:p>
          <a:p>
            <a:endParaRPr lang="en-GB"/>
          </a:p>
        </p:txBody>
      </p:sp>
      <p:pic>
        <p:nvPicPr>
          <p:cNvPr id="4" name="Picture 3">
            <a:extLst>
              <a:ext uri="{FF2B5EF4-FFF2-40B4-BE49-F238E27FC236}">
                <a16:creationId xmlns:a16="http://schemas.microsoft.com/office/drawing/2014/main" id="{5DF93C56-D452-4E68-0D41-568B14E100BD}"/>
              </a:ext>
            </a:extLst>
          </p:cNvPr>
          <p:cNvPicPr>
            <a:picLocks noChangeAspect="1"/>
          </p:cNvPicPr>
          <p:nvPr/>
        </p:nvPicPr>
        <p:blipFill>
          <a:blip r:embed="rId2"/>
          <a:stretch>
            <a:fillRect/>
          </a:stretch>
        </p:blipFill>
        <p:spPr>
          <a:xfrm>
            <a:off x="76710" y="5203815"/>
            <a:ext cx="1181996" cy="1498304"/>
          </a:xfrm>
          <a:prstGeom prst="rect">
            <a:avLst/>
          </a:prstGeom>
        </p:spPr>
      </p:pic>
      <p:pic>
        <p:nvPicPr>
          <p:cNvPr id="8" name="Picture 7">
            <a:extLst>
              <a:ext uri="{FF2B5EF4-FFF2-40B4-BE49-F238E27FC236}">
                <a16:creationId xmlns:a16="http://schemas.microsoft.com/office/drawing/2014/main" id="{FACED8F6-EB46-4E03-7F81-A39018361FAE}"/>
              </a:ext>
            </a:extLst>
          </p:cNvPr>
          <p:cNvPicPr>
            <a:picLocks noChangeAspect="1"/>
          </p:cNvPicPr>
          <p:nvPr/>
        </p:nvPicPr>
        <p:blipFill>
          <a:blip r:embed="rId3"/>
          <a:stretch>
            <a:fillRect/>
          </a:stretch>
        </p:blipFill>
        <p:spPr>
          <a:xfrm>
            <a:off x="10620122" y="5454998"/>
            <a:ext cx="1185605" cy="1182163"/>
          </a:xfrm>
          <a:prstGeom prst="rect">
            <a:avLst/>
          </a:prstGeom>
        </p:spPr>
      </p:pic>
    </p:spTree>
    <p:extLst>
      <p:ext uri="{BB962C8B-B14F-4D97-AF65-F5344CB8AC3E}">
        <p14:creationId xmlns:p14="http://schemas.microsoft.com/office/powerpoint/2010/main" val="16348961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19AFB-044D-C11C-DDBE-D23A3C9AE57B}"/>
              </a:ext>
            </a:extLst>
          </p:cNvPr>
          <p:cNvSpPr>
            <a:spLocks noGrp="1"/>
          </p:cNvSpPr>
          <p:nvPr>
            <p:ph type="title"/>
          </p:nvPr>
        </p:nvSpPr>
        <p:spPr>
          <a:xfrm>
            <a:off x="4582416" y="136690"/>
            <a:ext cx="2866534" cy="645692"/>
          </a:xfrm>
        </p:spPr>
        <p:txBody>
          <a:bodyPr>
            <a:normAutofit fontScale="90000"/>
          </a:bodyPr>
          <a:lstStyle/>
          <a:p>
            <a:r>
              <a:rPr lang="en-GB"/>
              <a:t>Plagiarism </a:t>
            </a:r>
          </a:p>
        </p:txBody>
      </p:sp>
      <p:sp>
        <p:nvSpPr>
          <p:cNvPr id="3" name="Content Placeholder 2">
            <a:extLst>
              <a:ext uri="{FF2B5EF4-FFF2-40B4-BE49-F238E27FC236}">
                <a16:creationId xmlns:a16="http://schemas.microsoft.com/office/drawing/2014/main" id="{4BB37858-6A06-E59D-EB56-61354306D4A2}"/>
              </a:ext>
            </a:extLst>
          </p:cNvPr>
          <p:cNvSpPr>
            <a:spLocks noGrp="1"/>
          </p:cNvSpPr>
          <p:nvPr>
            <p:ph idx="1"/>
          </p:nvPr>
        </p:nvSpPr>
        <p:spPr>
          <a:xfrm>
            <a:off x="131170" y="1882065"/>
            <a:ext cx="3139931" cy="3521995"/>
          </a:xfrm>
        </p:spPr>
        <p:txBody>
          <a:bodyPr vert="horz" lIns="91440" tIns="45720" rIns="91440" bIns="45720" rtlCol="0" anchor="t">
            <a:normAutofit/>
          </a:bodyPr>
          <a:lstStyle/>
          <a:p>
            <a:pPr>
              <a:buFont typeface="Wingdings" panose="05000000000000000000" pitchFamily="2" charset="2"/>
              <a:buChar char="Ø"/>
            </a:pPr>
            <a:r>
              <a:rPr lang="en-GB" sz="2000" b="1" dirty="0">
                <a:solidFill>
                  <a:srgbClr val="7030A0"/>
                </a:solidFill>
              </a:rPr>
              <a:t>Plagiarism</a:t>
            </a:r>
            <a:r>
              <a:rPr lang="en-GB" sz="2000" dirty="0"/>
              <a:t> is the process of creating works based on existing work without assigning credit.</a:t>
            </a:r>
          </a:p>
          <a:p>
            <a:pPr>
              <a:buFont typeface="Wingdings" panose="05000000000000000000" pitchFamily="2" charset="2"/>
              <a:buChar char="Ø"/>
            </a:pPr>
            <a:r>
              <a:rPr lang="en-GB" sz="2000" dirty="0"/>
              <a:t> There are multiple forms of Plagiarism, and you need to be aware of what is considered to be plagiarism. </a:t>
            </a:r>
          </a:p>
        </p:txBody>
      </p:sp>
      <p:pic>
        <p:nvPicPr>
          <p:cNvPr id="4" name="Online Media 3" title="What is plagiarism? | Scribbr 🎓">
            <a:hlinkClick r:id="" action="ppaction://media"/>
            <a:extLst>
              <a:ext uri="{FF2B5EF4-FFF2-40B4-BE49-F238E27FC236}">
                <a16:creationId xmlns:a16="http://schemas.microsoft.com/office/drawing/2014/main" id="{C7F9B868-A4F3-2F41-69BF-C06EBEDB2AAD}"/>
              </a:ext>
            </a:extLst>
          </p:cNvPr>
          <p:cNvPicPr>
            <a:picLocks noRot="1" noChangeAspect="1"/>
          </p:cNvPicPr>
          <p:nvPr>
            <a:videoFile r:link="rId1"/>
          </p:nvPr>
        </p:nvPicPr>
        <p:blipFill>
          <a:blip r:embed="rId3"/>
          <a:stretch>
            <a:fillRect/>
          </a:stretch>
        </p:blipFill>
        <p:spPr>
          <a:xfrm>
            <a:off x="3436584" y="1152751"/>
            <a:ext cx="8624246" cy="5506415"/>
          </a:xfrm>
          <a:prstGeom prst="rect">
            <a:avLst/>
          </a:prstGeom>
        </p:spPr>
      </p:pic>
      <p:pic>
        <p:nvPicPr>
          <p:cNvPr id="5" name="Picture 4">
            <a:extLst>
              <a:ext uri="{FF2B5EF4-FFF2-40B4-BE49-F238E27FC236}">
                <a16:creationId xmlns:a16="http://schemas.microsoft.com/office/drawing/2014/main" id="{07715398-9480-67CE-D9ED-E825A80B873F}"/>
              </a:ext>
            </a:extLst>
          </p:cNvPr>
          <p:cNvPicPr>
            <a:picLocks noChangeAspect="1"/>
          </p:cNvPicPr>
          <p:nvPr/>
        </p:nvPicPr>
        <p:blipFill>
          <a:blip r:embed="rId4"/>
          <a:stretch>
            <a:fillRect/>
          </a:stretch>
        </p:blipFill>
        <p:spPr>
          <a:xfrm>
            <a:off x="321371" y="5573255"/>
            <a:ext cx="1089072" cy="1085911"/>
          </a:xfrm>
          <a:prstGeom prst="rect">
            <a:avLst/>
          </a:prstGeom>
        </p:spPr>
      </p:pic>
    </p:spTree>
    <p:extLst>
      <p:ext uri="{BB962C8B-B14F-4D97-AF65-F5344CB8AC3E}">
        <p14:creationId xmlns:p14="http://schemas.microsoft.com/office/powerpoint/2010/main" val="1896840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Online Media 6" title="BBC: Spaghetti-Harvest in Ticino | Switzerland Tourism">
            <a:hlinkClick r:id="" action="ppaction://media"/>
            <a:extLst>
              <a:ext uri="{FF2B5EF4-FFF2-40B4-BE49-F238E27FC236}">
                <a16:creationId xmlns:a16="http://schemas.microsoft.com/office/drawing/2014/main" id="{F4C19F31-F260-D5AC-DC34-09F1735CE105}"/>
              </a:ext>
            </a:extLst>
          </p:cNvPr>
          <p:cNvPicPr>
            <a:picLocks noRot="1" noChangeAspect="1"/>
          </p:cNvPicPr>
          <p:nvPr>
            <a:videoFile r:link="rId1"/>
          </p:nvPr>
        </p:nvPicPr>
        <p:blipFill>
          <a:blip r:embed="rId3"/>
          <a:stretch>
            <a:fillRect/>
          </a:stretch>
        </p:blipFill>
        <p:spPr>
          <a:xfrm>
            <a:off x="417250" y="267953"/>
            <a:ext cx="11508664" cy="6322094"/>
          </a:xfrm>
          <a:prstGeom prst="rect">
            <a:avLst/>
          </a:prstGeom>
        </p:spPr>
      </p:pic>
    </p:spTree>
    <p:extLst>
      <p:ext uri="{BB962C8B-B14F-4D97-AF65-F5344CB8AC3E}">
        <p14:creationId xmlns:p14="http://schemas.microsoft.com/office/powerpoint/2010/main" val="246654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vol="80000">
                <p:cTn id="12" fill="hold" display="0">
                  <p:stCondLst>
                    <p:cond delay="indefinite"/>
                  </p:stCondLst>
                </p:cTn>
                <p:tgtEl>
                  <p:spTgt spid="4"/>
                </p:tgtEl>
              </p:cMediaNode>
            </p:video>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7377C12D-1C4A-6C7A-DE96-BA8F842CCFD1}"/>
              </a:ext>
            </a:extLst>
          </p:cNvPr>
          <p:cNvPicPr>
            <a:picLocks noChangeAspect="1"/>
          </p:cNvPicPr>
          <p:nvPr/>
        </p:nvPicPr>
        <p:blipFill>
          <a:blip r:embed="rId2"/>
          <a:stretch>
            <a:fillRect/>
          </a:stretch>
        </p:blipFill>
        <p:spPr>
          <a:xfrm>
            <a:off x="-153284" y="0"/>
            <a:ext cx="11650156" cy="2193155"/>
          </a:xfrm>
          <a:prstGeom prst="rect">
            <a:avLst/>
          </a:prstGeom>
        </p:spPr>
      </p:pic>
      <p:pic>
        <p:nvPicPr>
          <p:cNvPr id="15" name="Picture 14">
            <a:extLst>
              <a:ext uri="{FF2B5EF4-FFF2-40B4-BE49-F238E27FC236}">
                <a16:creationId xmlns:a16="http://schemas.microsoft.com/office/drawing/2014/main" id="{06DDFFF7-258C-31D1-892D-4BAAEBEC5E3F}"/>
              </a:ext>
            </a:extLst>
          </p:cNvPr>
          <p:cNvPicPr>
            <a:picLocks noChangeAspect="1"/>
          </p:cNvPicPr>
          <p:nvPr/>
        </p:nvPicPr>
        <p:blipFill>
          <a:blip r:embed="rId3"/>
          <a:stretch>
            <a:fillRect/>
          </a:stretch>
        </p:blipFill>
        <p:spPr>
          <a:xfrm>
            <a:off x="270922" y="1903572"/>
            <a:ext cx="9398524" cy="4772029"/>
          </a:xfrm>
          <a:prstGeom prst="rect">
            <a:avLst/>
          </a:prstGeom>
        </p:spPr>
      </p:pic>
      <p:pic>
        <p:nvPicPr>
          <p:cNvPr id="19" name="Picture 18" descr="A qr code with a red circle and a pin&#10;&#10;Description automatically generated">
            <a:extLst>
              <a:ext uri="{FF2B5EF4-FFF2-40B4-BE49-F238E27FC236}">
                <a16:creationId xmlns:a16="http://schemas.microsoft.com/office/drawing/2014/main" id="{FD0214DB-C8C8-580A-03FC-BDF7AD2747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78370" y="4538074"/>
            <a:ext cx="2137527" cy="2137527"/>
          </a:xfrm>
          <a:prstGeom prst="rect">
            <a:avLst/>
          </a:prstGeom>
        </p:spPr>
      </p:pic>
      <p:pic>
        <p:nvPicPr>
          <p:cNvPr id="2" name="Picture 1">
            <a:extLst>
              <a:ext uri="{FF2B5EF4-FFF2-40B4-BE49-F238E27FC236}">
                <a16:creationId xmlns:a16="http://schemas.microsoft.com/office/drawing/2014/main" id="{5D42672E-E71A-48B2-FDB3-E8D09C7D8678}"/>
              </a:ext>
            </a:extLst>
          </p:cNvPr>
          <p:cNvPicPr>
            <a:picLocks noChangeAspect="1"/>
          </p:cNvPicPr>
          <p:nvPr/>
        </p:nvPicPr>
        <p:blipFill>
          <a:blip r:embed="rId5"/>
          <a:stretch>
            <a:fillRect/>
          </a:stretch>
        </p:blipFill>
        <p:spPr>
          <a:xfrm>
            <a:off x="8341982" y="5481349"/>
            <a:ext cx="987951" cy="985083"/>
          </a:xfrm>
          <a:prstGeom prst="rect">
            <a:avLst/>
          </a:prstGeom>
        </p:spPr>
      </p:pic>
    </p:spTree>
    <p:extLst>
      <p:ext uri="{BB962C8B-B14F-4D97-AF65-F5344CB8AC3E}">
        <p14:creationId xmlns:p14="http://schemas.microsoft.com/office/powerpoint/2010/main" val="8609505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5EFF45-8C25-374B-1FA4-9825204FA6D2}"/>
              </a:ext>
            </a:extLst>
          </p:cNvPr>
          <p:cNvSpPr>
            <a:spLocks noGrp="1"/>
          </p:cNvSpPr>
          <p:nvPr>
            <p:ph type="title"/>
          </p:nvPr>
        </p:nvSpPr>
        <p:spPr/>
        <p:txBody>
          <a:bodyPr/>
          <a:lstStyle/>
          <a:p>
            <a:r>
              <a:rPr lang="en-US"/>
              <a:t>Additional Resources</a:t>
            </a:r>
            <a:endParaRPr lang="en-GB"/>
          </a:p>
        </p:txBody>
      </p:sp>
      <p:sp>
        <p:nvSpPr>
          <p:cNvPr id="3" name="Content Placeholder 2">
            <a:extLst>
              <a:ext uri="{FF2B5EF4-FFF2-40B4-BE49-F238E27FC236}">
                <a16:creationId xmlns:a16="http://schemas.microsoft.com/office/drawing/2014/main" id="{BC19E08E-2DFA-6BBD-BCA8-37E7C0FBBDB2}"/>
              </a:ext>
            </a:extLst>
          </p:cNvPr>
          <p:cNvSpPr>
            <a:spLocks noGrp="1"/>
          </p:cNvSpPr>
          <p:nvPr>
            <p:ph idx="1"/>
          </p:nvPr>
        </p:nvSpPr>
        <p:spPr/>
        <p:txBody>
          <a:bodyPr vert="horz" lIns="91440" tIns="45720" rIns="91440" bIns="45720" rtlCol="0" anchor="t">
            <a:normAutofit/>
          </a:bodyPr>
          <a:lstStyle/>
          <a:p>
            <a:r>
              <a:rPr lang="en-GB">
                <a:solidFill>
                  <a:schemeClr val="accent2">
                    <a:lumMod val="76000"/>
                  </a:schemeClr>
                </a:solidFill>
              </a:rPr>
              <a:t>How to create a PowerPoint Presentation</a:t>
            </a:r>
            <a:br>
              <a:rPr lang="en-GB">
                <a:solidFill>
                  <a:schemeClr val="accent2">
                    <a:lumMod val="76000"/>
                  </a:schemeClr>
                </a:solidFill>
              </a:rPr>
            </a:br>
            <a:r>
              <a:rPr lang="en-GB">
                <a:ea typeface="+mn-lt"/>
                <a:cs typeface="+mn-lt"/>
              </a:rPr>
              <a:t>https://www.youtube.com/watch?v=gkNGtBlZOwo</a:t>
            </a:r>
            <a:endParaRPr lang="en-GB"/>
          </a:p>
          <a:p>
            <a:pPr marL="0" indent="0">
              <a:buNone/>
            </a:pPr>
            <a:r>
              <a:rPr lang="en-GB"/>
              <a:t> </a:t>
            </a:r>
          </a:p>
          <a:p>
            <a:r>
              <a:rPr lang="en-GB">
                <a:solidFill>
                  <a:schemeClr val="accent2">
                    <a:lumMod val="76000"/>
                  </a:schemeClr>
                </a:solidFill>
              </a:rPr>
              <a:t>Using Office365</a:t>
            </a:r>
            <a:br>
              <a:rPr lang="en-GB"/>
            </a:br>
            <a:r>
              <a:rPr lang="en-GB">
                <a:ea typeface="+mn-lt"/>
                <a:cs typeface="+mn-lt"/>
              </a:rPr>
              <a:t>https://www.youtube.com/watch?v=psHKqAJ03HQ</a:t>
            </a:r>
            <a:br>
              <a:rPr lang="en-GB"/>
            </a:br>
            <a:endParaRPr lang="en-GB"/>
          </a:p>
        </p:txBody>
      </p:sp>
      <p:pic>
        <p:nvPicPr>
          <p:cNvPr id="4" name="Picture 3">
            <a:extLst>
              <a:ext uri="{FF2B5EF4-FFF2-40B4-BE49-F238E27FC236}">
                <a16:creationId xmlns:a16="http://schemas.microsoft.com/office/drawing/2014/main" id="{5DF93C56-D452-4E68-0D41-568B14E100BD}"/>
              </a:ext>
            </a:extLst>
          </p:cNvPr>
          <p:cNvPicPr>
            <a:picLocks noChangeAspect="1"/>
          </p:cNvPicPr>
          <p:nvPr/>
        </p:nvPicPr>
        <p:blipFill>
          <a:blip r:embed="rId2"/>
          <a:stretch>
            <a:fillRect/>
          </a:stretch>
        </p:blipFill>
        <p:spPr>
          <a:xfrm>
            <a:off x="0" y="5211937"/>
            <a:ext cx="1298561" cy="1646063"/>
          </a:xfrm>
          <a:prstGeom prst="rect">
            <a:avLst/>
          </a:prstGeom>
        </p:spPr>
      </p:pic>
      <p:pic>
        <p:nvPicPr>
          <p:cNvPr id="6" name="Picture 5" descr="A qr code on a white background&#10;&#10;Description automatically generated">
            <a:extLst>
              <a:ext uri="{FF2B5EF4-FFF2-40B4-BE49-F238E27FC236}">
                <a16:creationId xmlns:a16="http://schemas.microsoft.com/office/drawing/2014/main" id="{9FA2481B-59AB-B597-FC5D-0C532D112A89}"/>
              </a:ext>
            </a:extLst>
          </p:cNvPr>
          <p:cNvPicPr>
            <a:picLocks noChangeAspect="1"/>
          </p:cNvPicPr>
          <p:nvPr/>
        </p:nvPicPr>
        <p:blipFill>
          <a:blip r:embed="rId3"/>
          <a:stretch>
            <a:fillRect/>
          </a:stretch>
        </p:blipFill>
        <p:spPr>
          <a:xfrm>
            <a:off x="9332476" y="251017"/>
            <a:ext cx="2495550" cy="2505075"/>
          </a:xfrm>
          <a:prstGeom prst="rect">
            <a:avLst/>
          </a:prstGeom>
        </p:spPr>
      </p:pic>
      <p:pic>
        <p:nvPicPr>
          <p:cNvPr id="9" name="Picture 8" descr="A qr code on a white background&#10;&#10;Description automatically generated">
            <a:extLst>
              <a:ext uri="{FF2B5EF4-FFF2-40B4-BE49-F238E27FC236}">
                <a16:creationId xmlns:a16="http://schemas.microsoft.com/office/drawing/2014/main" id="{DA0FC64D-C0CF-5416-0E9A-37A6622CE27F}"/>
              </a:ext>
            </a:extLst>
          </p:cNvPr>
          <p:cNvPicPr>
            <a:picLocks noChangeAspect="1"/>
          </p:cNvPicPr>
          <p:nvPr/>
        </p:nvPicPr>
        <p:blipFill>
          <a:blip r:embed="rId4"/>
          <a:stretch>
            <a:fillRect/>
          </a:stretch>
        </p:blipFill>
        <p:spPr>
          <a:xfrm>
            <a:off x="9223804" y="3432733"/>
            <a:ext cx="2476500" cy="2505075"/>
          </a:xfrm>
          <a:prstGeom prst="rect">
            <a:avLst/>
          </a:prstGeom>
        </p:spPr>
      </p:pic>
      <p:pic>
        <p:nvPicPr>
          <p:cNvPr id="7" name="Picture 6">
            <a:extLst>
              <a:ext uri="{FF2B5EF4-FFF2-40B4-BE49-F238E27FC236}">
                <a16:creationId xmlns:a16="http://schemas.microsoft.com/office/drawing/2014/main" id="{F352B7F5-FF57-1233-E4CC-1D10A36AAFAF}"/>
              </a:ext>
            </a:extLst>
          </p:cNvPr>
          <p:cNvPicPr>
            <a:picLocks noChangeAspect="1"/>
          </p:cNvPicPr>
          <p:nvPr/>
        </p:nvPicPr>
        <p:blipFill>
          <a:blip r:embed="rId5"/>
          <a:stretch>
            <a:fillRect/>
          </a:stretch>
        </p:blipFill>
        <p:spPr>
          <a:xfrm>
            <a:off x="1822462" y="5618085"/>
            <a:ext cx="1243525" cy="1239915"/>
          </a:xfrm>
          <a:prstGeom prst="rect">
            <a:avLst/>
          </a:prstGeom>
        </p:spPr>
      </p:pic>
    </p:spTree>
    <p:extLst>
      <p:ext uri="{BB962C8B-B14F-4D97-AF65-F5344CB8AC3E}">
        <p14:creationId xmlns:p14="http://schemas.microsoft.com/office/powerpoint/2010/main" val="28252235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14749" y="1635881"/>
            <a:ext cx="5410200" cy="3586239"/>
            <a:chOff x="0" y="0"/>
            <a:chExt cx="2137363" cy="1416786"/>
          </a:xfrm>
        </p:grpSpPr>
        <p:sp>
          <p:nvSpPr>
            <p:cNvPr id="3" name="Freeform 3"/>
            <p:cNvSpPr/>
            <p:nvPr/>
          </p:nvSpPr>
          <p:spPr>
            <a:xfrm>
              <a:off x="0" y="0"/>
              <a:ext cx="2137363" cy="1416786"/>
            </a:xfrm>
            <a:custGeom>
              <a:avLst/>
              <a:gdLst/>
              <a:ahLst/>
              <a:cxnLst/>
              <a:rect l="l" t="t" r="r" b="b"/>
              <a:pathLst>
                <a:path w="2137363" h="1416786">
                  <a:moveTo>
                    <a:pt x="95399" y="0"/>
                  </a:moveTo>
                  <a:lnTo>
                    <a:pt x="2041964" y="0"/>
                  </a:lnTo>
                  <a:cubicBezTo>
                    <a:pt x="2067265" y="0"/>
                    <a:pt x="2091530" y="10051"/>
                    <a:pt x="2109421" y="27942"/>
                  </a:cubicBezTo>
                  <a:cubicBezTo>
                    <a:pt x="2127312" y="45833"/>
                    <a:pt x="2137363" y="70098"/>
                    <a:pt x="2137363" y="95399"/>
                  </a:cubicBezTo>
                  <a:lnTo>
                    <a:pt x="2137363" y="1321386"/>
                  </a:lnTo>
                  <a:cubicBezTo>
                    <a:pt x="2137363" y="1374074"/>
                    <a:pt x="2094651" y="1416786"/>
                    <a:pt x="2041964" y="1416786"/>
                  </a:cubicBezTo>
                  <a:lnTo>
                    <a:pt x="95399" y="1416786"/>
                  </a:lnTo>
                  <a:cubicBezTo>
                    <a:pt x="70098" y="1416786"/>
                    <a:pt x="45833" y="1406735"/>
                    <a:pt x="27942" y="1388844"/>
                  </a:cubicBezTo>
                  <a:cubicBezTo>
                    <a:pt x="10051" y="1370953"/>
                    <a:pt x="0" y="1346688"/>
                    <a:pt x="0" y="1321386"/>
                  </a:cubicBezTo>
                  <a:lnTo>
                    <a:pt x="0" y="95399"/>
                  </a:lnTo>
                  <a:cubicBezTo>
                    <a:pt x="0" y="42712"/>
                    <a:pt x="42712" y="0"/>
                    <a:pt x="95399" y="0"/>
                  </a:cubicBezTo>
                  <a:close/>
                </a:path>
              </a:pathLst>
            </a:custGeom>
            <a:solidFill>
              <a:srgbClr val="5372FE"/>
            </a:solidFill>
          </p:spPr>
          <p:txBody>
            <a:bodyPr/>
            <a:lstStyle/>
            <a:p>
              <a:pPr defTabSz="609630"/>
              <a:endParaRPr lang="en-GB" sz="1200">
                <a:solidFill>
                  <a:prstClr val="black"/>
                </a:solidFill>
                <a:latin typeface="Calibri"/>
              </a:endParaRPr>
            </a:p>
          </p:txBody>
        </p:sp>
        <p:sp>
          <p:nvSpPr>
            <p:cNvPr id="4" name="TextBox 4"/>
            <p:cNvSpPr txBox="1"/>
            <p:nvPr/>
          </p:nvSpPr>
          <p:spPr>
            <a:xfrm>
              <a:off x="0" y="-95250"/>
              <a:ext cx="2137363" cy="1512036"/>
            </a:xfrm>
            <a:prstGeom prst="rect">
              <a:avLst/>
            </a:prstGeom>
          </p:spPr>
          <p:txBody>
            <a:bodyPr lIns="169333" tIns="169333" rIns="169333" bIns="169333" rtlCol="0" anchor="ctr"/>
            <a:lstStyle/>
            <a:p>
              <a:pPr algn="ctr" defTabSz="609630">
                <a:lnSpc>
                  <a:spcPts val="2799"/>
                </a:lnSpc>
              </a:pPr>
              <a:endParaRPr sz="1200">
                <a:solidFill>
                  <a:prstClr val="black"/>
                </a:solidFill>
                <a:latin typeface="Calibri"/>
              </a:endParaRPr>
            </a:p>
          </p:txBody>
        </p:sp>
      </p:grpSp>
      <p:sp>
        <p:nvSpPr>
          <p:cNvPr id="5" name="TextBox 5"/>
          <p:cNvSpPr txBox="1"/>
          <p:nvPr/>
        </p:nvSpPr>
        <p:spPr>
          <a:xfrm>
            <a:off x="-1863855" y="3019341"/>
            <a:ext cx="10820400" cy="741613"/>
          </a:xfrm>
          <a:prstGeom prst="rect">
            <a:avLst/>
          </a:prstGeom>
        </p:spPr>
        <p:txBody>
          <a:bodyPr lIns="0" tIns="0" rIns="0" bIns="0" rtlCol="0" anchor="t">
            <a:spAutoFit/>
          </a:bodyPr>
          <a:lstStyle/>
          <a:p>
            <a:pPr algn="ctr" defTabSz="609630">
              <a:lnSpc>
                <a:spcPts val="6217"/>
              </a:lnSpc>
            </a:pPr>
            <a:r>
              <a:rPr lang="en-US" sz="4974" u="sng">
                <a:solidFill>
                  <a:srgbClr val="FBB03B"/>
                </a:solidFill>
                <a:latin typeface="Etna Sans Serif"/>
                <a:ea typeface="Etna Sans Serif"/>
                <a:cs typeface="Etna Sans Serif"/>
                <a:sym typeface="Etna Sans Serif"/>
              </a:rPr>
              <a:t>Any Questions?</a:t>
            </a:r>
          </a:p>
        </p:txBody>
      </p:sp>
      <p:sp>
        <p:nvSpPr>
          <p:cNvPr id="6" name="Freeform 6"/>
          <p:cNvSpPr/>
          <p:nvPr/>
        </p:nvSpPr>
        <p:spPr>
          <a:xfrm>
            <a:off x="7037412" y="1517064"/>
            <a:ext cx="3838266" cy="3823873"/>
          </a:xfrm>
          <a:custGeom>
            <a:avLst/>
            <a:gdLst/>
            <a:ahLst/>
            <a:cxnLst/>
            <a:rect l="l" t="t" r="r" b="b"/>
            <a:pathLst>
              <a:path w="5757399" h="5735809">
                <a:moveTo>
                  <a:pt x="0" y="0"/>
                </a:moveTo>
                <a:lnTo>
                  <a:pt x="5757400" y="0"/>
                </a:lnTo>
                <a:lnTo>
                  <a:pt x="5757400" y="5735810"/>
                </a:lnTo>
                <a:lnTo>
                  <a:pt x="0" y="5735810"/>
                </a:lnTo>
                <a:lnTo>
                  <a:pt x="0" y="0"/>
                </a:lnTo>
                <a:close/>
              </a:path>
            </a:pathLst>
          </a:custGeom>
          <a:blipFill>
            <a:blip r:embed="rId2"/>
            <a:stretch>
              <a:fillRect/>
            </a:stretch>
          </a:blipFill>
        </p:spPr>
        <p:txBody>
          <a:bodyPr/>
          <a:lstStyle/>
          <a:p>
            <a:pPr defTabSz="609630"/>
            <a:endParaRPr lang="en-GB" sz="1200">
              <a:solidFill>
                <a:prstClr val="black"/>
              </a:solidFill>
              <a:latin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EB720-628A-4E1F-4891-1974B29F83DB}"/>
              </a:ext>
            </a:extLst>
          </p:cNvPr>
          <p:cNvSpPr>
            <a:spLocks noGrp="1"/>
          </p:cNvSpPr>
          <p:nvPr>
            <p:ph type="title"/>
          </p:nvPr>
        </p:nvSpPr>
        <p:spPr>
          <a:xfrm>
            <a:off x="81481" y="1580981"/>
            <a:ext cx="12004896" cy="956612"/>
          </a:xfrm>
          <a:solidFill>
            <a:srgbClr val="482E91"/>
          </a:solidFill>
          <a:ln>
            <a:solidFill>
              <a:srgbClr val="482E91"/>
            </a:solidFill>
          </a:ln>
        </p:spPr>
        <p:txBody>
          <a:bodyPr>
            <a:normAutofit/>
          </a:bodyPr>
          <a:lstStyle/>
          <a:p>
            <a:pPr algn="ctr"/>
            <a:r>
              <a:rPr lang="en-US" b="1" dirty="0">
                <a:solidFill>
                  <a:schemeClr val="bg1"/>
                </a:solidFill>
              </a:rPr>
              <a:t>Thank you </a:t>
            </a:r>
          </a:p>
        </p:txBody>
      </p:sp>
      <p:sp>
        <p:nvSpPr>
          <p:cNvPr id="3" name="TextBox 2">
            <a:extLst>
              <a:ext uri="{FF2B5EF4-FFF2-40B4-BE49-F238E27FC236}">
                <a16:creationId xmlns:a16="http://schemas.microsoft.com/office/drawing/2014/main" id="{C70D95F9-1304-5974-4833-78044958E692}"/>
              </a:ext>
            </a:extLst>
          </p:cNvPr>
          <p:cNvSpPr txBox="1"/>
          <p:nvPr/>
        </p:nvSpPr>
        <p:spPr>
          <a:xfrm>
            <a:off x="81480" y="2640614"/>
            <a:ext cx="12004896"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b="1" dirty="0">
                <a:solidFill>
                  <a:srgbClr val="7030A0"/>
                </a:solidFill>
              </a:rPr>
              <a:t>Get Proactive </a:t>
            </a:r>
            <a:br>
              <a:rPr lang="en-US" dirty="0"/>
            </a:br>
            <a:br>
              <a:rPr lang="en-US" dirty="0"/>
            </a:br>
            <a:r>
              <a:rPr lang="en-US" b="1" dirty="0">
                <a:solidFill>
                  <a:srgbClr val="7030A0"/>
                </a:solidFill>
              </a:rPr>
              <a:t>Software Development </a:t>
            </a:r>
            <a:endParaRPr lang="en-US" dirty="0">
              <a:solidFill>
                <a:srgbClr val="7030A0"/>
              </a:solidFill>
            </a:endParaRPr>
          </a:p>
          <a:p>
            <a:pPr algn="ctr"/>
            <a:r>
              <a:rPr lang="en-US" b="1" dirty="0"/>
              <a:t>-</a:t>
            </a:r>
            <a:r>
              <a:rPr lang="en-US" dirty="0"/>
              <a:t> </a:t>
            </a:r>
            <a:r>
              <a:rPr lang="en-US" dirty="0">
                <a:hlinkClick r:id="rId2">
                  <a:extLst>
                    <a:ext uri="{A12FA001-AC4F-418D-AE19-62706E023703}">
                      <ahyp:hlinkClr xmlns:ahyp="http://schemas.microsoft.com/office/drawing/2018/hyperlinkcolor" val="tx"/>
                    </a:ext>
                  </a:extLst>
                </a:hlinkClick>
              </a:rPr>
              <a:t>https://www.linkedin.com/learning/software-development-life-cycle-sdlc</a:t>
            </a:r>
            <a:endParaRPr lang="en-US" dirty="0"/>
          </a:p>
          <a:p>
            <a:endParaRPr lang="en-US" dirty="0"/>
          </a:p>
          <a:p>
            <a:pPr algn="ctr"/>
            <a:r>
              <a:rPr lang="en-US" b="1" dirty="0">
                <a:solidFill>
                  <a:srgbClr val="7030A0"/>
                </a:solidFill>
              </a:rPr>
              <a:t>Cyber Security</a:t>
            </a:r>
            <a:endParaRPr lang="en-US" dirty="0">
              <a:solidFill>
                <a:srgbClr val="7030A0"/>
              </a:solidFill>
            </a:endParaRPr>
          </a:p>
          <a:p>
            <a:pPr algn="ctr"/>
            <a:r>
              <a:rPr lang="en-US" dirty="0"/>
              <a:t> - </a:t>
            </a:r>
            <a:r>
              <a:rPr lang="en-US" dirty="0">
                <a:ea typeface="+mn-lt"/>
                <a:cs typeface="+mn-lt"/>
                <a:hlinkClick r:id="rId3">
                  <a:extLst>
                    <a:ext uri="{A12FA001-AC4F-418D-AE19-62706E023703}">
                      <ahyp:hlinkClr xmlns:ahyp="http://schemas.microsoft.com/office/drawing/2018/hyperlinkcolor" val="tx"/>
                    </a:ext>
                  </a:extLst>
                </a:hlinkClick>
              </a:rPr>
              <a:t>https://www.linkedin.com/learning/cybersecurity-foundations-governance-risk-and-compliance-grc/</a:t>
            </a:r>
            <a:endParaRPr lang="en-US" dirty="0"/>
          </a:p>
          <a:p>
            <a:endParaRPr lang="en-US" dirty="0"/>
          </a:p>
        </p:txBody>
      </p:sp>
      <p:pic>
        <p:nvPicPr>
          <p:cNvPr id="5" name="Picture 4" descr="A qr code on a white background&#10;&#10;Description automatically generated">
            <a:extLst>
              <a:ext uri="{FF2B5EF4-FFF2-40B4-BE49-F238E27FC236}">
                <a16:creationId xmlns:a16="http://schemas.microsoft.com/office/drawing/2014/main" id="{B4F8B163-30EE-B8DE-9B65-2C26137B1E5B}"/>
              </a:ext>
            </a:extLst>
          </p:cNvPr>
          <p:cNvPicPr>
            <a:picLocks noChangeAspect="1"/>
          </p:cNvPicPr>
          <p:nvPr/>
        </p:nvPicPr>
        <p:blipFill>
          <a:blip r:embed="rId4"/>
          <a:stretch>
            <a:fillRect/>
          </a:stretch>
        </p:blipFill>
        <p:spPr>
          <a:xfrm>
            <a:off x="4296112" y="5328958"/>
            <a:ext cx="1401535" cy="1441102"/>
          </a:xfrm>
          <a:prstGeom prst="rect">
            <a:avLst/>
          </a:prstGeom>
        </p:spPr>
      </p:pic>
      <p:pic>
        <p:nvPicPr>
          <p:cNvPr id="7" name="Picture 6" descr="A qr code on a white background&#10;&#10;Description automatically generated">
            <a:extLst>
              <a:ext uri="{FF2B5EF4-FFF2-40B4-BE49-F238E27FC236}">
                <a16:creationId xmlns:a16="http://schemas.microsoft.com/office/drawing/2014/main" id="{4EA41ACB-D370-1F2E-F310-8C8FC2DB56E9}"/>
              </a:ext>
            </a:extLst>
          </p:cNvPr>
          <p:cNvPicPr>
            <a:picLocks noChangeAspect="1"/>
          </p:cNvPicPr>
          <p:nvPr/>
        </p:nvPicPr>
        <p:blipFill>
          <a:blip r:embed="rId5"/>
          <a:stretch>
            <a:fillRect/>
          </a:stretch>
        </p:blipFill>
        <p:spPr>
          <a:xfrm>
            <a:off x="7061878" y="5328958"/>
            <a:ext cx="1409887" cy="1441102"/>
          </a:xfrm>
          <a:prstGeom prst="rect">
            <a:avLst/>
          </a:prstGeom>
        </p:spPr>
      </p:pic>
      <p:pic>
        <p:nvPicPr>
          <p:cNvPr id="6" name="Picture 5">
            <a:extLst>
              <a:ext uri="{FF2B5EF4-FFF2-40B4-BE49-F238E27FC236}">
                <a16:creationId xmlns:a16="http://schemas.microsoft.com/office/drawing/2014/main" id="{9DF0004D-5D3E-AABF-8961-EA50F8D7218F}"/>
              </a:ext>
            </a:extLst>
          </p:cNvPr>
          <p:cNvPicPr>
            <a:picLocks noChangeAspect="1"/>
          </p:cNvPicPr>
          <p:nvPr/>
        </p:nvPicPr>
        <p:blipFill>
          <a:blip r:embed="rId6"/>
          <a:stretch>
            <a:fillRect/>
          </a:stretch>
        </p:blipFill>
        <p:spPr>
          <a:xfrm>
            <a:off x="0" y="0"/>
            <a:ext cx="12192000" cy="1416917"/>
          </a:xfrm>
          <a:prstGeom prst="rect">
            <a:avLst/>
          </a:prstGeom>
        </p:spPr>
      </p:pic>
      <p:pic>
        <p:nvPicPr>
          <p:cNvPr id="8" name="Picture 7">
            <a:extLst>
              <a:ext uri="{FF2B5EF4-FFF2-40B4-BE49-F238E27FC236}">
                <a16:creationId xmlns:a16="http://schemas.microsoft.com/office/drawing/2014/main" id="{1A5B60C0-93B0-7514-5256-343A7263047D}"/>
              </a:ext>
            </a:extLst>
          </p:cNvPr>
          <p:cNvPicPr>
            <a:picLocks noChangeAspect="1"/>
          </p:cNvPicPr>
          <p:nvPr/>
        </p:nvPicPr>
        <p:blipFill>
          <a:blip r:embed="rId7"/>
          <a:stretch>
            <a:fillRect/>
          </a:stretch>
        </p:blipFill>
        <p:spPr>
          <a:xfrm>
            <a:off x="792533" y="5424739"/>
            <a:ext cx="1253177" cy="1249540"/>
          </a:xfrm>
          <a:prstGeom prst="rect">
            <a:avLst/>
          </a:prstGeom>
        </p:spPr>
      </p:pic>
      <p:pic>
        <p:nvPicPr>
          <p:cNvPr id="9" name="Picture 8">
            <a:extLst>
              <a:ext uri="{FF2B5EF4-FFF2-40B4-BE49-F238E27FC236}">
                <a16:creationId xmlns:a16="http://schemas.microsoft.com/office/drawing/2014/main" id="{581F7D61-39AB-3434-17DF-EC2C83FB94DF}"/>
              </a:ext>
            </a:extLst>
          </p:cNvPr>
          <p:cNvPicPr>
            <a:picLocks noChangeAspect="1"/>
          </p:cNvPicPr>
          <p:nvPr/>
        </p:nvPicPr>
        <p:blipFill>
          <a:blip r:embed="rId7"/>
          <a:stretch>
            <a:fillRect/>
          </a:stretch>
        </p:blipFill>
        <p:spPr>
          <a:xfrm>
            <a:off x="10331308" y="5328958"/>
            <a:ext cx="1204912" cy="1201414"/>
          </a:xfrm>
          <a:prstGeom prst="rect">
            <a:avLst/>
          </a:prstGeom>
        </p:spPr>
      </p:pic>
    </p:spTree>
    <p:extLst>
      <p:ext uri="{BB962C8B-B14F-4D97-AF65-F5344CB8AC3E}">
        <p14:creationId xmlns:p14="http://schemas.microsoft.com/office/powerpoint/2010/main" val="32088999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4132CBC8BAB484D8BA8397E96039BD0" ma:contentTypeVersion="15" ma:contentTypeDescription="Create a new document." ma:contentTypeScope="" ma:versionID="5b9bde227a27d21fa5e6ba656baf4408">
  <xsd:schema xmlns:xsd="http://www.w3.org/2001/XMLSchema" xmlns:xs="http://www.w3.org/2001/XMLSchema" xmlns:p="http://schemas.microsoft.com/office/2006/metadata/properties" xmlns:ns3="5bea8dca-921d-4e4d-b267-3583c0523200" xmlns:ns4="7f5a0a7b-9b02-490f-ba2f-a189d3b87820" targetNamespace="http://schemas.microsoft.com/office/2006/metadata/properties" ma:root="true" ma:fieldsID="4580a70d396d81886e80ba43c19aba64" ns3:_="" ns4:_="">
    <xsd:import namespace="5bea8dca-921d-4e4d-b267-3583c0523200"/>
    <xsd:import namespace="7f5a0a7b-9b02-490f-ba2f-a189d3b87820"/>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LengthInSeconds" minOccurs="0"/>
                <xsd:element ref="ns3:_activity" minOccurs="0"/>
                <xsd:element ref="ns3:MediaServiceObjectDetectorVersions"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bea8dca-921d-4e4d-b267-3583c052320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_activity" ma:index="19" nillable="true" ma:displayName="_activity" ma:hidden="true" ma:internalName="_activity">
      <xsd:simpleType>
        <xsd:restriction base="dms:Note"/>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f5a0a7b-9b02-490f-ba2f-a189d3b87820"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activity xmlns="5bea8dca-921d-4e4d-b267-3583c0523200" xsi:nil="true"/>
  </documentManagement>
</p:properties>
</file>

<file path=customXml/itemProps1.xml><?xml version="1.0" encoding="utf-8"?>
<ds:datastoreItem xmlns:ds="http://schemas.openxmlformats.org/officeDocument/2006/customXml" ds:itemID="{DDB2ED84-5FF5-479D-993D-D1BA5AAB8A74}">
  <ds:schemaRefs>
    <ds:schemaRef ds:uri="http://schemas.microsoft.com/sharepoint/v3/contenttype/forms"/>
  </ds:schemaRefs>
</ds:datastoreItem>
</file>

<file path=customXml/itemProps2.xml><?xml version="1.0" encoding="utf-8"?>
<ds:datastoreItem xmlns:ds="http://schemas.openxmlformats.org/officeDocument/2006/customXml" ds:itemID="{E9C87AA2-4424-4D96-A10E-F1877B55B95B}">
  <ds:schemaRefs>
    <ds:schemaRef ds:uri="5bea8dca-921d-4e4d-b267-3583c0523200"/>
    <ds:schemaRef ds:uri="7f5a0a7b-9b02-490f-ba2f-a189d3b8782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5F89440-2CC5-425F-B000-B23244D9477F}">
  <ds:schemaRefs>
    <ds:schemaRef ds:uri="5bea8dca-921d-4e4d-b267-3583c0523200"/>
    <ds:schemaRef ds:uri="7f5a0a7b-9b02-490f-ba2f-a189d3b87820"/>
    <ds:schemaRef ds:uri="http://purl.org/dc/elements/1.1/"/>
    <ds:schemaRef ds:uri="http://schemas.microsoft.com/office/2006/documentManagement/types"/>
    <ds:schemaRef ds:uri="http://purl.org/dc/dcmitype/"/>
    <ds:schemaRef ds:uri="http://www.w3.org/XML/1998/namespace"/>
    <ds:schemaRef ds:uri="http://schemas.microsoft.com/office/infopath/2007/PartnerControls"/>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289</TotalTime>
  <Words>1759</Words>
  <Application>Microsoft Office PowerPoint</Application>
  <PresentationFormat>Widescreen</PresentationFormat>
  <Paragraphs>222</Paragraphs>
  <Slides>33</Slides>
  <Notes>0</Notes>
  <HiddenSlides>0</HiddenSlides>
  <MMClips>3</MMClips>
  <ScaleCrop>false</ScaleCrop>
  <HeadingPairs>
    <vt:vector size="6" baseType="variant">
      <vt:variant>
        <vt:lpstr>Fonts Used</vt:lpstr>
      </vt:variant>
      <vt:variant>
        <vt:i4>13</vt:i4>
      </vt:variant>
      <vt:variant>
        <vt:lpstr>Theme</vt:lpstr>
      </vt:variant>
      <vt:variant>
        <vt:i4>2</vt:i4>
      </vt:variant>
      <vt:variant>
        <vt:lpstr>Slide Titles</vt:lpstr>
      </vt:variant>
      <vt:variant>
        <vt:i4>33</vt:i4>
      </vt:variant>
    </vt:vector>
  </HeadingPairs>
  <TitlesOfParts>
    <vt:vector size="48" baseType="lpstr">
      <vt:lpstr>Adobe Arabic</vt:lpstr>
      <vt:lpstr>Antonio</vt:lpstr>
      <vt:lpstr>Aptos</vt:lpstr>
      <vt:lpstr>Aptos Display</vt:lpstr>
      <vt:lpstr>Arial</vt:lpstr>
      <vt:lpstr>Calibri</vt:lpstr>
      <vt:lpstr>Canva Sans Bold</vt:lpstr>
      <vt:lpstr>Etna Sans Serif</vt:lpstr>
      <vt:lpstr>Roboto</vt:lpstr>
      <vt:lpstr>Segoe UI</vt:lpstr>
      <vt:lpstr>Telegraf</vt:lpstr>
      <vt:lpstr>Telegraf Bold</vt:lpstr>
      <vt:lpstr>Wingdings</vt:lpstr>
      <vt:lpstr>Office Theme</vt:lpstr>
      <vt:lpstr>1_Office Theme</vt:lpstr>
      <vt:lpstr>PowerPoint Presentation</vt:lpstr>
      <vt:lpstr>PowerPoint Presentation</vt:lpstr>
      <vt:lpstr>PowerPoint Presentation</vt:lpstr>
      <vt:lpstr>PowerPoint Presentation</vt:lpstr>
      <vt:lpstr>Level 3   Cyber Pathway -David Lawless  &amp; Software pathway -Jason walker</vt:lpstr>
      <vt:lpstr>PowerPoint Presentation</vt:lpstr>
      <vt:lpstr>English and Math's </vt:lpstr>
      <vt:lpstr>Scheme of Work - Cyber Pathway </vt:lpstr>
      <vt:lpstr>PowerPoint Presentation</vt:lpstr>
      <vt:lpstr>Scheme of Work - Software pathway</vt:lpstr>
      <vt:lpstr>PowerPoint Presentation</vt:lpstr>
      <vt:lpstr>OneFile &amp; Progress Meetings</vt:lpstr>
      <vt:lpstr>Learning Journal </vt:lpstr>
      <vt:lpstr>Developing your character…. </vt:lpstr>
      <vt:lpstr>Off The Job Training</vt:lpstr>
      <vt:lpstr>Off The-job Training</vt:lpstr>
      <vt:lpstr>PowerPoint Presentation</vt:lpstr>
      <vt:lpstr>PowerPoint Presentation</vt:lpstr>
      <vt:lpstr>PowerPoint Presentation</vt:lpstr>
      <vt:lpstr>Finally, it’s worth noting that off-the-job training does not include:</vt:lpstr>
      <vt:lpstr>End Point Assessment </vt:lpstr>
      <vt:lpstr>Support  </vt:lpstr>
      <vt:lpstr>Cyber Pathway</vt:lpstr>
      <vt:lpstr>Software Pathway</vt:lpstr>
      <vt:lpstr>PowerPoint Presentation</vt:lpstr>
      <vt:lpstr>VLE (Virtual Learning Environment) Tools </vt:lpstr>
      <vt:lpstr>Academic best practice </vt:lpstr>
      <vt:lpstr>Plagiarism </vt:lpstr>
      <vt:lpstr>PowerPoint Presentation</vt:lpstr>
      <vt:lpstr>PowerPoint Presentation</vt:lpstr>
      <vt:lpstr>Additional Resources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3 - Cyber Security Technician</dc:title>
  <dc:creator>Colette Mazzola-Randles</dc:creator>
  <cp:lastModifiedBy>Jason Walker</cp:lastModifiedBy>
  <cp:revision>3</cp:revision>
  <dcterms:created xsi:type="dcterms:W3CDTF">2024-06-19T16:08:07Z</dcterms:created>
  <dcterms:modified xsi:type="dcterms:W3CDTF">2025-10-06T08:46:28Z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0x010100B4132CBC8BAB484D8BA8397E96039BD0</vt:lpwstr>
  </property>
</Properties>
</file>